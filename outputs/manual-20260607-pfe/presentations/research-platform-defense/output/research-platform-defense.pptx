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F42B72-9F9F-4778-8E18-9B1CCEBF2E35}" type="datetimeFigureOut">
              <a:rPr lang="en-US" smtClean="0"/>
              <a:t>6/7/2026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74D5A9-5C28-4722-8A7A-C66E1DF26FA1}" type="slidenum">
              <a:rPr lang="en-US" smtClean="0"/>
              <a:t>‹N°›</a:t>
            </a:fld>
            <a:endParaRPr lang="en-US"/>
          </a:p>
        </p:txBody>
      </p:sp>
    </p:spTree>
    <p:extLst>
      <p:ext uri="{BB962C8B-B14F-4D97-AF65-F5344CB8AC3E}">
        <p14:creationId xmlns:p14="http://schemas.microsoft.com/office/powerpoint/2010/main" val="3774553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Exact speech:</a:t>
            </a:r>
          </a:p>
          <a:p>
            <a:r>
              <a:rPr lang="en-US"/>
              <a:t>Good morning members of the jury. Today I am presenting my final year project: an AI-assisted web platform for managing scientific paper submission and review. The idea is to move from a manual email-based process to a structured workflow where researchers submit papers, administrators assign reviewers, and reviewers receive local AI support before giving their evaluation. The important point is that AI does not replace the human decision. It supports extraction, matching, summarization, similarity checking, and review preparation while the final validation remains human.</a:t>
            </a:r>
          </a:p>
          <a:p>
            <a:endParaRPr lang="en-US"/>
          </a:p>
          <a:p>
            <a:r>
              <a:rPr lang="en-US"/>
              <a:t>Slide goal: AI-Assisted Research Paper Submission and Review Platform</a:t>
            </a:r>
          </a:p>
          <a:p>
            <a:r>
              <a:rPr lang="en-US"/>
              <a:t>Visual suggestion: Cover layout with a left thesis block and a right end-to-end workflow ribbon.</a:t>
            </a:r>
          </a:p>
          <a:p>
            <a:r>
              <a:rPr lang="en-US"/>
              <a:t>Transition: I will now give the structure of the presentation so the jury can follow the progression.</a:t>
            </a:r>
          </a:p>
          <a:p>
            <a:r>
              <a:rPr lang="en-US"/>
              <a:t>Estimated duration: 35 seconds</a:t>
            </a:r>
          </a:p>
        </p:txBody>
      </p:sp>
      <p:sp>
        <p:nvSpPr>
          <p:cNvPr id="4" name="Espace réservé du numéro de diapositive 3"/>
          <p:cNvSpPr>
            <a:spLocks noGrp="1"/>
          </p:cNvSpPr>
          <p:nvPr>
            <p:ph type="sldNum" sz="quarter" idx="5"/>
          </p:nvPr>
        </p:nvSpPr>
        <p:spPr/>
        <p:txBody>
          <a:bodyPr/>
          <a:lstStyle/>
          <a:p>
            <a:fld id="{2774D5A9-5C28-4722-8A7A-C66E1DF26FA1}" type="slidenum">
              <a:rPr lang="en-US" smtClean="0"/>
              <a:t>1</a:t>
            </a:fld>
            <a:endParaRPr lang="en-US"/>
          </a:p>
        </p:txBody>
      </p:sp>
    </p:spTree>
    <p:extLst>
      <p:ext uri="{BB962C8B-B14F-4D97-AF65-F5344CB8AC3E}">
        <p14:creationId xmlns:p14="http://schemas.microsoft.com/office/powerpoint/2010/main" val="3648221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Exact speech:</a:t>
            </a:r>
          </a:p>
          <a:p>
            <a:r>
              <a:rPr lang="en-US"/>
              <a:t>The presentation is organized in six parts. First, I will explain the context and the problem. Then I will present the objectives and the main requirements. After that, I will describe the technical architecture and the data flow. The implementation will be explained through exactly three Scrum sprints. Finally, I will present the demonstration scenario, the perspectives, and the conclusion.</a:t>
            </a:r>
          </a:p>
          <a:p>
            <a:endParaRPr lang="en-US"/>
          </a:p>
          <a:p>
            <a:r>
              <a:rPr lang="en-US"/>
              <a:t>Slide goal: Presentation Roadmap</a:t>
            </a:r>
          </a:p>
          <a:p>
            <a:r>
              <a:rPr lang="en-US"/>
              <a:t>Visual suggestion: Six-step horizontal roadmap with the current section highlighted.</a:t>
            </a:r>
          </a:p>
          <a:p>
            <a:r>
              <a:rPr lang="en-US"/>
              <a:t>Transition: I will start with the context that motivated this project.</a:t>
            </a:r>
          </a:p>
          <a:p>
            <a:r>
              <a:rPr lang="en-US"/>
              <a:t>Estimated duration: 30 seconds</a:t>
            </a:r>
          </a:p>
        </p:txBody>
      </p:sp>
      <p:sp>
        <p:nvSpPr>
          <p:cNvPr id="4" name="Espace réservé du numéro de diapositive 3"/>
          <p:cNvSpPr>
            <a:spLocks noGrp="1"/>
          </p:cNvSpPr>
          <p:nvPr>
            <p:ph type="sldNum" sz="quarter" idx="5"/>
          </p:nvPr>
        </p:nvSpPr>
        <p:spPr/>
        <p:txBody>
          <a:bodyPr/>
          <a:lstStyle/>
          <a:p>
            <a:fld id="{2774D5A9-5C28-4722-8A7A-C66E1DF26FA1}" type="slidenum">
              <a:rPr lang="en-US" smtClean="0"/>
              <a:t>2</a:t>
            </a:fld>
            <a:endParaRPr lang="en-US"/>
          </a:p>
        </p:txBody>
      </p:sp>
    </p:spTree>
    <p:extLst>
      <p:ext uri="{BB962C8B-B14F-4D97-AF65-F5344CB8AC3E}">
        <p14:creationId xmlns:p14="http://schemas.microsoft.com/office/powerpoint/2010/main" val="195082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Exact speech:</a:t>
            </a:r>
          </a:p>
          <a:p>
            <a:r>
              <a:rPr lang="en-US"/>
              <a:t>In many academic environments, the review process is still managed through email exchanges and informal tracking. A researcher sends a PDF, an administrator extracts or copies metadata, reviewers are selected manually, and the status of each paper may be followed in a spreadsheet or in separate messages. This works for a small number of papers, but it becomes slow, difficult to audit, and error-prone when the volume increases. The project therefore starts from a business need: make the review workflow structured and traceable.</a:t>
            </a:r>
          </a:p>
          <a:p>
            <a:endParaRPr lang="en-US"/>
          </a:p>
          <a:p>
            <a:r>
              <a:rPr lang="en-US"/>
              <a:t>Slide goal: Scientific Review Still Depends on Fragmented Manual Work</a:t>
            </a:r>
          </a:p>
          <a:p>
            <a:r>
              <a:rPr lang="en-US"/>
              <a:t>Visual suggestion: Before-state flow: email inbox, spreadsheet, manual reviewer choice, unclear status.</a:t>
            </a:r>
          </a:p>
          <a:p>
            <a:r>
              <a:rPr lang="en-US"/>
              <a:t>Transition: From this context, the project problem becomes clear.</a:t>
            </a:r>
          </a:p>
          <a:p>
            <a:r>
              <a:rPr lang="en-US"/>
              <a:t>Estimated duration: 45 seconds</a:t>
            </a:r>
          </a:p>
        </p:txBody>
      </p:sp>
      <p:sp>
        <p:nvSpPr>
          <p:cNvPr id="4" name="Espace réservé du numéro de diapositive 3"/>
          <p:cNvSpPr>
            <a:spLocks noGrp="1"/>
          </p:cNvSpPr>
          <p:nvPr>
            <p:ph type="sldNum" sz="quarter" idx="5"/>
          </p:nvPr>
        </p:nvSpPr>
        <p:spPr/>
        <p:txBody>
          <a:bodyPr/>
          <a:lstStyle/>
          <a:p>
            <a:fld id="{2774D5A9-5C28-4722-8A7A-C66E1DF26FA1}" type="slidenum">
              <a:rPr lang="en-US" smtClean="0"/>
              <a:t>3</a:t>
            </a:fld>
            <a:endParaRPr lang="en-US"/>
          </a:p>
        </p:txBody>
      </p:sp>
    </p:spTree>
    <p:extLst>
      <p:ext uri="{BB962C8B-B14F-4D97-AF65-F5344CB8AC3E}">
        <p14:creationId xmlns:p14="http://schemas.microsoft.com/office/powerpoint/2010/main" val="3989302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Exact speech:</a:t>
            </a:r>
          </a:p>
          <a:p>
            <a:r>
              <a:rPr lang="en-US"/>
              <a:t>The problem is larger than simply uploading a PDF. The workflow must handle metadata quality, reviewer selection, originality checking, reviewer assistance, and final decision tracking. If these steps remain disconnected, the platform would only replace email with another file repository. The challenge is to connect the full lifecycle while keeping the process understandable and controllable by the administrator and the reviewers.</a:t>
            </a:r>
          </a:p>
          <a:p>
            <a:endParaRPr lang="en-US"/>
          </a:p>
          <a:p>
            <a:r>
              <a:rPr lang="en-US"/>
              <a:t>Slide goal: The Core Problem Is Not Only Uploading a PDF</a:t>
            </a:r>
          </a:p>
          <a:p>
            <a:r>
              <a:rPr lang="en-US"/>
              <a:t>Visual suggestion: Problem stack with four linked bottlenecks from submission to final decision.</a:t>
            </a:r>
          </a:p>
          <a:p>
            <a:r>
              <a:rPr lang="en-US"/>
              <a:t>Transition: To answer this problem, I defined a solution centered on automation with human validation.</a:t>
            </a:r>
          </a:p>
          <a:p>
            <a:r>
              <a:rPr lang="en-US"/>
              <a:t>Estimated duration: 45 seconds</a:t>
            </a:r>
          </a:p>
        </p:txBody>
      </p:sp>
      <p:sp>
        <p:nvSpPr>
          <p:cNvPr id="4" name="Espace réservé du numéro de diapositive 3"/>
          <p:cNvSpPr>
            <a:spLocks noGrp="1"/>
          </p:cNvSpPr>
          <p:nvPr>
            <p:ph type="sldNum" sz="quarter" idx="5"/>
          </p:nvPr>
        </p:nvSpPr>
        <p:spPr/>
        <p:txBody>
          <a:bodyPr/>
          <a:lstStyle/>
          <a:p>
            <a:fld id="{2774D5A9-5C28-4722-8A7A-C66E1DF26FA1}" type="slidenum">
              <a:rPr lang="en-US" smtClean="0"/>
              <a:t>4</a:t>
            </a:fld>
            <a:endParaRPr lang="en-US"/>
          </a:p>
        </p:txBody>
      </p:sp>
    </p:spTree>
    <p:extLst>
      <p:ext uri="{BB962C8B-B14F-4D97-AF65-F5344CB8AC3E}">
        <p14:creationId xmlns:p14="http://schemas.microsoft.com/office/powerpoint/2010/main" val="4268436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Exact speech:</a:t>
            </a:r>
          </a:p>
          <a:p>
            <a:r>
              <a:rPr lang="en-US"/>
              <a:t>The solution is a web platform that automates repetitive operations but keeps human validation at the important points. The researcher uploads a PDF. GROBID extracts the title, authors, abstract, and keywords. The researcher can correct these fields before submitting. After submission, the paper is indexed with local embeddings generated through Ollama. The administrator receives reviewer suggestions and confirms the assignment. The reviewer then has access to an AI summary, a similarity report, and a paper-grounded chatbot before submitting an evaluation. The administrator can then issue the final decision after the completed reviews.</a:t>
            </a:r>
          </a:p>
          <a:p>
            <a:endParaRPr lang="en-US"/>
          </a:p>
          <a:p>
            <a:r>
              <a:rPr lang="en-US"/>
              <a:t>Slide goal: The Proposed Solution Automates the Workflow, Not the Judgment</a:t>
            </a:r>
          </a:p>
          <a:p>
            <a:r>
              <a:rPr lang="en-US"/>
              <a:t>Visual suggestion: Main chain: upload -&gt; GROBID -&gt; correction -&gt; submission -&gt; embedding -&gt; assignment -&gt; review tools -&gt; decision.</a:t>
            </a:r>
          </a:p>
          <a:p>
            <a:r>
              <a:rPr lang="en-US"/>
              <a:t>Transition: Before discussing the implementation, I will summarize the expected requirements.</a:t>
            </a:r>
          </a:p>
          <a:p>
            <a:r>
              <a:rPr lang="en-US"/>
              <a:t>Estimated duration: 60 seconds</a:t>
            </a:r>
          </a:p>
        </p:txBody>
      </p:sp>
      <p:sp>
        <p:nvSpPr>
          <p:cNvPr id="4" name="Espace réservé du numéro de diapositive 3"/>
          <p:cNvSpPr>
            <a:spLocks noGrp="1"/>
          </p:cNvSpPr>
          <p:nvPr>
            <p:ph type="sldNum" sz="quarter" idx="5"/>
          </p:nvPr>
        </p:nvSpPr>
        <p:spPr/>
        <p:txBody>
          <a:bodyPr/>
          <a:lstStyle/>
          <a:p>
            <a:fld id="{2774D5A9-5C28-4722-8A7A-C66E1DF26FA1}" type="slidenum">
              <a:rPr lang="en-US" smtClean="0"/>
              <a:t>5</a:t>
            </a:fld>
            <a:endParaRPr lang="en-US"/>
          </a:p>
        </p:txBody>
      </p:sp>
    </p:spTree>
    <p:extLst>
      <p:ext uri="{BB962C8B-B14F-4D97-AF65-F5344CB8AC3E}">
        <p14:creationId xmlns:p14="http://schemas.microsoft.com/office/powerpoint/2010/main" val="2912217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Exact speech:</a:t>
            </a:r>
          </a:p>
          <a:p>
            <a:r>
              <a:rPr lang="en-US"/>
              <a:t>The platform has three business roles. The researcher manages the submission lifecycle. The reviewer role is called CHECKER in the backend, and it covers expertise management, assigned papers, AI support tools, and review submission. The administrator manages users, validates reviewer assignment, monitors reviews and statistics, and issues the final decision. On the non-functional side, the system uses JWT authentication, BCrypt password hashing, role-based authorization, local storage for PDFs, and a layered backend structure to keep the code maintainable.</a:t>
            </a:r>
          </a:p>
          <a:p>
            <a:endParaRPr lang="en-US"/>
          </a:p>
          <a:p>
            <a:r>
              <a:rPr lang="en-US"/>
              <a:t>Slide goal: Requirements Balance Usability, Security, and Maintainability</a:t>
            </a:r>
          </a:p>
          <a:p>
            <a:r>
              <a:rPr lang="en-US"/>
              <a:t>Visual suggestion: Three actor lanes plus a thin non-functional requirement rail.</a:t>
            </a:r>
          </a:p>
          <a:p>
            <a:r>
              <a:rPr lang="en-US"/>
              <a:t>Transition: These requirements are supported by the technical architecture.</a:t>
            </a:r>
          </a:p>
          <a:p>
            <a:r>
              <a:rPr lang="en-US"/>
              <a:t>Estimated duration: 55 seconds</a:t>
            </a:r>
          </a:p>
        </p:txBody>
      </p:sp>
      <p:sp>
        <p:nvSpPr>
          <p:cNvPr id="4" name="Espace réservé du numéro de diapositive 3"/>
          <p:cNvSpPr>
            <a:spLocks noGrp="1"/>
          </p:cNvSpPr>
          <p:nvPr>
            <p:ph type="sldNum" sz="quarter" idx="5"/>
          </p:nvPr>
        </p:nvSpPr>
        <p:spPr/>
        <p:txBody>
          <a:bodyPr/>
          <a:lstStyle/>
          <a:p>
            <a:fld id="{2774D5A9-5C28-4722-8A7A-C66E1DF26FA1}" type="slidenum">
              <a:rPr lang="en-US" smtClean="0"/>
              <a:t>6</a:t>
            </a:fld>
            <a:endParaRPr lang="en-US"/>
          </a:p>
        </p:txBody>
      </p:sp>
    </p:spTree>
    <p:extLst>
      <p:ext uri="{BB962C8B-B14F-4D97-AF65-F5344CB8AC3E}">
        <p14:creationId xmlns:p14="http://schemas.microsoft.com/office/powerpoint/2010/main" val="769146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Exact speech:</a:t>
            </a:r>
          </a:p>
          <a:p>
            <a:r>
              <a:rPr lang="en-US"/>
              <a:t>Technically, the platform separates responsibilities. Angular provides the user interface. Spring Boot is the core backend: it manages authentication, authorization, users, papers, assignments, reviews, notifications, and file access. The AI capabilities are isolated in a FastAPI service that calls Ollama locally. PostgreSQL stores the business data, and pgvector is used for embedding storage through the vector extension. PDF files are stored locally on the server file system. This separation is important because the AI layer can evolve without rewriting the core business workflow.</a:t>
            </a:r>
          </a:p>
          <a:p>
            <a:endParaRPr lang="en-US"/>
          </a:p>
          <a:p>
            <a:r>
              <a:rPr lang="en-US"/>
              <a:t>Slide goal: The Architecture Separates UI, Core Workflow, and Local AI</a:t>
            </a:r>
          </a:p>
          <a:p>
            <a:r>
              <a:rPr lang="en-US"/>
              <a:t>Visual suggestion: Four-layer architecture: Angular, Spring Boot, FastAPI/Ollama, PostgreSQL + local PDF storage.</a:t>
            </a:r>
          </a:p>
          <a:p>
            <a:r>
              <a:rPr lang="en-US"/>
              <a:t>Transition: I will now show how this architecture was implemented progressively through Scrum.</a:t>
            </a:r>
          </a:p>
          <a:p>
            <a:r>
              <a:rPr lang="en-US"/>
              <a:t>Estimated duration: 70 seconds</a:t>
            </a:r>
          </a:p>
        </p:txBody>
      </p:sp>
      <p:sp>
        <p:nvSpPr>
          <p:cNvPr id="4" name="Espace réservé du numéro de diapositive 3"/>
          <p:cNvSpPr>
            <a:spLocks noGrp="1"/>
          </p:cNvSpPr>
          <p:nvPr>
            <p:ph type="sldNum" sz="quarter" idx="5"/>
          </p:nvPr>
        </p:nvSpPr>
        <p:spPr/>
        <p:txBody>
          <a:bodyPr/>
          <a:lstStyle/>
          <a:p>
            <a:fld id="{2774D5A9-5C28-4722-8A7A-C66E1DF26FA1}" type="slidenum">
              <a:rPr lang="en-US" smtClean="0"/>
              <a:t>7</a:t>
            </a:fld>
            <a:endParaRPr lang="en-US"/>
          </a:p>
        </p:txBody>
      </p:sp>
    </p:spTree>
    <p:extLst>
      <p:ext uri="{BB962C8B-B14F-4D97-AF65-F5344CB8AC3E}">
        <p14:creationId xmlns:p14="http://schemas.microsoft.com/office/powerpoint/2010/main" val="16706828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Exact speech:</a:t>
            </a:r>
          </a:p>
          <a:p>
            <a:r>
              <a:rPr lang="en-US"/>
              <a:t>Sprint 1 focused on the secure base of the platform. It delivered account registration, login, JWT-based authentication, and role-based access control for the three roles. It also added profile management, including reviewer expertise fields, and the first PDF upload workflow. On the administrator side, the platform supports user activation, suspension, and role changes. At the end of this sprint, users could access the system securely and researchers could create draft paper records with files stored locally.</a:t>
            </a:r>
          </a:p>
          <a:p>
            <a:endParaRPr lang="en-US"/>
          </a:p>
          <a:p>
            <a:r>
              <a:rPr lang="en-US"/>
              <a:t>Slide goal: Sprint 1 Built the Secure Foundation</a:t>
            </a:r>
          </a:p>
          <a:p>
            <a:r>
              <a:rPr lang="en-US"/>
              <a:t>Visual suggestion: Sprint 1 timeline with proof screenshots: login, upload, user management.</a:t>
            </a:r>
          </a:p>
          <a:p>
            <a:r>
              <a:rPr lang="en-US"/>
              <a:t>Transition: With this foundation ready, Sprint 2 introduced the AI-assisted submission pipeline.</a:t>
            </a:r>
          </a:p>
          <a:p>
            <a:r>
              <a:rPr lang="en-US"/>
              <a:t>Estimated duration: 55 seconds</a:t>
            </a:r>
          </a:p>
        </p:txBody>
      </p:sp>
      <p:sp>
        <p:nvSpPr>
          <p:cNvPr id="4" name="Espace réservé du numéro de diapositive 3"/>
          <p:cNvSpPr>
            <a:spLocks noGrp="1"/>
          </p:cNvSpPr>
          <p:nvPr>
            <p:ph type="sldNum" sz="quarter" idx="5"/>
          </p:nvPr>
        </p:nvSpPr>
        <p:spPr/>
        <p:txBody>
          <a:bodyPr/>
          <a:lstStyle/>
          <a:p>
            <a:fld id="{2774D5A9-5C28-4722-8A7A-C66E1DF26FA1}" type="slidenum">
              <a:rPr lang="en-US" smtClean="0"/>
              <a:t>8</a:t>
            </a:fld>
            <a:endParaRPr lang="en-US"/>
          </a:p>
        </p:txBody>
      </p:sp>
    </p:spTree>
    <p:extLst>
      <p:ext uri="{BB962C8B-B14F-4D97-AF65-F5344CB8AC3E}">
        <p14:creationId xmlns:p14="http://schemas.microsoft.com/office/powerpoint/2010/main" val="3250075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Exact speech:</a:t>
            </a:r>
          </a:p>
          <a:p>
            <a:r>
              <a:rPr lang="en-US"/>
              <a:t>Sprint 2 transformed the uploaded PDF into structured data. The backend sends the stored PDF to GROBID, receives TEI XML, and parses it into fields such as title, abstract, authors, and keywords. These fields are not blindly accepted: the researcher reviews and corrects them in an Angular form. The AI service can also extract technical keywords using Mistral through Ollama. When the researcher submits the paper, Spring Boot changes the status to submitted and triggers asynchronous embedding through the FastAPI service. The resulting vector is stored in PostgreSQL using pgvector.</a:t>
            </a:r>
          </a:p>
          <a:p>
            <a:endParaRPr lang="en-US"/>
          </a:p>
          <a:p>
            <a:r>
              <a:rPr lang="en-US"/>
              <a:t>Slide goal: Sprint 2 Turned a Draft PDF into Structured, Indexed Data</a:t>
            </a:r>
          </a:p>
          <a:p>
            <a:r>
              <a:rPr lang="en-US"/>
              <a:t>Visual suggestion: Data pipeline from PDF to editable metadata to vector storage, with metadata form screenshot.</a:t>
            </a:r>
          </a:p>
          <a:p>
            <a:r>
              <a:rPr lang="en-US"/>
              <a:t>Transition: Once papers are indexed, Sprint 3 can support assignment and review assistance.</a:t>
            </a:r>
          </a:p>
          <a:p>
            <a:r>
              <a:rPr lang="en-US"/>
              <a:t>Estimated duration: 65 seconds</a:t>
            </a:r>
          </a:p>
        </p:txBody>
      </p:sp>
      <p:sp>
        <p:nvSpPr>
          <p:cNvPr id="4" name="Espace réservé du numéro de diapositive 3"/>
          <p:cNvSpPr>
            <a:spLocks noGrp="1"/>
          </p:cNvSpPr>
          <p:nvPr>
            <p:ph type="sldNum" sz="quarter" idx="5"/>
          </p:nvPr>
        </p:nvSpPr>
        <p:spPr/>
        <p:txBody>
          <a:bodyPr/>
          <a:lstStyle/>
          <a:p>
            <a:fld id="{2774D5A9-5C28-4722-8A7A-C66E1DF26FA1}" type="slidenum">
              <a:rPr lang="en-US" smtClean="0"/>
              <a:t>9</a:t>
            </a:fld>
            <a:endParaRPr lang="en-US"/>
          </a:p>
        </p:txBody>
      </p:sp>
    </p:spTree>
    <p:extLst>
      <p:ext uri="{BB962C8B-B14F-4D97-AF65-F5344CB8AC3E}">
        <p14:creationId xmlns:p14="http://schemas.microsoft.com/office/powerpoint/2010/main" val="1540024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Exact speech:</a:t>
            </a:r>
          </a:p>
          <a:p>
            <a:r>
              <a:rPr lang="en-US"/>
              <a:t>Sprint 3 completed the core review lifecycle. The administrator can request reviewer suggestions and then validate the assignment manually. In the implemented workflow, reviewer suggestions combine AI search with a fallback based on keyword and expertise matching plus reviewer workload. The assigned CHECKER receives an invitation, accepts it, and then accesses the review workspace. The reviewer can generate an AI summary, run a similarity or plagiarism check, ask questions through the chatbot, and submit scores, comments, and a decision. After exactly three completed reviews, the administrator can issue the final decision.</a:t>
            </a:r>
          </a:p>
          <a:p>
            <a:endParaRPr lang="en-US"/>
          </a:p>
          <a:p>
            <a:r>
              <a:rPr lang="en-US"/>
              <a:t>Slide goal: Sprint 3 Completed Assignment, Review, and Decision Support</a:t>
            </a:r>
          </a:p>
          <a:p>
            <a:r>
              <a:rPr lang="en-US"/>
              <a:t>Visual suggestion: Review loop: suggestions -&gt; assignment -&gt; reviewer toolkit -&gt; review submission -&gt; final decision.</a:t>
            </a:r>
          </a:p>
          <a:p>
            <a:r>
              <a:rPr lang="en-US"/>
              <a:t>Transition: These three sprints produce a coherent scenario that I will use for the demonstration.</a:t>
            </a:r>
          </a:p>
          <a:p>
            <a:r>
              <a:rPr lang="en-US"/>
              <a:t>Estimated duration: 70 seconds</a:t>
            </a:r>
          </a:p>
        </p:txBody>
      </p:sp>
      <p:sp>
        <p:nvSpPr>
          <p:cNvPr id="4" name="Espace réservé du numéro de diapositive 3"/>
          <p:cNvSpPr>
            <a:spLocks noGrp="1"/>
          </p:cNvSpPr>
          <p:nvPr>
            <p:ph type="sldNum" sz="quarter" idx="5"/>
          </p:nvPr>
        </p:nvSpPr>
        <p:spPr/>
        <p:txBody>
          <a:bodyPr/>
          <a:lstStyle/>
          <a:p>
            <a:fld id="{2774D5A9-5C28-4722-8A7A-C66E1DF26FA1}" type="slidenum">
              <a:rPr lang="en-US" smtClean="0"/>
              <a:t>10</a:t>
            </a:fld>
            <a:endParaRPr lang="en-US"/>
          </a:p>
        </p:txBody>
      </p:sp>
    </p:spTree>
    <p:extLst>
      <p:ext uri="{BB962C8B-B14F-4D97-AF65-F5344CB8AC3E}">
        <p14:creationId xmlns:p14="http://schemas.microsoft.com/office/powerpoint/2010/main" val="2757930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Exact speech:</a:t>
            </a:r>
          </a:p>
          <a:p>
            <a:r>
              <a:rPr lang="en-US"/>
              <a:t>For the demonstration, I will follow a single paper from upload to decision. I will start as a researcher, upload a PDF, extract and correct metadata, then submit it. Next, I will switch to the administrator view to show reviewer suggestions and assignment. Then I will use the reviewer workspace to accept the invitation, generate the AI summary, check similarity, ask the chatbot a question, and submit the review. Finally, I will return to the administrator view to show how the review results support the final decision.</a:t>
            </a:r>
          </a:p>
          <a:p>
            <a:endParaRPr lang="en-US"/>
          </a:p>
          <a:p>
            <a:r>
              <a:rPr lang="en-US"/>
              <a:t>Slide goal: The Demonstration Follows One Complete Paper Lifecycle</a:t>
            </a:r>
          </a:p>
          <a:p>
            <a:r>
              <a:rPr lang="en-US"/>
              <a:t>Visual suggestion: Numbered demo storyboard with five screens and expected role changes.</a:t>
            </a:r>
          </a:p>
          <a:p>
            <a:r>
              <a:rPr lang="en-US"/>
              <a:t>Transition: After the demo scenario, I will present realistic future improvements.</a:t>
            </a:r>
          </a:p>
          <a:p>
            <a:r>
              <a:rPr lang="en-US"/>
              <a:t>Estimated duration: 45 seconds</a:t>
            </a:r>
          </a:p>
        </p:txBody>
      </p:sp>
      <p:sp>
        <p:nvSpPr>
          <p:cNvPr id="4" name="Espace réservé du numéro de diapositive 3"/>
          <p:cNvSpPr>
            <a:spLocks noGrp="1"/>
          </p:cNvSpPr>
          <p:nvPr>
            <p:ph type="sldNum" sz="quarter" idx="5"/>
          </p:nvPr>
        </p:nvSpPr>
        <p:spPr/>
        <p:txBody>
          <a:bodyPr/>
          <a:lstStyle/>
          <a:p>
            <a:fld id="{2774D5A9-5C28-4722-8A7A-C66E1DF26FA1}" type="slidenum">
              <a:rPr lang="en-US" smtClean="0"/>
              <a:t>11</a:t>
            </a:fld>
            <a:endParaRPr lang="en-US"/>
          </a:p>
        </p:txBody>
      </p:sp>
    </p:spTree>
    <p:extLst>
      <p:ext uri="{BB962C8B-B14F-4D97-AF65-F5344CB8AC3E}">
        <p14:creationId xmlns:p14="http://schemas.microsoft.com/office/powerpoint/2010/main" val="22857092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Exact speech:</a:t>
            </a:r>
          </a:p>
          <a:p>
            <a:r>
              <a:rPr lang="en-US"/>
              <a:t>The current platform is functional, but several improvements can make it more production-ready. First, reviewer matching can be strengthened by comparing reviewer expertise embeddings and paper embeddings directly with pgvector. Second, the chatbot can be improved by indexing full paper chunks instead of relying mainly on metadata context. Third, the assignment process can include conflict-of-interest checks, for example affiliation or author-reviewer relations. Finally, deployment can be improved with full containerization, monitoring, and richer analytics for administrators.</a:t>
            </a:r>
          </a:p>
          <a:p>
            <a:endParaRPr lang="en-US"/>
          </a:p>
          <a:p>
            <a:r>
              <a:rPr lang="en-US"/>
              <a:t>Slide goal: Perspectives Focus on Production-Grade Review Quality</a:t>
            </a:r>
          </a:p>
          <a:p>
            <a:r>
              <a:rPr lang="en-US"/>
              <a:t>Visual suggestion: Future roadmap split into AI quality, governance, deployment, analytics.</a:t>
            </a:r>
          </a:p>
          <a:p>
            <a:r>
              <a:rPr lang="en-US"/>
              <a:t>Transition: I will now conclude by summarizing the value delivered by the project.</a:t>
            </a:r>
          </a:p>
          <a:p>
            <a:r>
              <a:rPr lang="en-US"/>
              <a:t>Estimated duration: 50 seconds</a:t>
            </a:r>
          </a:p>
        </p:txBody>
      </p:sp>
      <p:sp>
        <p:nvSpPr>
          <p:cNvPr id="4" name="Espace réservé du numéro de diapositive 3"/>
          <p:cNvSpPr>
            <a:spLocks noGrp="1"/>
          </p:cNvSpPr>
          <p:nvPr>
            <p:ph type="sldNum" sz="quarter" idx="5"/>
          </p:nvPr>
        </p:nvSpPr>
        <p:spPr/>
        <p:txBody>
          <a:bodyPr/>
          <a:lstStyle/>
          <a:p>
            <a:fld id="{2774D5A9-5C28-4722-8A7A-C66E1DF26FA1}" type="slidenum">
              <a:rPr lang="en-US" smtClean="0"/>
              <a:t>12</a:t>
            </a:fld>
            <a:endParaRPr lang="en-US"/>
          </a:p>
        </p:txBody>
      </p:sp>
    </p:spTree>
    <p:extLst>
      <p:ext uri="{BB962C8B-B14F-4D97-AF65-F5344CB8AC3E}">
        <p14:creationId xmlns:p14="http://schemas.microsoft.com/office/powerpoint/2010/main" val="39548189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Exact speech:</a:t>
            </a:r>
          </a:p>
          <a:p>
            <a:r>
              <a:rPr lang="en-US"/>
              <a:t>To conclude, this project delivers a structured platform for scientific paper submission and review. It replaces fragmented email-based management with a traceable workflow from PDF upload to final decision. The architecture combines Angular, Spring Boot, FastAPI, PostgreSQL with pgvector, local PDF storage, GROBID, and Ollama-based local AI. The three sprints are coherent: first the secure foundation, then the AI-assisted submission pipeline, and finally the review workflow. Thank you for your attention. I am ready to answer your questions.</a:t>
            </a:r>
          </a:p>
          <a:p>
            <a:endParaRPr lang="en-US"/>
          </a:p>
          <a:p>
            <a:r>
              <a:rPr lang="en-US"/>
              <a:t>Slide goal: Thank You. I Am Ready for Your Questions.</a:t>
            </a:r>
          </a:p>
          <a:p>
            <a:r>
              <a:rPr lang="en-US"/>
              <a:t>Visual suggestion: Clean closing slide with the full workflow reduced to one thin line and a Q&amp;A marker.</a:t>
            </a:r>
          </a:p>
          <a:p>
            <a:r>
              <a:rPr lang="en-US"/>
              <a:t>Transition: I now welcome your questions and comments.</a:t>
            </a:r>
          </a:p>
          <a:p>
            <a:r>
              <a:rPr lang="en-US"/>
              <a:t>Estimated duration: 35 seconds</a:t>
            </a:r>
          </a:p>
          <a:p>
            <a:endParaRPr lang="en-US"/>
          </a:p>
          <a:p>
            <a:r>
              <a:rPr lang="en-US"/>
              <a:t>Likely jury questions:</a:t>
            </a:r>
          </a:p>
          <a:p>
            <a:r>
              <a:rPr lang="en-US"/>
              <a:t>Q: Why did you use local AI instead of cloud APIs?</a:t>
            </a:r>
          </a:p>
          <a:p>
            <a:r>
              <a:rPr lang="en-US"/>
              <a:t>A: Because submitted papers may contain confidential research. Ollama allows embeddings and text generation to run locally, reducing external data exposure and keeping the review workflow under institutional control.</a:t>
            </a:r>
          </a:p>
          <a:p>
            <a:endParaRPr lang="en-US"/>
          </a:p>
          <a:p>
            <a:r>
              <a:rPr lang="en-US"/>
              <a:t>Q: What is the role of Spring Boot in the architecture?</a:t>
            </a:r>
          </a:p>
          <a:p>
            <a:r>
              <a:rPr lang="en-US"/>
              <a:t>A: Spring Boot is the core workflow service. It handles authentication, authorization, users, paper lifecycle, file storage access, assignments, reviews, notifications, and calls to GROBID and the FastAPI AI service.</a:t>
            </a:r>
          </a:p>
          <a:p>
            <a:endParaRPr lang="en-US"/>
          </a:p>
          <a:p>
            <a:r>
              <a:rPr lang="en-US"/>
              <a:t>Q: Why use FastAPI as a separate AI service?</a:t>
            </a:r>
          </a:p>
          <a:p>
            <a:r>
              <a:rPr lang="en-US"/>
              <a:t>A: The AI tasks are Python-oriented and may evolve independently. Separating them keeps the Java backend focused on business rules and lets the AI layer change models or prompts without changing the core application.</a:t>
            </a:r>
          </a:p>
          <a:p>
            <a:endParaRPr lang="en-US"/>
          </a:p>
          <a:p>
            <a:r>
              <a:rPr lang="en-US"/>
              <a:t>Q: What does pgvector bring to PostgreSQL?</a:t>
            </a:r>
          </a:p>
          <a:p>
            <a:r>
              <a:rPr lang="en-US"/>
              <a:t>A: pgvector adds a vector column type and similarity-search capability to PostgreSQL, so semantic embeddings can be stored near relational data without adding a separate vector database.</a:t>
            </a:r>
          </a:p>
          <a:p>
            <a:endParaRPr lang="en-US"/>
          </a:p>
          <a:p>
            <a:r>
              <a:rPr lang="en-US"/>
              <a:t>Q: How are reviewers suggested?</a:t>
            </a:r>
          </a:p>
          <a:p>
            <a:r>
              <a:rPr lang="en-US"/>
              <a:t>A: The target design uses semantic similarity between paper content and reviewer expertise. In the implemented backend, the service first tries AI search and falls back to keyword-expertise matching and workload ordering, then the admin validates the final assignment.</a:t>
            </a:r>
          </a:p>
          <a:p>
            <a:endParaRPr lang="en-US"/>
          </a:p>
          <a:p>
            <a:r>
              <a:rPr lang="en-US"/>
              <a:t>Q: Does AI make the final decision?</a:t>
            </a:r>
          </a:p>
          <a:p>
            <a:r>
              <a:rPr lang="en-US"/>
              <a:t>A: No. AI helps with extraction, indexing, summary, similarity checking, and review preparation. Reviewer evaluations and the administrator's final decision remain human-controlled.</a:t>
            </a:r>
          </a:p>
          <a:p>
            <a:endParaRPr lang="en-US"/>
          </a:p>
          <a:p>
            <a:r>
              <a:rPr lang="en-US"/>
              <a:t>Q: How do you secure the application?</a:t>
            </a:r>
          </a:p>
          <a:p>
            <a:r>
              <a:rPr lang="en-US"/>
              <a:t>A: The backend uses Spring Security, JWT tokens, BCrypt password hashing, account status control, and role-based endpoint authorization for RESEARCHER, CHECKER, and ADMIN.</a:t>
            </a:r>
          </a:p>
          <a:p>
            <a:endParaRPr lang="en-US"/>
          </a:p>
          <a:p>
            <a:r>
              <a:rPr lang="en-US"/>
              <a:t>Q: What happens if GROBID or Ollama is unavailable?</a:t>
            </a:r>
          </a:p>
          <a:p>
            <a:r>
              <a:rPr lang="en-US"/>
              <a:t>A: The backend returns clear errors for extraction or AI tasks and keeps the business workflow protected. For indexing, submission can remain recorded while embedding can be retried or regenerated later.</a:t>
            </a:r>
          </a:p>
          <a:p>
            <a:endParaRPr lang="en-US"/>
          </a:p>
          <a:p>
            <a:r>
              <a:rPr lang="en-US"/>
              <a:t>Q: Why is metadata editable after GROBID extraction?</a:t>
            </a:r>
          </a:p>
          <a:p>
            <a:r>
              <a:rPr lang="en-US"/>
              <a:t>A: GROBID can make mistakes depending on PDF quality. Human correction ensures that downstream search, categorization, and matching use better-quality metadata.</a:t>
            </a:r>
          </a:p>
          <a:p>
            <a:endParaRPr lang="en-US"/>
          </a:p>
          <a:p>
            <a:r>
              <a:rPr lang="en-US"/>
              <a:t>Q: What are the main limitations?</a:t>
            </a:r>
          </a:p>
          <a:p>
            <a:r>
              <a:rPr lang="en-US"/>
              <a:t>A: The main limitations are that full paper chunk indexing should be strengthened for RAG, reviewer matching should move fully to vector comparison, and production deployment needs stronger monitoring and conflict-of-interest rules.</a:t>
            </a:r>
          </a:p>
        </p:txBody>
      </p:sp>
      <p:sp>
        <p:nvSpPr>
          <p:cNvPr id="4" name="Espace réservé du numéro de diapositive 3"/>
          <p:cNvSpPr>
            <a:spLocks noGrp="1"/>
          </p:cNvSpPr>
          <p:nvPr>
            <p:ph type="sldNum" sz="quarter" idx="5"/>
          </p:nvPr>
        </p:nvSpPr>
        <p:spPr/>
        <p:txBody>
          <a:bodyPr/>
          <a:lstStyle/>
          <a:p>
            <a:fld id="{2774D5A9-5C28-4722-8A7A-C66E1DF26FA1}" type="slidenum">
              <a:rPr lang="en-US" smtClean="0"/>
              <a:t>13</a:t>
            </a:fld>
            <a:endParaRPr lang="en-US"/>
          </a:p>
        </p:txBody>
      </p:sp>
    </p:spTree>
    <p:extLst>
      <p:ext uri="{BB962C8B-B14F-4D97-AF65-F5344CB8AC3E}">
        <p14:creationId xmlns:p14="http://schemas.microsoft.com/office/powerpoint/2010/main" val="3742150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5515DD-2020-73FC-E484-06786F5601A8}"/>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C51AADDC-B5F8-39AF-2CF5-209F9DDB86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E022F755-116A-C091-EBC8-7ED77E96F20E}"/>
              </a:ext>
            </a:extLst>
          </p:cNvPr>
          <p:cNvSpPr>
            <a:spLocks noGrp="1"/>
          </p:cNvSpPr>
          <p:nvPr>
            <p:ph type="dt" sz="half" idx="10"/>
          </p:nvPr>
        </p:nvSpPr>
        <p:spPr/>
        <p:txBody>
          <a:bodyPr/>
          <a:lstStyle/>
          <a:p>
            <a:fld id="{BA5A62D0-F2B5-4283-A2D4-702AC72D6AB4}" type="datetimeFigureOut">
              <a:rPr lang="en-US" smtClean="0"/>
              <a:t>6/7/2026</a:t>
            </a:fld>
            <a:endParaRPr lang="en-US"/>
          </a:p>
        </p:txBody>
      </p:sp>
      <p:sp>
        <p:nvSpPr>
          <p:cNvPr id="5" name="Espace réservé du pied de page 4">
            <a:extLst>
              <a:ext uri="{FF2B5EF4-FFF2-40B4-BE49-F238E27FC236}">
                <a16:creationId xmlns:a16="http://schemas.microsoft.com/office/drawing/2014/main" id="{50623DBB-5F79-DE68-1D01-7EC5D124F3F7}"/>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E58BE17C-30DE-46ED-4E1D-05CE655E1FEC}"/>
              </a:ext>
            </a:extLst>
          </p:cNvPr>
          <p:cNvSpPr>
            <a:spLocks noGrp="1"/>
          </p:cNvSpPr>
          <p:nvPr>
            <p:ph type="sldNum" sz="quarter" idx="12"/>
          </p:nvPr>
        </p:nvSpPr>
        <p:spPr/>
        <p:txBody>
          <a:bodyPr/>
          <a:lstStyle/>
          <a:p>
            <a:fld id="{CB6EFA5A-ABC5-4CA3-A329-0E1363F797F2}" type="slidenum">
              <a:rPr lang="en-US" smtClean="0"/>
              <a:t>‹N°›</a:t>
            </a:fld>
            <a:endParaRPr lang="en-US"/>
          </a:p>
        </p:txBody>
      </p:sp>
    </p:spTree>
    <p:extLst>
      <p:ext uri="{BB962C8B-B14F-4D97-AF65-F5344CB8AC3E}">
        <p14:creationId xmlns:p14="http://schemas.microsoft.com/office/powerpoint/2010/main" val="1820565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F45F0D-2BE4-7DF5-AD8D-7465A9371A5B}"/>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9FB14644-BDE6-CFF1-B67C-7FAD05999D4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BAC68582-0A6D-EC0B-E833-88BEEE52F89D}"/>
              </a:ext>
            </a:extLst>
          </p:cNvPr>
          <p:cNvSpPr>
            <a:spLocks noGrp="1"/>
          </p:cNvSpPr>
          <p:nvPr>
            <p:ph type="dt" sz="half" idx="10"/>
          </p:nvPr>
        </p:nvSpPr>
        <p:spPr/>
        <p:txBody>
          <a:bodyPr/>
          <a:lstStyle/>
          <a:p>
            <a:fld id="{BA5A62D0-F2B5-4283-A2D4-702AC72D6AB4}" type="datetimeFigureOut">
              <a:rPr lang="en-US" smtClean="0"/>
              <a:t>6/7/2026</a:t>
            </a:fld>
            <a:endParaRPr lang="en-US"/>
          </a:p>
        </p:txBody>
      </p:sp>
      <p:sp>
        <p:nvSpPr>
          <p:cNvPr id="5" name="Espace réservé du pied de page 4">
            <a:extLst>
              <a:ext uri="{FF2B5EF4-FFF2-40B4-BE49-F238E27FC236}">
                <a16:creationId xmlns:a16="http://schemas.microsoft.com/office/drawing/2014/main" id="{B07B8715-5B67-5835-6ACA-8B4C8059DB4D}"/>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F690F220-B466-70BA-E024-9322AAFA8D81}"/>
              </a:ext>
            </a:extLst>
          </p:cNvPr>
          <p:cNvSpPr>
            <a:spLocks noGrp="1"/>
          </p:cNvSpPr>
          <p:nvPr>
            <p:ph type="sldNum" sz="quarter" idx="12"/>
          </p:nvPr>
        </p:nvSpPr>
        <p:spPr/>
        <p:txBody>
          <a:bodyPr/>
          <a:lstStyle/>
          <a:p>
            <a:fld id="{CB6EFA5A-ABC5-4CA3-A329-0E1363F797F2}" type="slidenum">
              <a:rPr lang="en-US" smtClean="0"/>
              <a:t>‹N°›</a:t>
            </a:fld>
            <a:endParaRPr lang="en-US"/>
          </a:p>
        </p:txBody>
      </p:sp>
    </p:spTree>
    <p:extLst>
      <p:ext uri="{BB962C8B-B14F-4D97-AF65-F5344CB8AC3E}">
        <p14:creationId xmlns:p14="http://schemas.microsoft.com/office/powerpoint/2010/main" val="4224759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6EFC17-5518-5D67-2682-B11466EB0BD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7282BA53-2311-44FF-EAE5-2445673649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A87E3D1-F3CE-CBA8-CA0C-2D827A1701E8}"/>
              </a:ext>
            </a:extLst>
          </p:cNvPr>
          <p:cNvSpPr>
            <a:spLocks noGrp="1"/>
          </p:cNvSpPr>
          <p:nvPr>
            <p:ph type="dt" sz="half" idx="10"/>
          </p:nvPr>
        </p:nvSpPr>
        <p:spPr/>
        <p:txBody>
          <a:bodyPr/>
          <a:lstStyle/>
          <a:p>
            <a:fld id="{BA5A62D0-F2B5-4283-A2D4-702AC72D6AB4}" type="datetimeFigureOut">
              <a:rPr lang="en-US" smtClean="0"/>
              <a:t>6/7/2026</a:t>
            </a:fld>
            <a:endParaRPr lang="en-US"/>
          </a:p>
        </p:txBody>
      </p:sp>
      <p:sp>
        <p:nvSpPr>
          <p:cNvPr id="5" name="Espace réservé du pied de page 4">
            <a:extLst>
              <a:ext uri="{FF2B5EF4-FFF2-40B4-BE49-F238E27FC236}">
                <a16:creationId xmlns:a16="http://schemas.microsoft.com/office/drawing/2014/main" id="{2377C320-2079-71F5-B106-57B8AF180FA4}"/>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2EE8C188-6016-7AED-6407-F52AB53D6FDE}"/>
              </a:ext>
            </a:extLst>
          </p:cNvPr>
          <p:cNvSpPr>
            <a:spLocks noGrp="1"/>
          </p:cNvSpPr>
          <p:nvPr>
            <p:ph type="sldNum" sz="quarter" idx="12"/>
          </p:nvPr>
        </p:nvSpPr>
        <p:spPr/>
        <p:txBody>
          <a:bodyPr/>
          <a:lstStyle/>
          <a:p>
            <a:fld id="{CB6EFA5A-ABC5-4CA3-A329-0E1363F797F2}" type="slidenum">
              <a:rPr lang="en-US" smtClean="0"/>
              <a:t>‹N°›</a:t>
            </a:fld>
            <a:endParaRPr lang="en-US"/>
          </a:p>
        </p:txBody>
      </p:sp>
    </p:spTree>
    <p:extLst>
      <p:ext uri="{BB962C8B-B14F-4D97-AF65-F5344CB8AC3E}">
        <p14:creationId xmlns:p14="http://schemas.microsoft.com/office/powerpoint/2010/main" val="1610193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DD7FBE-DF1D-26F7-85B1-000A8C477635}"/>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E5F85DB0-49B0-4B09-83F5-A2A8CFECD33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a:extLst>
              <a:ext uri="{FF2B5EF4-FFF2-40B4-BE49-F238E27FC236}">
                <a16:creationId xmlns:a16="http://schemas.microsoft.com/office/drawing/2014/main" id="{5919DC78-EA07-8EA3-C2D6-CD6A17E04EB5}"/>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a:extLst>
              <a:ext uri="{FF2B5EF4-FFF2-40B4-BE49-F238E27FC236}">
                <a16:creationId xmlns:a16="http://schemas.microsoft.com/office/drawing/2014/main" id="{D550DBAB-B6C0-E56C-C39E-064B2DFB0DA3}"/>
              </a:ext>
            </a:extLst>
          </p:cNvPr>
          <p:cNvSpPr>
            <a:spLocks noGrp="1"/>
          </p:cNvSpPr>
          <p:nvPr>
            <p:ph type="dt" sz="half" idx="10"/>
          </p:nvPr>
        </p:nvSpPr>
        <p:spPr/>
        <p:txBody>
          <a:bodyPr/>
          <a:lstStyle/>
          <a:p>
            <a:fld id="{BA5A62D0-F2B5-4283-A2D4-702AC72D6AB4}" type="datetimeFigureOut">
              <a:rPr lang="en-US" smtClean="0"/>
              <a:t>6/7/2026</a:t>
            </a:fld>
            <a:endParaRPr lang="en-US"/>
          </a:p>
        </p:txBody>
      </p:sp>
      <p:sp>
        <p:nvSpPr>
          <p:cNvPr id="6" name="Espace réservé du pied de page 5">
            <a:extLst>
              <a:ext uri="{FF2B5EF4-FFF2-40B4-BE49-F238E27FC236}">
                <a16:creationId xmlns:a16="http://schemas.microsoft.com/office/drawing/2014/main" id="{AD39FB7D-BB38-57BC-1D0B-E4ECE06DF00D}"/>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6BDAB64B-406A-FE8F-1861-85CABC427BF7}"/>
              </a:ext>
            </a:extLst>
          </p:cNvPr>
          <p:cNvSpPr>
            <a:spLocks noGrp="1"/>
          </p:cNvSpPr>
          <p:nvPr>
            <p:ph type="sldNum" sz="quarter" idx="12"/>
          </p:nvPr>
        </p:nvSpPr>
        <p:spPr/>
        <p:txBody>
          <a:bodyPr/>
          <a:lstStyle/>
          <a:p>
            <a:fld id="{CB6EFA5A-ABC5-4CA3-A329-0E1363F797F2}" type="slidenum">
              <a:rPr lang="en-US" smtClean="0"/>
              <a:t>‹N°›</a:t>
            </a:fld>
            <a:endParaRPr lang="en-US"/>
          </a:p>
        </p:txBody>
      </p:sp>
    </p:spTree>
    <p:extLst>
      <p:ext uri="{BB962C8B-B14F-4D97-AF65-F5344CB8AC3E}">
        <p14:creationId xmlns:p14="http://schemas.microsoft.com/office/powerpoint/2010/main" val="473843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52A3E5-4BC3-D9EA-1486-73660ADAB691}"/>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08736BF1-62AE-3E03-A85D-804C1CBF8D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0BAD985-A63C-044B-76BE-19DB49C4E12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D2A3EE34-B410-F2B3-8E6F-2EBEF2CE56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BB95566-655F-B562-5F9C-B59001FD0DE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1B6D5929-DA1B-CCA0-F7C4-5F42A92BE39B}"/>
              </a:ext>
            </a:extLst>
          </p:cNvPr>
          <p:cNvSpPr>
            <a:spLocks noGrp="1"/>
          </p:cNvSpPr>
          <p:nvPr>
            <p:ph type="dt" sz="half" idx="10"/>
          </p:nvPr>
        </p:nvSpPr>
        <p:spPr/>
        <p:txBody>
          <a:bodyPr/>
          <a:lstStyle/>
          <a:p>
            <a:fld id="{BA5A62D0-F2B5-4283-A2D4-702AC72D6AB4}" type="datetimeFigureOut">
              <a:rPr lang="en-US" smtClean="0"/>
              <a:t>6/7/2026</a:t>
            </a:fld>
            <a:endParaRPr lang="en-US"/>
          </a:p>
        </p:txBody>
      </p:sp>
      <p:sp>
        <p:nvSpPr>
          <p:cNvPr id="8" name="Espace réservé du pied de page 7">
            <a:extLst>
              <a:ext uri="{FF2B5EF4-FFF2-40B4-BE49-F238E27FC236}">
                <a16:creationId xmlns:a16="http://schemas.microsoft.com/office/drawing/2014/main" id="{76EE4AB6-FB15-6772-8C54-C6CBAD1301D1}"/>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397D9E0D-2C2E-388A-7389-D46E752945FC}"/>
              </a:ext>
            </a:extLst>
          </p:cNvPr>
          <p:cNvSpPr>
            <a:spLocks noGrp="1"/>
          </p:cNvSpPr>
          <p:nvPr>
            <p:ph type="sldNum" sz="quarter" idx="12"/>
          </p:nvPr>
        </p:nvSpPr>
        <p:spPr/>
        <p:txBody>
          <a:bodyPr/>
          <a:lstStyle/>
          <a:p>
            <a:fld id="{CB6EFA5A-ABC5-4CA3-A329-0E1363F797F2}" type="slidenum">
              <a:rPr lang="en-US" smtClean="0"/>
              <a:t>‹N°›</a:t>
            </a:fld>
            <a:endParaRPr lang="en-US"/>
          </a:p>
        </p:txBody>
      </p:sp>
    </p:spTree>
    <p:extLst>
      <p:ext uri="{BB962C8B-B14F-4D97-AF65-F5344CB8AC3E}">
        <p14:creationId xmlns:p14="http://schemas.microsoft.com/office/powerpoint/2010/main" val="3644339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FFA81F-ED4E-6687-BFC7-C4EC5DEFBAB7}"/>
              </a:ext>
            </a:extLst>
          </p:cNvPr>
          <p:cNvSpPr>
            <a:spLocks noGrp="1"/>
          </p:cNvSpPr>
          <p:nvPr>
            <p:ph type="title"/>
          </p:nvPr>
        </p:nvSpPr>
        <p:spPr/>
        <p:txBody>
          <a:bodyPr/>
          <a:lstStyle/>
          <a:p>
            <a:r>
              <a:rPr lang="fr-FR"/>
              <a:t>Modifiez le style du titre</a:t>
            </a:r>
            <a:endParaRPr lang="en-US"/>
          </a:p>
        </p:txBody>
      </p:sp>
      <p:sp>
        <p:nvSpPr>
          <p:cNvPr id="3" name="Espace réservé de la date 2">
            <a:extLst>
              <a:ext uri="{FF2B5EF4-FFF2-40B4-BE49-F238E27FC236}">
                <a16:creationId xmlns:a16="http://schemas.microsoft.com/office/drawing/2014/main" id="{75BE9090-38D7-F702-5343-1A567B42F2B6}"/>
              </a:ext>
            </a:extLst>
          </p:cNvPr>
          <p:cNvSpPr>
            <a:spLocks noGrp="1"/>
          </p:cNvSpPr>
          <p:nvPr>
            <p:ph type="dt" sz="half" idx="10"/>
          </p:nvPr>
        </p:nvSpPr>
        <p:spPr/>
        <p:txBody>
          <a:bodyPr/>
          <a:lstStyle/>
          <a:p>
            <a:fld id="{BA5A62D0-F2B5-4283-A2D4-702AC72D6AB4}" type="datetimeFigureOut">
              <a:rPr lang="en-US" smtClean="0"/>
              <a:t>6/7/2026</a:t>
            </a:fld>
            <a:endParaRPr lang="en-US"/>
          </a:p>
        </p:txBody>
      </p:sp>
      <p:sp>
        <p:nvSpPr>
          <p:cNvPr id="4" name="Espace réservé du pied de page 3">
            <a:extLst>
              <a:ext uri="{FF2B5EF4-FFF2-40B4-BE49-F238E27FC236}">
                <a16:creationId xmlns:a16="http://schemas.microsoft.com/office/drawing/2014/main" id="{5F700780-75F6-6461-B45D-AAE3789E2AF0}"/>
              </a:ext>
            </a:extLst>
          </p:cNvPr>
          <p:cNvSpPr>
            <a:spLocks noGrp="1"/>
          </p:cNvSpPr>
          <p:nvPr>
            <p:ph type="ftr" sz="quarter" idx="11"/>
          </p:nvPr>
        </p:nvSpPr>
        <p:spPr/>
        <p:txBody>
          <a:bodyPr/>
          <a:lstStyle/>
          <a:p>
            <a:endParaRPr lang="en-US"/>
          </a:p>
        </p:txBody>
      </p:sp>
      <p:sp>
        <p:nvSpPr>
          <p:cNvPr id="5" name="Espace réservé du numéro de diapositive 4">
            <a:extLst>
              <a:ext uri="{FF2B5EF4-FFF2-40B4-BE49-F238E27FC236}">
                <a16:creationId xmlns:a16="http://schemas.microsoft.com/office/drawing/2014/main" id="{97ECA94A-0614-878A-56AE-DDA58D0BF465}"/>
              </a:ext>
            </a:extLst>
          </p:cNvPr>
          <p:cNvSpPr>
            <a:spLocks noGrp="1"/>
          </p:cNvSpPr>
          <p:nvPr>
            <p:ph type="sldNum" sz="quarter" idx="12"/>
          </p:nvPr>
        </p:nvSpPr>
        <p:spPr/>
        <p:txBody>
          <a:bodyPr/>
          <a:lstStyle/>
          <a:p>
            <a:fld id="{CB6EFA5A-ABC5-4CA3-A329-0E1363F797F2}" type="slidenum">
              <a:rPr lang="en-US" smtClean="0"/>
              <a:t>‹N°›</a:t>
            </a:fld>
            <a:endParaRPr lang="en-US"/>
          </a:p>
        </p:txBody>
      </p:sp>
    </p:spTree>
    <p:extLst>
      <p:ext uri="{BB962C8B-B14F-4D97-AF65-F5344CB8AC3E}">
        <p14:creationId xmlns:p14="http://schemas.microsoft.com/office/powerpoint/2010/main" val="1996582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CE78352-E4C4-457F-94E7-3FCBFBB53769}"/>
              </a:ext>
            </a:extLst>
          </p:cNvPr>
          <p:cNvSpPr>
            <a:spLocks noGrp="1"/>
          </p:cNvSpPr>
          <p:nvPr>
            <p:ph type="dt" sz="half" idx="10"/>
          </p:nvPr>
        </p:nvSpPr>
        <p:spPr/>
        <p:txBody>
          <a:bodyPr/>
          <a:lstStyle/>
          <a:p>
            <a:fld id="{BA5A62D0-F2B5-4283-A2D4-702AC72D6AB4}" type="datetimeFigureOut">
              <a:rPr lang="en-US" smtClean="0"/>
              <a:t>6/7/2026</a:t>
            </a:fld>
            <a:endParaRPr lang="en-US"/>
          </a:p>
        </p:txBody>
      </p:sp>
      <p:sp>
        <p:nvSpPr>
          <p:cNvPr id="3" name="Espace réservé du pied de page 2">
            <a:extLst>
              <a:ext uri="{FF2B5EF4-FFF2-40B4-BE49-F238E27FC236}">
                <a16:creationId xmlns:a16="http://schemas.microsoft.com/office/drawing/2014/main" id="{C9E8CC3A-5B19-91E0-B806-3B5D896F833A}"/>
              </a:ext>
            </a:extLst>
          </p:cNvPr>
          <p:cNvSpPr>
            <a:spLocks noGrp="1"/>
          </p:cNvSpPr>
          <p:nvPr>
            <p:ph type="ftr" sz="quarter" idx="11"/>
          </p:nvPr>
        </p:nvSpPr>
        <p:spPr/>
        <p:txBody>
          <a:bodyPr/>
          <a:lstStyle/>
          <a:p>
            <a:endParaRPr lang="en-US"/>
          </a:p>
        </p:txBody>
      </p:sp>
      <p:sp>
        <p:nvSpPr>
          <p:cNvPr id="4" name="Espace réservé du numéro de diapositive 3">
            <a:extLst>
              <a:ext uri="{FF2B5EF4-FFF2-40B4-BE49-F238E27FC236}">
                <a16:creationId xmlns:a16="http://schemas.microsoft.com/office/drawing/2014/main" id="{C4D47109-8D6B-CE45-904D-7FDD155AE4B2}"/>
              </a:ext>
            </a:extLst>
          </p:cNvPr>
          <p:cNvSpPr>
            <a:spLocks noGrp="1"/>
          </p:cNvSpPr>
          <p:nvPr>
            <p:ph type="sldNum" sz="quarter" idx="12"/>
          </p:nvPr>
        </p:nvSpPr>
        <p:spPr/>
        <p:txBody>
          <a:bodyPr/>
          <a:lstStyle/>
          <a:p>
            <a:fld id="{CB6EFA5A-ABC5-4CA3-A329-0E1363F797F2}" type="slidenum">
              <a:rPr lang="en-US" smtClean="0"/>
              <a:t>‹N°›</a:t>
            </a:fld>
            <a:endParaRPr lang="en-US"/>
          </a:p>
        </p:txBody>
      </p:sp>
    </p:spTree>
    <p:extLst>
      <p:ext uri="{BB962C8B-B14F-4D97-AF65-F5344CB8AC3E}">
        <p14:creationId xmlns:p14="http://schemas.microsoft.com/office/powerpoint/2010/main" val="1960252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BEBBE3-0FA0-4CF8-A038-C984D05FB66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FB8FF41F-66F6-EE25-633E-DA6A01B2B6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42EAB947-8B7E-62BE-65DA-9BBBD24722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317A655-C561-1052-C5E2-379F1DDF5C85}"/>
              </a:ext>
            </a:extLst>
          </p:cNvPr>
          <p:cNvSpPr>
            <a:spLocks noGrp="1"/>
          </p:cNvSpPr>
          <p:nvPr>
            <p:ph type="dt" sz="half" idx="10"/>
          </p:nvPr>
        </p:nvSpPr>
        <p:spPr/>
        <p:txBody>
          <a:bodyPr/>
          <a:lstStyle/>
          <a:p>
            <a:fld id="{BA5A62D0-F2B5-4283-A2D4-702AC72D6AB4}" type="datetimeFigureOut">
              <a:rPr lang="en-US" smtClean="0"/>
              <a:t>6/7/2026</a:t>
            </a:fld>
            <a:endParaRPr lang="en-US"/>
          </a:p>
        </p:txBody>
      </p:sp>
      <p:sp>
        <p:nvSpPr>
          <p:cNvPr id="6" name="Espace réservé du pied de page 5">
            <a:extLst>
              <a:ext uri="{FF2B5EF4-FFF2-40B4-BE49-F238E27FC236}">
                <a16:creationId xmlns:a16="http://schemas.microsoft.com/office/drawing/2014/main" id="{3C2AA481-107D-F8F1-D403-FF100D9EC61D}"/>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1F7593DB-BB6D-9B1F-522F-B69C884BACF1}"/>
              </a:ext>
            </a:extLst>
          </p:cNvPr>
          <p:cNvSpPr>
            <a:spLocks noGrp="1"/>
          </p:cNvSpPr>
          <p:nvPr>
            <p:ph type="sldNum" sz="quarter" idx="12"/>
          </p:nvPr>
        </p:nvSpPr>
        <p:spPr/>
        <p:txBody>
          <a:bodyPr/>
          <a:lstStyle/>
          <a:p>
            <a:fld id="{CB6EFA5A-ABC5-4CA3-A329-0E1363F797F2}" type="slidenum">
              <a:rPr lang="en-US" smtClean="0"/>
              <a:t>‹N°›</a:t>
            </a:fld>
            <a:endParaRPr lang="en-US"/>
          </a:p>
        </p:txBody>
      </p:sp>
    </p:spTree>
    <p:extLst>
      <p:ext uri="{BB962C8B-B14F-4D97-AF65-F5344CB8AC3E}">
        <p14:creationId xmlns:p14="http://schemas.microsoft.com/office/powerpoint/2010/main" val="346837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1B7AF1-DBBB-F5C0-91FA-2A4BF82AEE3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a:extLst>
              <a:ext uri="{FF2B5EF4-FFF2-40B4-BE49-F238E27FC236}">
                <a16:creationId xmlns:a16="http://schemas.microsoft.com/office/drawing/2014/main" id="{30F6B015-DF8B-613C-48BA-982757F07B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a:extLst>
              <a:ext uri="{FF2B5EF4-FFF2-40B4-BE49-F238E27FC236}">
                <a16:creationId xmlns:a16="http://schemas.microsoft.com/office/drawing/2014/main" id="{CD3E92FF-D9D6-6C7B-F2C1-61CE767C41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855DA13-745D-BA81-C76A-EA18C16C470A}"/>
              </a:ext>
            </a:extLst>
          </p:cNvPr>
          <p:cNvSpPr>
            <a:spLocks noGrp="1"/>
          </p:cNvSpPr>
          <p:nvPr>
            <p:ph type="dt" sz="half" idx="10"/>
          </p:nvPr>
        </p:nvSpPr>
        <p:spPr/>
        <p:txBody>
          <a:bodyPr/>
          <a:lstStyle/>
          <a:p>
            <a:fld id="{BA5A62D0-F2B5-4283-A2D4-702AC72D6AB4}" type="datetimeFigureOut">
              <a:rPr lang="en-US" smtClean="0"/>
              <a:t>6/7/2026</a:t>
            </a:fld>
            <a:endParaRPr lang="en-US"/>
          </a:p>
        </p:txBody>
      </p:sp>
      <p:sp>
        <p:nvSpPr>
          <p:cNvPr id="6" name="Espace réservé du pied de page 5">
            <a:extLst>
              <a:ext uri="{FF2B5EF4-FFF2-40B4-BE49-F238E27FC236}">
                <a16:creationId xmlns:a16="http://schemas.microsoft.com/office/drawing/2014/main" id="{74FB6786-0004-E919-B665-CD63C6B81BCC}"/>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3254BBE2-7A8B-9F14-C4F7-4C76137D6882}"/>
              </a:ext>
            </a:extLst>
          </p:cNvPr>
          <p:cNvSpPr>
            <a:spLocks noGrp="1"/>
          </p:cNvSpPr>
          <p:nvPr>
            <p:ph type="sldNum" sz="quarter" idx="12"/>
          </p:nvPr>
        </p:nvSpPr>
        <p:spPr/>
        <p:txBody>
          <a:bodyPr/>
          <a:lstStyle/>
          <a:p>
            <a:fld id="{CB6EFA5A-ABC5-4CA3-A329-0E1363F797F2}" type="slidenum">
              <a:rPr lang="en-US" smtClean="0"/>
              <a:t>‹N°›</a:t>
            </a:fld>
            <a:endParaRPr lang="en-US"/>
          </a:p>
        </p:txBody>
      </p:sp>
    </p:spTree>
    <p:extLst>
      <p:ext uri="{BB962C8B-B14F-4D97-AF65-F5344CB8AC3E}">
        <p14:creationId xmlns:p14="http://schemas.microsoft.com/office/powerpoint/2010/main" val="435340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AAD322-05FF-252F-876A-43C372A6513F}"/>
              </a:ext>
            </a:extLst>
          </p:cNvPr>
          <p:cNvSpPr>
            <a:spLocks noGrp="1"/>
          </p:cNvSpPr>
          <p:nvPr>
            <p:ph type="title"/>
          </p:nvPr>
        </p:nvSpPr>
        <p:spPr/>
        <p:txBody>
          <a:bodyPr/>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D3C54E83-D8AE-6424-B646-980052EB7B6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D3BF01CB-F6D0-BE6A-3A9F-62BE706E11A8}"/>
              </a:ext>
            </a:extLst>
          </p:cNvPr>
          <p:cNvSpPr>
            <a:spLocks noGrp="1"/>
          </p:cNvSpPr>
          <p:nvPr>
            <p:ph type="dt" sz="half" idx="10"/>
          </p:nvPr>
        </p:nvSpPr>
        <p:spPr/>
        <p:txBody>
          <a:bodyPr/>
          <a:lstStyle/>
          <a:p>
            <a:fld id="{BA5A62D0-F2B5-4283-A2D4-702AC72D6AB4}" type="datetimeFigureOut">
              <a:rPr lang="en-US" smtClean="0"/>
              <a:t>6/7/2026</a:t>
            </a:fld>
            <a:endParaRPr lang="en-US"/>
          </a:p>
        </p:txBody>
      </p:sp>
      <p:sp>
        <p:nvSpPr>
          <p:cNvPr id="5" name="Espace réservé du pied de page 4">
            <a:extLst>
              <a:ext uri="{FF2B5EF4-FFF2-40B4-BE49-F238E27FC236}">
                <a16:creationId xmlns:a16="http://schemas.microsoft.com/office/drawing/2014/main" id="{DFD35B49-2C66-5F61-BE1E-F1ED7EF2EB08}"/>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17F639E0-06C1-8ECC-6F84-2EB47E76EC93}"/>
              </a:ext>
            </a:extLst>
          </p:cNvPr>
          <p:cNvSpPr>
            <a:spLocks noGrp="1"/>
          </p:cNvSpPr>
          <p:nvPr>
            <p:ph type="sldNum" sz="quarter" idx="12"/>
          </p:nvPr>
        </p:nvSpPr>
        <p:spPr/>
        <p:txBody>
          <a:bodyPr/>
          <a:lstStyle/>
          <a:p>
            <a:fld id="{CB6EFA5A-ABC5-4CA3-A329-0E1363F797F2}" type="slidenum">
              <a:rPr lang="en-US" smtClean="0"/>
              <a:t>‹N°›</a:t>
            </a:fld>
            <a:endParaRPr lang="en-US"/>
          </a:p>
        </p:txBody>
      </p:sp>
    </p:spTree>
    <p:extLst>
      <p:ext uri="{BB962C8B-B14F-4D97-AF65-F5344CB8AC3E}">
        <p14:creationId xmlns:p14="http://schemas.microsoft.com/office/powerpoint/2010/main" val="960081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A3F64F2-1CD6-5A6F-85FE-3253D8B762D9}"/>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C1F6BB3B-BD8B-9489-3CE1-979E34C7D44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3FD1F9C5-D764-1057-77AC-DA5158908C56}"/>
              </a:ext>
            </a:extLst>
          </p:cNvPr>
          <p:cNvSpPr>
            <a:spLocks noGrp="1"/>
          </p:cNvSpPr>
          <p:nvPr>
            <p:ph type="dt" sz="half" idx="10"/>
          </p:nvPr>
        </p:nvSpPr>
        <p:spPr/>
        <p:txBody>
          <a:bodyPr/>
          <a:lstStyle/>
          <a:p>
            <a:fld id="{BA5A62D0-F2B5-4283-A2D4-702AC72D6AB4}" type="datetimeFigureOut">
              <a:rPr lang="en-US" smtClean="0"/>
              <a:t>6/7/2026</a:t>
            </a:fld>
            <a:endParaRPr lang="en-US"/>
          </a:p>
        </p:txBody>
      </p:sp>
      <p:sp>
        <p:nvSpPr>
          <p:cNvPr id="5" name="Espace réservé du pied de page 4">
            <a:extLst>
              <a:ext uri="{FF2B5EF4-FFF2-40B4-BE49-F238E27FC236}">
                <a16:creationId xmlns:a16="http://schemas.microsoft.com/office/drawing/2014/main" id="{10E7199C-A189-A3F2-0529-0704DCEEE390}"/>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78486295-840A-6676-477A-2C5974700C47}"/>
              </a:ext>
            </a:extLst>
          </p:cNvPr>
          <p:cNvSpPr>
            <a:spLocks noGrp="1"/>
          </p:cNvSpPr>
          <p:nvPr>
            <p:ph type="sldNum" sz="quarter" idx="12"/>
          </p:nvPr>
        </p:nvSpPr>
        <p:spPr/>
        <p:txBody>
          <a:bodyPr/>
          <a:lstStyle/>
          <a:p>
            <a:fld id="{CB6EFA5A-ABC5-4CA3-A329-0E1363F797F2}" type="slidenum">
              <a:rPr lang="en-US" smtClean="0"/>
              <a:t>‹N°›</a:t>
            </a:fld>
            <a:endParaRPr lang="en-US"/>
          </a:p>
        </p:txBody>
      </p:sp>
    </p:spTree>
    <p:extLst>
      <p:ext uri="{BB962C8B-B14F-4D97-AF65-F5344CB8AC3E}">
        <p14:creationId xmlns:p14="http://schemas.microsoft.com/office/powerpoint/2010/main" val="3251156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A6C3897-B62B-127A-23BB-70E63331DB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5D941712-AC4D-42D7-3E12-7C7B75E2C6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6BE9B73B-B4D3-A318-D31C-005AC2A6BB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5A62D0-F2B5-4283-A2D4-702AC72D6AB4}" type="datetimeFigureOut">
              <a:rPr lang="en-US" smtClean="0"/>
              <a:t>6/7/2026</a:t>
            </a:fld>
            <a:endParaRPr lang="en-US"/>
          </a:p>
        </p:txBody>
      </p:sp>
      <p:sp>
        <p:nvSpPr>
          <p:cNvPr id="5" name="Espace réservé du pied de page 4">
            <a:extLst>
              <a:ext uri="{FF2B5EF4-FFF2-40B4-BE49-F238E27FC236}">
                <a16:creationId xmlns:a16="http://schemas.microsoft.com/office/drawing/2014/main" id="{A50479E0-81E6-4A0C-F97C-9497DA7F94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Espace réservé du numéro de diapositive 5">
            <a:extLst>
              <a:ext uri="{FF2B5EF4-FFF2-40B4-BE49-F238E27FC236}">
                <a16:creationId xmlns:a16="http://schemas.microsoft.com/office/drawing/2014/main" id="{66D188AF-8EC6-85CE-30BD-7E0D324AC9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6EFA5A-ABC5-4CA3-A329-0E1363F797F2}" type="slidenum">
              <a:rPr lang="en-US" smtClean="0"/>
              <a:t>‹N°›</a:t>
            </a:fld>
            <a:endParaRPr lang="en-US"/>
          </a:p>
        </p:txBody>
      </p:sp>
    </p:spTree>
    <p:extLst>
      <p:ext uri="{BB962C8B-B14F-4D97-AF65-F5344CB8AC3E}">
        <p14:creationId xmlns:p14="http://schemas.microsoft.com/office/powerpoint/2010/main" val="2627202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CC41C5-D6A8-96C9-B735-FD1739C54F7F}"/>
              </a:ext>
            </a:extLst>
          </p:cNvPr>
          <p:cNvSpPr/>
          <p:nvPr/>
        </p:nvSpPr>
        <p:spPr>
          <a:xfrm>
            <a:off x="0" y="0"/>
            <a:ext cx="12192000" cy="50800"/>
          </a:xfrm>
          <a:prstGeom prst="rect">
            <a:avLst/>
          </a:prstGeom>
          <a:solidFill>
            <a:srgbClr val="E1E7E2"/>
          </a:solidFill>
          <a:ln w="9525">
            <a:solidFill>
              <a:srgbClr val="E1E7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6D8B875-7717-06D7-5392-C55C2CF84B1B}"/>
              </a:ext>
            </a:extLst>
          </p:cNvPr>
          <p:cNvSpPr/>
          <p:nvPr/>
        </p:nvSpPr>
        <p:spPr>
          <a:xfrm>
            <a:off x="0" y="0"/>
            <a:ext cx="939800" cy="508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7186869-2791-8BF2-74E2-7F30C12097D8}"/>
              </a:ext>
            </a:extLst>
          </p:cNvPr>
          <p:cNvSpPr/>
          <p:nvPr/>
        </p:nvSpPr>
        <p:spPr>
          <a:xfrm>
            <a:off x="457200" y="317500"/>
            <a:ext cx="76200" cy="762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DD124CAB-358D-3FCB-9E82-87B9CE31509B}"/>
              </a:ext>
            </a:extLst>
          </p:cNvPr>
          <p:cNvSpPr txBox="1"/>
          <p:nvPr/>
        </p:nvSpPr>
        <p:spPr>
          <a:xfrm>
            <a:off x="635000" y="279400"/>
            <a:ext cx="3048000" cy="115416"/>
          </a:xfrm>
          <a:prstGeom prst="rect">
            <a:avLst/>
          </a:prstGeom>
          <a:noFill/>
        </p:spPr>
        <p:txBody>
          <a:bodyPr vert="horz" lIns="0" tIns="0" rIns="0" bIns="0" rtlCol="0">
            <a:spAutoFit/>
          </a:bodyPr>
          <a:lstStyle/>
          <a:p>
            <a:r>
              <a:rPr lang="en-US" sz="750" b="1">
                <a:solidFill>
                  <a:srgbClr val="66536E"/>
                </a:solidFill>
                <a:latin typeface="Aptos" panose="020B0004020202020204" pitchFamily="34" charset="0"/>
              </a:rPr>
              <a:t>OPENING</a:t>
            </a:r>
          </a:p>
        </p:txBody>
      </p:sp>
      <p:sp>
        <p:nvSpPr>
          <p:cNvPr id="6" name="Rectangle 5">
            <a:extLst>
              <a:ext uri="{FF2B5EF4-FFF2-40B4-BE49-F238E27FC236}">
                <a16:creationId xmlns:a16="http://schemas.microsoft.com/office/drawing/2014/main" id="{74DB6B35-0CBC-21E8-E895-B9DC27DBEA08}"/>
              </a:ext>
            </a:extLst>
          </p:cNvPr>
          <p:cNvSpPr/>
          <p:nvPr/>
        </p:nvSpPr>
        <p:spPr>
          <a:xfrm>
            <a:off x="457200" y="6426200"/>
            <a:ext cx="10287000" cy="12700"/>
          </a:xfrm>
          <a:prstGeom prst="rect">
            <a:avLst/>
          </a:prstGeom>
          <a:solidFill>
            <a:srgbClr val="C0CDC8"/>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1CC8819C-E825-85F0-C005-CC8EC7937624}"/>
              </a:ext>
            </a:extLst>
          </p:cNvPr>
          <p:cNvSpPr txBox="1"/>
          <p:nvPr/>
        </p:nvSpPr>
        <p:spPr>
          <a:xfrm>
            <a:off x="10896600" y="6286500"/>
            <a:ext cx="762000" cy="138499"/>
          </a:xfrm>
          <a:prstGeom prst="rect">
            <a:avLst/>
          </a:prstGeom>
          <a:noFill/>
        </p:spPr>
        <p:txBody>
          <a:bodyPr vert="horz" lIns="0" tIns="0" rIns="0" bIns="0" rtlCol="0">
            <a:spAutoFit/>
          </a:bodyPr>
          <a:lstStyle/>
          <a:p>
            <a:pPr algn="r"/>
            <a:r>
              <a:rPr lang="en-US" sz="900" b="1">
                <a:solidFill>
                  <a:srgbClr val="66536E"/>
                </a:solidFill>
                <a:latin typeface="Aptos" panose="020B0004020202020204" pitchFamily="34" charset="0"/>
              </a:rPr>
              <a:t>1/13</a:t>
            </a:r>
          </a:p>
        </p:txBody>
      </p:sp>
      <p:sp>
        <p:nvSpPr>
          <p:cNvPr id="8" name="ZoneTexte 7">
            <a:extLst>
              <a:ext uri="{FF2B5EF4-FFF2-40B4-BE49-F238E27FC236}">
                <a16:creationId xmlns:a16="http://schemas.microsoft.com/office/drawing/2014/main" id="{DF95EB14-84F5-D59F-3AA8-DEF27993BF91}"/>
              </a:ext>
            </a:extLst>
          </p:cNvPr>
          <p:cNvSpPr txBox="1"/>
          <p:nvPr/>
        </p:nvSpPr>
        <p:spPr>
          <a:xfrm>
            <a:off x="457200" y="635000"/>
            <a:ext cx="7747000" cy="707886"/>
          </a:xfrm>
          <a:prstGeom prst="rect">
            <a:avLst/>
          </a:prstGeom>
          <a:noFill/>
        </p:spPr>
        <p:txBody>
          <a:bodyPr vert="horz" lIns="0" tIns="0" rIns="0" bIns="0" rtlCol="0">
            <a:spAutoFit/>
          </a:bodyPr>
          <a:lstStyle/>
          <a:p>
            <a:r>
              <a:rPr lang="en-US" sz="2300" b="1">
                <a:solidFill>
                  <a:srgbClr val="16201E"/>
                </a:solidFill>
                <a:latin typeface="Georgia" panose="02040502050405020303" pitchFamily="18" charset="0"/>
              </a:rPr>
              <a:t>AI-Assisted Research Paper Submission and Review Platform</a:t>
            </a:r>
          </a:p>
        </p:txBody>
      </p:sp>
      <p:sp>
        <p:nvSpPr>
          <p:cNvPr id="9" name="Rectangle 8">
            <a:extLst>
              <a:ext uri="{FF2B5EF4-FFF2-40B4-BE49-F238E27FC236}">
                <a16:creationId xmlns:a16="http://schemas.microsoft.com/office/drawing/2014/main" id="{CBABAF1A-38DD-BFEC-0A1D-1830B9D5F29F}"/>
              </a:ext>
            </a:extLst>
          </p:cNvPr>
          <p:cNvSpPr/>
          <p:nvPr/>
        </p:nvSpPr>
        <p:spPr>
          <a:xfrm>
            <a:off x="635000" y="19304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F267258C-B819-A564-FA8B-B0176A6F09E5}"/>
              </a:ext>
            </a:extLst>
          </p:cNvPr>
          <p:cNvSpPr txBox="1"/>
          <p:nvPr/>
        </p:nvSpPr>
        <p:spPr>
          <a:xfrm>
            <a:off x="863600" y="18415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Final year engineering project</a:t>
            </a:r>
          </a:p>
        </p:txBody>
      </p:sp>
      <p:sp>
        <p:nvSpPr>
          <p:cNvPr id="11" name="Rectangle 10">
            <a:extLst>
              <a:ext uri="{FF2B5EF4-FFF2-40B4-BE49-F238E27FC236}">
                <a16:creationId xmlns:a16="http://schemas.microsoft.com/office/drawing/2014/main" id="{14739920-291B-BF98-A1BE-A12E508ED411}"/>
              </a:ext>
            </a:extLst>
          </p:cNvPr>
          <p:cNvSpPr/>
          <p:nvPr/>
        </p:nvSpPr>
        <p:spPr>
          <a:xfrm>
            <a:off x="635000" y="24003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ZoneTexte 11">
            <a:extLst>
              <a:ext uri="{FF2B5EF4-FFF2-40B4-BE49-F238E27FC236}">
                <a16:creationId xmlns:a16="http://schemas.microsoft.com/office/drawing/2014/main" id="{3C5D23C5-C0AD-2DA4-1287-B81B6BB1787B}"/>
              </a:ext>
            </a:extLst>
          </p:cNvPr>
          <p:cNvSpPr txBox="1"/>
          <p:nvPr/>
        </p:nvSpPr>
        <p:spPr>
          <a:xfrm>
            <a:off x="863600" y="23114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Web platform for submission, assignment, and review</a:t>
            </a:r>
          </a:p>
        </p:txBody>
      </p:sp>
      <p:sp>
        <p:nvSpPr>
          <p:cNvPr id="13" name="Rectangle 12">
            <a:extLst>
              <a:ext uri="{FF2B5EF4-FFF2-40B4-BE49-F238E27FC236}">
                <a16:creationId xmlns:a16="http://schemas.microsoft.com/office/drawing/2014/main" id="{1F24F658-52CD-46F6-2998-4ADC1F44D6AD}"/>
              </a:ext>
            </a:extLst>
          </p:cNvPr>
          <p:cNvSpPr/>
          <p:nvPr/>
        </p:nvSpPr>
        <p:spPr>
          <a:xfrm>
            <a:off x="635000" y="28702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ZoneTexte 13">
            <a:extLst>
              <a:ext uri="{FF2B5EF4-FFF2-40B4-BE49-F238E27FC236}">
                <a16:creationId xmlns:a16="http://schemas.microsoft.com/office/drawing/2014/main" id="{ABECDB41-4C2A-48A6-B81C-EB59727F299A}"/>
              </a:ext>
            </a:extLst>
          </p:cNvPr>
          <p:cNvSpPr txBox="1"/>
          <p:nvPr/>
        </p:nvSpPr>
        <p:spPr>
          <a:xfrm>
            <a:off x="863600" y="27813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Angular, Spring Boot, FastAPI, PostgreSQL, local AI</a:t>
            </a:r>
          </a:p>
        </p:txBody>
      </p:sp>
      <p:sp>
        <p:nvSpPr>
          <p:cNvPr id="15" name="Rectangle 14">
            <a:extLst>
              <a:ext uri="{FF2B5EF4-FFF2-40B4-BE49-F238E27FC236}">
                <a16:creationId xmlns:a16="http://schemas.microsoft.com/office/drawing/2014/main" id="{64F72D6B-EA26-8913-C8A0-E8963D7F62E6}"/>
              </a:ext>
            </a:extLst>
          </p:cNvPr>
          <p:cNvSpPr/>
          <p:nvPr/>
        </p:nvSpPr>
        <p:spPr>
          <a:xfrm>
            <a:off x="635000" y="33401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ZoneTexte 15">
            <a:extLst>
              <a:ext uri="{FF2B5EF4-FFF2-40B4-BE49-F238E27FC236}">
                <a16:creationId xmlns:a16="http://schemas.microsoft.com/office/drawing/2014/main" id="{441721BF-F761-660B-56E9-08AD4F53123E}"/>
              </a:ext>
            </a:extLst>
          </p:cNvPr>
          <p:cNvSpPr txBox="1"/>
          <p:nvPr/>
        </p:nvSpPr>
        <p:spPr>
          <a:xfrm>
            <a:off x="863600" y="32512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Human control with AI assistance</a:t>
            </a:r>
          </a:p>
        </p:txBody>
      </p:sp>
      <p:sp>
        <p:nvSpPr>
          <p:cNvPr id="17" name="Rectangle 16">
            <a:extLst>
              <a:ext uri="{FF2B5EF4-FFF2-40B4-BE49-F238E27FC236}">
                <a16:creationId xmlns:a16="http://schemas.microsoft.com/office/drawing/2014/main" id="{65C20BE2-C242-4BC4-1442-E80EC86BA2D7}"/>
              </a:ext>
            </a:extLst>
          </p:cNvPr>
          <p:cNvSpPr/>
          <p:nvPr/>
        </p:nvSpPr>
        <p:spPr>
          <a:xfrm>
            <a:off x="0" y="50800"/>
            <a:ext cx="12192000" cy="6807200"/>
          </a:xfrm>
          <a:prstGeom prst="rect">
            <a:avLst/>
          </a:prstGeom>
          <a:solidFill>
            <a:srgbClr val="10431F"/>
          </a:solidFill>
          <a:ln w="9525">
            <a:solidFill>
              <a:srgbClr val="1043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8585FB8-AAD1-78C4-6073-8A0859A893FA}"/>
              </a:ext>
            </a:extLst>
          </p:cNvPr>
          <p:cNvSpPr/>
          <p:nvPr/>
        </p:nvSpPr>
        <p:spPr>
          <a:xfrm>
            <a:off x="0" y="0"/>
            <a:ext cx="939800" cy="508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ZoneTexte 18">
            <a:extLst>
              <a:ext uri="{FF2B5EF4-FFF2-40B4-BE49-F238E27FC236}">
                <a16:creationId xmlns:a16="http://schemas.microsoft.com/office/drawing/2014/main" id="{42DBED83-410A-278D-1EBF-20A1FEBCD913}"/>
              </a:ext>
            </a:extLst>
          </p:cNvPr>
          <p:cNvSpPr txBox="1"/>
          <p:nvPr/>
        </p:nvSpPr>
        <p:spPr>
          <a:xfrm>
            <a:off x="558800" y="482600"/>
            <a:ext cx="3556000" cy="123111"/>
          </a:xfrm>
          <a:prstGeom prst="rect">
            <a:avLst/>
          </a:prstGeom>
          <a:noFill/>
        </p:spPr>
        <p:txBody>
          <a:bodyPr vert="horz" lIns="0" tIns="0" rIns="0" bIns="0" rtlCol="0">
            <a:spAutoFit/>
          </a:bodyPr>
          <a:lstStyle/>
          <a:p>
            <a:r>
              <a:rPr lang="en-US" sz="800" b="1">
                <a:solidFill>
                  <a:srgbClr val="AFC2BA"/>
                </a:solidFill>
                <a:latin typeface="Aptos" panose="020B0004020202020204" pitchFamily="34" charset="0"/>
              </a:rPr>
              <a:t>FINAL YEAR PROJECT DEFENSE</a:t>
            </a:r>
          </a:p>
        </p:txBody>
      </p:sp>
      <p:sp>
        <p:nvSpPr>
          <p:cNvPr id="20" name="ZoneTexte 19">
            <a:extLst>
              <a:ext uri="{FF2B5EF4-FFF2-40B4-BE49-F238E27FC236}">
                <a16:creationId xmlns:a16="http://schemas.microsoft.com/office/drawing/2014/main" id="{40C625BF-8CE5-CD69-035A-EB42F71811A1}"/>
              </a:ext>
            </a:extLst>
          </p:cNvPr>
          <p:cNvSpPr txBox="1"/>
          <p:nvPr/>
        </p:nvSpPr>
        <p:spPr>
          <a:xfrm>
            <a:off x="558800" y="1371600"/>
            <a:ext cx="7112000" cy="1569660"/>
          </a:xfrm>
          <a:prstGeom prst="rect">
            <a:avLst/>
          </a:prstGeom>
          <a:noFill/>
        </p:spPr>
        <p:txBody>
          <a:bodyPr vert="horz" lIns="0" tIns="0" rIns="0" bIns="0" rtlCol="0">
            <a:spAutoFit/>
          </a:bodyPr>
          <a:lstStyle/>
          <a:p>
            <a:r>
              <a:rPr lang="en-US" sz="3400" b="1">
                <a:solidFill>
                  <a:srgbClr val="FFFFFF"/>
                </a:solidFill>
                <a:latin typeface="Georgia" panose="02040502050405020303" pitchFamily="18" charset="0"/>
              </a:rPr>
              <a:t>AI-Assisted Research Paper Submission and Review Platform</a:t>
            </a:r>
          </a:p>
        </p:txBody>
      </p:sp>
      <p:sp>
        <p:nvSpPr>
          <p:cNvPr id="21" name="ZoneTexte 20">
            <a:extLst>
              <a:ext uri="{FF2B5EF4-FFF2-40B4-BE49-F238E27FC236}">
                <a16:creationId xmlns:a16="http://schemas.microsoft.com/office/drawing/2014/main" id="{1F62DB5D-B38D-89F5-7D09-0D8A016FFD42}"/>
              </a:ext>
            </a:extLst>
          </p:cNvPr>
          <p:cNvSpPr txBox="1"/>
          <p:nvPr/>
        </p:nvSpPr>
        <p:spPr>
          <a:xfrm>
            <a:off x="584200" y="3149600"/>
            <a:ext cx="6350000" cy="430887"/>
          </a:xfrm>
          <a:prstGeom prst="rect">
            <a:avLst/>
          </a:prstGeom>
          <a:noFill/>
        </p:spPr>
        <p:txBody>
          <a:bodyPr vert="horz" lIns="0" tIns="0" rIns="0" bIns="0" rtlCol="0">
            <a:spAutoFit/>
          </a:bodyPr>
          <a:lstStyle/>
          <a:p>
            <a:r>
              <a:rPr lang="en-US" sz="1400">
                <a:solidFill>
                  <a:srgbClr val="DDE8E3"/>
                </a:solidFill>
                <a:latin typeface="Georgia" panose="02040502050405020303" pitchFamily="18" charset="0"/>
              </a:rPr>
              <a:t>A secure web platform that structures submission, reviewer assignment, AI-assisted evaluation, and final decision.</a:t>
            </a:r>
          </a:p>
        </p:txBody>
      </p:sp>
      <p:sp>
        <p:nvSpPr>
          <p:cNvPr id="22" name="Rectangle 21">
            <a:extLst>
              <a:ext uri="{FF2B5EF4-FFF2-40B4-BE49-F238E27FC236}">
                <a16:creationId xmlns:a16="http://schemas.microsoft.com/office/drawing/2014/main" id="{EDB6CD3B-8885-6654-566A-97BC906D9506}"/>
              </a:ext>
            </a:extLst>
          </p:cNvPr>
          <p:cNvSpPr/>
          <p:nvPr/>
        </p:nvSpPr>
        <p:spPr>
          <a:xfrm>
            <a:off x="863600" y="4495800"/>
            <a:ext cx="1085850" cy="635000"/>
          </a:xfrm>
          <a:prstGeom prst="rect">
            <a:avLst/>
          </a:prstGeom>
          <a:solidFill>
            <a:srgbClr val="EAF1EC"/>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ZoneTexte 22">
            <a:extLst>
              <a:ext uri="{FF2B5EF4-FFF2-40B4-BE49-F238E27FC236}">
                <a16:creationId xmlns:a16="http://schemas.microsoft.com/office/drawing/2014/main" id="{F6E801B7-802B-399B-3C13-4BD22A398F66}"/>
              </a:ext>
            </a:extLst>
          </p:cNvPr>
          <p:cNvSpPr txBox="1"/>
          <p:nvPr/>
        </p:nvSpPr>
        <p:spPr>
          <a:xfrm>
            <a:off x="965200" y="4597400"/>
            <a:ext cx="355600" cy="130805"/>
          </a:xfrm>
          <a:prstGeom prst="rect">
            <a:avLst/>
          </a:prstGeom>
          <a:noFill/>
        </p:spPr>
        <p:txBody>
          <a:bodyPr vert="horz" lIns="0" tIns="0" rIns="0" bIns="0" rtlCol="0">
            <a:spAutoFit/>
          </a:bodyPr>
          <a:lstStyle/>
          <a:p>
            <a:r>
              <a:rPr lang="en-US" sz="850" b="1">
                <a:solidFill>
                  <a:srgbClr val="147D64"/>
                </a:solidFill>
                <a:latin typeface="Aptos" panose="020B0004020202020204" pitchFamily="34" charset="0"/>
              </a:rPr>
              <a:t>01</a:t>
            </a:r>
          </a:p>
        </p:txBody>
      </p:sp>
      <p:sp>
        <p:nvSpPr>
          <p:cNvPr id="24" name="ZoneTexte 23">
            <a:extLst>
              <a:ext uri="{FF2B5EF4-FFF2-40B4-BE49-F238E27FC236}">
                <a16:creationId xmlns:a16="http://schemas.microsoft.com/office/drawing/2014/main" id="{78210305-A3EE-C619-7E05-EB94A9399A70}"/>
              </a:ext>
            </a:extLst>
          </p:cNvPr>
          <p:cNvSpPr txBox="1"/>
          <p:nvPr/>
        </p:nvSpPr>
        <p:spPr>
          <a:xfrm>
            <a:off x="965200" y="4800600"/>
            <a:ext cx="882650"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PDF upload</a:t>
            </a:r>
          </a:p>
        </p:txBody>
      </p:sp>
      <p:sp>
        <p:nvSpPr>
          <p:cNvPr id="25" name="Rectangle 24">
            <a:extLst>
              <a:ext uri="{FF2B5EF4-FFF2-40B4-BE49-F238E27FC236}">
                <a16:creationId xmlns:a16="http://schemas.microsoft.com/office/drawing/2014/main" id="{F76EA723-4684-41F2-84E6-65981C1FB8DD}"/>
              </a:ext>
            </a:extLst>
          </p:cNvPr>
          <p:cNvSpPr/>
          <p:nvPr/>
        </p:nvSpPr>
        <p:spPr>
          <a:xfrm>
            <a:off x="1949450" y="48006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9B4443C-BD9C-BF2E-BA1B-BCD326166626}"/>
              </a:ext>
            </a:extLst>
          </p:cNvPr>
          <p:cNvSpPr/>
          <p:nvPr/>
        </p:nvSpPr>
        <p:spPr>
          <a:xfrm>
            <a:off x="2101850" y="4495800"/>
            <a:ext cx="1085850" cy="635000"/>
          </a:xfrm>
          <a:prstGeom prst="rect">
            <a:avLst/>
          </a:prstGeom>
          <a:solidFill>
            <a:srgbClr val="E7EEF6"/>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ZoneTexte 26">
            <a:extLst>
              <a:ext uri="{FF2B5EF4-FFF2-40B4-BE49-F238E27FC236}">
                <a16:creationId xmlns:a16="http://schemas.microsoft.com/office/drawing/2014/main" id="{3C867834-656E-1904-633E-3549E534AFC1}"/>
              </a:ext>
            </a:extLst>
          </p:cNvPr>
          <p:cNvSpPr txBox="1"/>
          <p:nvPr/>
        </p:nvSpPr>
        <p:spPr>
          <a:xfrm>
            <a:off x="2203450" y="4597400"/>
            <a:ext cx="355600" cy="130805"/>
          </a:xfrm>
          <a:prstGeom prst="rect">
            <a:avLst/>
          </a:prstGeom>
          <a:noFill/>
        </p:spPr>
        <p:txBody>
          <a:bodyPr vert="horz" lIns="0" tIns="0" rIns="0" bIns="0" rtlCol="0">
            <a:spAutoFit/>
          </a:bodyPr>
          <a:lstStyle/>
          <a:p>
            <a:r>
              <a:rPr lang="en-US" sz="850" b="1">
                <a:solidFill>
                  <a:srgbClr val="315E8A"/>
                </a:solidFill>
                <a:latin typeface="Aptos" panose="020B0004020202020204" pitchFamily="34" charset="0"/>
              </a:rPr>
              <a:t>02</a:t>
            </a:r>
          </a:p>
        </p:txBody>
      </p:sp>
      <p:sp>
        <p:nvSpPr>
          <p:cNvPr id="28" name="ZoneTexte 27">
            <a:extLst>
              <a:ext uri="{FF2B5EF4-FFF2-40B4-BE49-F238E27FC236}">
                <a16:creationId xmlns:a16="http://schemas.microsoft.com/office/drawing/2014/main" id="{01A0B663-CAFF-CABA-AFA1-FB687293E889}"/>
              </a:ext>
            </a:extLst>
          </p:cNvPr>
          <p:cNvSpPr txBox="1"/>
          <p:nvPr/>
        </p:nvSpPr>
        <p:spPr>
          <a:xfrm>
            <a:off x="2203450" y="4800600"/>
            <a:ext cx="882650"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GROBID</a:t>
            </a:r>
          </a:p>
        </p:txBody>
      </p:sp>
      <p:sp>
        <p:nvSpPr>
          <p:cNvPr id="29" name="Rectangle 28">
            <a:extLst>
              <a:ext uri="{FF2B5EF4-FFF2-40B4-BE49-F238E27FC236}">
                <a16:creationId xmlns:a16="http://schemas.microsoft.com/office/drawing/2014/main" id="{7687FFD6-6600-E53C-E4E5-BE3213D06C9E}"/>
              </a:ext>
            </a:extLst>
          </p:cNvPr>
          <p:cNvSpPr/>
          <p:nvPr/>
        </p:nvSpPr>
        <p:spPr>
          <a:xfrm>
            <a:off x="3187700" y="48006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F6ED8C2-9F6B-3F27-2D1C-C35364BC5728}"/>
              </a:ext>
            </a:extLst>
          </p:cNvPr>
          <p:cNvSpPr/>
          <p:nvPr/>
        </p:nvSpPr>
        <p:spPr>
          <a:xfrm>
            <a:off x="3340100" y="4495800"/>
            <a:ext cx="1085850" cy="635000"/>
          </a:xfrm>
          <a:prstGeom prst="rect">
            <a:avLst/>
          </a:prstGeom>
          <a:solidFill>
            <a:srgbClr val="EAF1EC"/>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ZoneTexte 30">
            <a:extLst>
              <a:ext uri="{FF2B5EF4-FFF2-40B4-BE49-F238E27FC236}">
                <a16:creationId xmlns:a16="http://schemas.microsoft.com/office/drawing/2014/main" id="{467AED81-7D0F-A826-93B1-ACB7441CA012}"/>
              </a:ext>
            </a:extLst>
          </p:cNvPr>
          <p:cNvSpPr txBox="1"/>
          <p:nvPr/>
        </p:nvSpPr>
        <p:spPr>
          <a:xfrm>
            <a:off x="3441700" y="4597400"/>
            <a:ext cx="355600" cy="130805"/>
          </a:xfrm>
          <a:prstGeom prst="rect">
            <a:avLst/>
          </a:prstGeom>
          <a:noFill/>
        </p:spPr>
        <p:txBody>
          <a:bodyPr vert="horz" lIns="0" tIns="0" rIns="0" bIns="0" rtlCol="0">
            <a:spAutoFit/>
          </a:bodyPr>
          <a:lstStyle/>
          <a:p>
            <a:r>
              <a:rPr lang="en-US" sz="850" b="1">
                <a:solidFill>
                  <a:srgbClr val="147D64"/>
                </a:solidFill>
                <a:latin typeface="Aptos" panose="020B0004020202020204" pitchFamily="34" charset="0"/>
              </a:rPr>
              <a:t>03</a:t>
            </a:r>
          </a:p>
        </p:txBody>
      </p:sp>
      <p:sp>
        <p:nvSpPr>
          <p:cNvPr id="32" name="ZoneTexte 31">
            <a:extLst>
              <a:ext uri="{FF2B5EF4-FFF2-40B4-BE49-F238E27FC236}">
                <a16:creationId xmlns:a16="http://schemas.microsoft.com/office/drawing/2014/main" id="{0B7D7AFD-D5CD-7A89-ECC6-B67C0E2822E8}"/>
              </a:ext>
            </a:extLst>
          </p:cNvPr>
          <p:cNvSpPr txBox="1"/>
          <p:nvPr/>
        </p:nvSpPr>
        <p:spPr>
          <a:xfrm>
            <a:off x="3441700" y="4800600"/>
            <a:ext cx="882650"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Human correction</a:t>
            </a:r>
          </a:p>
        </p:txBody>
      </p:sp>
      <p:sp>
        <p:nvSpPr>
          <p:cNvPr id="33" name="Rectangle 32">
            <a:extLst>
              <a:ext uri="{FF2B5EF4-FFF2-40B4-BE49-F238E27FC236}">
                <a16:creationId xmlns:a16="http://schemas.microsoft.com/office/drawing/2014/main" id="{A0261380-12ED-7D39-044B-EF516314F445}"/>
              </a:ext>
            </a:extLst>
          </p:cNvPr>
          <p:cNvSpPr/>
          <p:nvPr/>
        </p:nvSpPr>
        <p:spPr>
          <a:xfrm>
            <a:off x="4425950" y="48006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D975F48D-D1EC-175A-F95C-402F7580FBBA}"/>
              </a:ext>
            </a:extLst>
          </p:cNvPr>
          <p:cNvSpPr/>
          <p:nvPr/>
        </p:nvSpPr>
        <p:spPr>
          <a:xfrm>
            <a:off x="4578350" y="4495800"/>
            <a:ext cx="1085850" cy="635000"/>
          </a:xfrm>
          <a:prstGeom prst="rect">
            <a:avLst/>
          </a:prstGeom>
          <a:solidFill>
            <a:srgbClr val="E7EEF6"/>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ZoneTexte 34">
            <a:extLst>
              <a:ext uri="{FF2B5EF4-FFF2-40B4-BE49-F238E27FC236}">
                <a16:creationId xmlns:a16="http://schemas.microsoft.com/office/drawing/2014/main" id="{2FC80C66-E91F-0A91-A3EC-72F6D0C26C36}"/>
              </a:ext>
            </a:extLst>
          </p:cNvPr>
          <p:cNvSpPr txBox="1"/>
          <p:nvPr/>
        </p:nvSpPr>
        <p:spPr>
          <a:xfrm>
            <a:off x="4679950" y="4597400"/>
            <a:ext cx="355600" cy="130805"/>
          </a:xfrm>
          <a:prstGeom prst="rect">
            <a:avLst/>
          </a:prstGeom>
          <a:noFill/>
        </p:spPr>
        <p:txBody>
          <a:bodyPr vert="horz" lIns="0" tIns="0" rIns="0" bIns="0" rtlCol="0">
            <a:spAutoFit/>
          </a:bodyPr>
          <a:lstStyle/>
          <a:p>
            <a:r>
              <a:rPr lang="en-US" sz="850" b="1">
                <a:solidFill>
                  <a:srgbClr val="315E8A"/>
                </a:solidFill>
                <a:latin typeface="Aptos" panose="020B0004020202020204" pitchFamily="34" charset="0"/>
              </a:rPr>
              <a:t>04</a:t>
            </a:r>
          </a:p>
        </p:txBody>
      </p:sp>
      <p:sp>
        <p:nvSpPr>
          <p:cNvPr id="36" name="ZoneTexte 35">
            <a:extLst>
              <a:ext uri="{FF2B5EF4-FFF2-40B4-BE49-F238E27FC236}">
                <a16:creationId xmlns:a16="http://schemas.microsoft.com/office/drawing/2014/main" id="{CA74B06A-E86B-E885-46B8-753C695240EA}"/>
              </a:ext>
            </a:extLst>
          </p:cNvPr>
          <p:cNvSpPr txBox="1"/>
          <p:nvPr/>
        </p:nvSpPr>
        <p:spPr>
          <a:xfrm>
            <a:off x="4679950" y="4800600"/>
            <a:ext cx="882650"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Embedding</a:t>
            </a:r>
          </a:p>
        </p:txBody>
      </p:sp>
      <p:sp>
        <p:nvSpPr>
          <p:cNvPr id="37" name="Rectangle 36">
            <a:extLst>
              <a:ext uri="{FF2B5EF4-FFF2-40B4-BE49-F238E27FC236}">
                <a16:creationId xmlns:a16="http://schemas.microsoft.com/office/drawing/2014/main" id="{35DC3213-C875-3979-D8C7-33E17D0D54CE}"/>
              </a:ext>
            </a:extLst>
          </p:cNvPr>
          <p:cNvSpPr/>
          <p:nvPr/>
        </p:nvSpPr>
        <p:spPr>
          <a:xfrm>
            <a:off x="5664200" y="48006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908C5A4A-38FF-A89B-69A4-83A9117B4C27}"/>
              </a:ext>
            </a:extLst>
          </p:cNvPr>
          <p:cNvSpPr/>
          <p:nvPr/>
        </p:nvSpPr>
        <p:spPr>
          <a:xfrm>
            <a:off x="5816600" y="4495800"/>
            <a:ext cx="1085850" cy="635000"/>
          </a:xfrm>
          <a:prstGeom prst="rect">
            <a:avLst/>
          </a:prstGeom>
          <a:solidFill>
            <a:srgbClr val="EAF1EC"/>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ZoneTexte 38">
            <a:extLst>
              <a:ext uri="{FF2B5EF4-FFF2-40B4-BE49-F238E27FC236}">
                <a16:creationId xmlns:a16="http://schemas.microsoft.com/office/drawing/2014/main" id="{2D98D1C9-2A1E-E66B-6BEC-18F7180ADB2D}"/>
              </a:ext>
            </a:extLst>
          </p:cNvPr>
          <p:cNvSpPr txBox="1"/>
          <p:nvPr/>
        </p:nvSpPr>
        <p:spPr>
          <a:xfrm>
            <a:off x="5918200" y="4597400"/>
            <a:ext cx="355600" cy="130805"/>
          </a:xfrm>
          <a:prstGeom prst="rect">
            <a:avLst/>
          </a:prstGeom>
          <a:noFill/>
        </p:spPr>
        <p:txBody>
          <a:bodyPr vert="horz" lIns="0" tIns="0" rIns="0" bIns="0" rtlCol="0">
            <a:spAutoFit/>
          </a:bodyPr>
          <a:lstStyle/>
          <a:p>
            <a:r>
              <a:rPr lang="en-US" sz="850" b="1">
                <a:solidFill>
                  <a:srgbClr val="147D64"/>
                </a:solidFill>
                <a:latin typeface="Aptos" panose="020B0004020202020204" pitchFamily="34" charset="0"/>
              </a:rPr>
              <a:t>05</a:t>
            </a:r>
          </a:p>
        </p:txBody>
      </p:sp>
      <p:sp>
        <p:nvSpPr>
          <p:cNvPr id="40" name="ZoneTexte 39">
            <a:extLst>
              <a:ext uri="{FF2B5EF4-FFF2-40B4-BE49-F238E27FC236}">
                <a16:creationId xmlns:a16="http://schemas.microsoft.com/office/drawing/2014/main" id="{8A794E8A-FC3F-6047-89B1-2B77502D9E24}"/>
              </a:ext>
            </a:extLst>
          </p:cNvPr>
          <p:cNvSpPr txBox="1"/>
          <p:nvPr/>
        </p:nvSpPr>
        <p:spPr>
          <a:xfrm>
            <a:off x="5918200" y="4800600"/>
            <a:ext cx="882650"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Review tools</a:t>
            </a:r>
          </a:p>
        </p:txBody>
      </p:sp>
      <p:sp>
        <p:nvSpPr>
          <p:cNvPr id="41" name="Rectangle 40">
            <a:extLst>
              <a:ext uri="{FF2B5EF4-FFF2-40B4-BE49-F238E27FC236}">
                <a16:creationId xmlns:a16="http://schemas.microsoft.com/office/drawing/2014/main" id="{DEB47225-B1C0-4849-C324-6C64D10EF6BB}"/>
              </a:ext>
            </a:extLst>
          </p:cNvPr>
          <p:cNvSpPr/>
          <p:nvPr/>
        </p:nvSpPr>
        <p:spPr>
          <a:xfrm>
            <a:off x="6902450" y="48006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F336BBE-BBE4-7648-C815-C57CA36C6989}"/>
              </a:ext>
            </a:extLst>
          </p:cNvPr>
          <p:cNvSpPr/>
          <p:nvPr/>
        </p:nvSpPr>
        <p:spPr>
          <a:xfrm>
            <a:off x="7054850" y="4495800"/>
            <a:ext cx="1085850" cy="635000"/>
          </a:xfrm>
          <a:prstGeom prst="rect">
            <a:avLst/>
          </a:prstGeom>
          <a:solidFill>
            <a:srgbClr val="E7EEF6"/>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ZoneTexte 42">
            <a:extLst>
              <a:ext uri="{FF2B5EF4-FFF2-40B4-BE49-F238E27FC236}">
                <a16:creationId xmlns:a16="http://schemas.microsoft.com/office/drawing/2014/main" id="{5268320A-2758-3FED-05CB-0632B7CC99A2}"/>
              </a:ext>
            </a:extLst>
          </p:cNvPr>
          <p:cNvSpPr txBox="1"/>
          <p:nvPr/>
        </p:nvSpPr>
        <p:spPr>
          <a:xfrm>
            <a:off x="7156450" y="4597400"/>
            <a:ext cx="355600" cy="130805"/>
          </a:xfrm>
          <a:prstGeom prst="rect">
            <a:avLst/>
          </a:prstGeom>
          <a:noFill/>
        </p:spPr>
        <p:txBody>
          <a:bodyPr vert="horz" lIns="0" tIns="0" rIns="0" bIns="0" rtlCol="0">
            <a:spAutoFit/>
          </a:bodyPr>
          <a:lstStyle/>
          <a:p>
            <a:r>
              <a:rPr lang="en-US" sz="850" b="1">
                <a:solidFill>
                  <a:srgbClr val="315E8A"/>
                </a:solidFill>
                <a:latin typeface="Aptos" panose="020B0004020202020204" pitchFamily="34" charset="0"/>
              </a:rPr>
              <a:t>06</a:t>
            </a:r>
          </a:p>
        </p:txBody>
      </p:sp>
      <p:sp>
        <p:nvSpPr>
          <p:cNvPr id="44" name="ZoneTexte 43">
            <a:extLst>
              <a:ext uri="{FF2B5EF4-FFF2-40B4-BE49-F238E27FC236}">
                <a16:creationId xmlns:a16="http://schemas.microsoft.com/office/drawing/2014/main" id="{1AEC8E47-4DCE-EF52-FE51-B509419E5287}"/>
              </a:ext>
            </a:extLst>
          </p:cNvPr>
          <p:cNvSpPr txBox="1"/>
          <p:nvPr/>
        </p:nvSpPr>
        <p:spPr>
          <a:xfrm>
            <a:off x="7156450" y="4800600"/>
            <a:ext cx="882650"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Decision</a:t>
            </a:r>
          </a:p>
        </p:txBody>
      </p:sp>
      <p:sp>
        <p:nvSpPr>
          <p:cNvPr id="45" name="ZoneTexte 44">
            <a:extLst>
              <a:ext uri="{FF2B5EF4-FFF2-40B4-BE49-F238E27FC236}">
                <a16:creationId xmlns:a16="http://schemas.microsoft.com/office/drawing/2014/main" id="{A19DEEA9-6322-423F-105C-F4E23716258F}"/>
              </a:ext>
            </a:extLst>
          </p:cNvPr>
          <p:cNvSpPr txBox="1"/>
          <p:nvPr/>
        </p:nvSpPr>
        <p:spPr>
          <a:xfrm>
            <a:off x="584200" y="5765800"/>
            <a:ext cx="7620000" cy="150811"/>
          </a:xfrm>
          <a:prstGeom prst="rect">
            <a:avLst/>
          </a:prstGeom>
          <a:noFill/>
        </p:spPr>
        <p:txBody>
          <a:bodyPr vert="horz" lIns="0" tIns="0" rIns="0" bIns="0" rtlCol="0">
            <a:spAutoFit/>
          </a:bodyPr>
          <a:lstStyle/>
          <a:p>
            <a:r>
              <a:rPr lang="en-US" sz="980">
                <a:solidFill>
                  <a:srgbClr val="AFC2BA"/>
                </a:solidFill>
                <a:latin typeface="Aptos" panose="020B0004020202020204" pitchFamily="34" charset="0"/>
              </a:rPr>
              <a:t>Angular + Spring Boot + FastAPI + PostgreSQL/pgvector + Ollama</a:t>
            </a:r>
          </a:p>
        </p:txBody>
      </p:sp>
      <p:sp>
        <p:nvSpPr>
          <p:cNvPr id="46" name="Rectangle 45">
            <a:extLst>
              <a:ext uri="{FF2B5EF4-FFF2-40B4-BE49-F238E27FC236}">
                <a16:creationId xmlns:a16="http://schemas.microsoft.com/office/drawing/2014/main" id="{0D2EAFC0-AA7F-3ABB-FD8B-169F586BC688}"/>
              </a:ext>
            </a:extLst>
          </p:cNvPr>
          <p:cNvSpPr/>
          <p:nvPr/>
        </p:nvSpPr>
        <p:spPr>
          <a:xfrm>
            <a:off x="8382000" y="1143000"/>
            <a:ext cx="2921000" cy="3810000"/>
          </a:xfrm>
          <a:prstGeom prst="rect">
            <a:avLst/>
          </a:prstGeom>
          <a:solidFill>
            <a:srgbClr val="18352F"/>
          </a:solidFill>
          <a:ln w="9525">
            <a:solidFill>
              <a:srgbClr val="4264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ZoneTexte 46">
            <a:extLst>
              <a:ext uri="{FF2B5EF4-FFF2-40B4-BE49-F238E27FC236}">
                <a16:creationId xmlns:a16="http://schemas.microsoft.com/office/drawing/2014/main" id="{BAB17FE4-C86A-2759-EFA6-5354066E5604}"/>
              </a:ext>
            </a:extLst>
          </p:cNvPr>
          <p:cNvSpPr txBox="1"/>
          <p:nvPr/>
        </p:nvSpPr>
        <p:spPr>
          <a:xfrm>
            <a:off x="8686800" y="1498600"/>
            <a:ext cx="2159000" cy="230832"/>
          </a:xfrm>
          <a:prstGeom prst="rect">
            <a:avLst/>
          </a:prstGeom>
          <a:noFill/>
        </p:spPr>
        <p:txBody>
          <a:bodyPr vert="horz" lIns="0" tIns="0" rIns="0" bIns="0" rtlCol="0">
            <a:spAutoFit/>
          </a:bodyPr>
          <a:lstStyle/>
          <a:p>
            <a:r>
              <a:rPr lang="en-US" sz="1500" b="1">
                <a:solidFill>
                  <a:srgbClr val="FFFFFF"/>
                </a:solidFill>
                <a:latin typeface="Georgia" panose="02040502050405020303" pitchFamily="18" charset="0"/>
              </a:rPr>
              <a:t>Value Delivered</a:t>
            </a:r>
          </a:p>
        </p:txBody>
      </p:sp>
      <p:sp>
        <p:nvSpPr>
          <p:cNvPr id="48" name="Rectangle 47">
            <a:extLst>
              <a:ext uri="{FF2B5EF4-FFF2-40B4-BE49-F238E27FC236}">
                <a16:creationId xmlns:a16="http://schemas.microsoft.com/office/drawing/2014/main" id="{4FC8EA3A-F04E-A388-F737-BD6B3F3B0178}"/>
              </a:ext>
            </a:extLst>
          </p:cNvPr>
          <p:cNvSpPr/>
          <p:nvPr/>
        </p:nvSpPr>
        <p:spPr>
          <a:xfrm>
            <a:off x="8763000" y="21844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ZoneTexte 48">
            <a:extLst>
              <a:ext uri="{FF2B5EF4-FFF2-40B4-BE49-F238E27FC236}">
                <a16:creationId xmlns:a16="http://schemas.microsoft.com/office/drawing/2014/main" id="{59203FC5-9F4E-B6C6-BFD8-990F5D08CEF0}"/>
              </a:ext>
            </a:extLst>
          </p:cNvPr>
          <p:cNvSpPr txBox="1"/>
          <p:nvPr/>
        </p:nvSpPr>
        <p:spPr>
          <a:xfrm>
            <a:off x="8991600" y="2095500"/>
            <a:ext cx="1905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Traceable paper lifecycle</a:t>
            </a:r>
          </a:p>
        </p:txBody>
      </p:sp>
      <p:sp>
        <p:nvSpPr>
          <p:cNvPr id="50" name="Rectangle 49">
            <a:extLst>
              <a:ext uri="{FF2B5EF4-FFF2-40B4-BE49-F238E27FC236}">
                <a16:creationId xmlns:a16="http://schemas.microsoft.com/office/drawing/2014/main" id="{FA0A21D2-A6FE-7DE4-71C3-F230C29FE8BF}"/>
              </a:ext>
            </a:extLst>
          </p:cNvPr>
          <p:cNvSpPr/>
          <p:nvPr/>
        </p:nvSpPr>
        <p:spPr>
          <a:xfrm>
            <a:off x="8763000" y="26543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ZoneTexte 50">
            <a:extLst>
              <a:ext uri="{FF2B5EF4-FFF2-40B4-BE49-F238E27FC236}">
                <a16:creationId xmlns:a16="http://schemas.microsoft.com/office/drawing/2014/main" id="{5B569908-F7C8-5F5A-4FD5-4FBFF9BC9419}"/>
              </a:ext>
            </a:extLst>
          </p:cNvPr>
          <p:cNvSpPr txBox="1"/>
          <p:nvPr/>
        </p:nvSpPr>
        <p:spPr>
          <a:xfrm>
            <a:off x="8991600" y="2565400"/>
            <a:ext cx="1905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Local AI for confidentiality</a:t>
            </a:r>
          </a:p>
        </p:txBody>
      </p:sp>
      <p:sp>
        <p:nvSpPr>
          <p:cNvPr id="52" name="Rectangle 51">
            <a:extLst>
              <a:ext uri="{FF2B5EF4-FFF2-40B4-BE49-F238E27FC236}">
                <a16:creationId xmlns:a16="http://schemas.microsoft.com/office/drawing/2014/main" id="{28767816-C032-0974-DB5B-2DF392D7A213}"/>
              </a:ext>
            </a:extLst>
          </p:cNvPr>
          <p:cNvSpPr/>
          <p:nvPr/>
        </p:nvSpPr>
        <p:spPr>
          <a:xfrm>
            <a:off x="8763000" y="31242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ZoneTexte 52">
            <a:extLst>
              <a:ext uri="{FF2B5EF4-FFF2-40B4-BE49-F238E27FC236}">
                <a16:creationId xmlns:a16="http://schemas.microsoft.com/office/drawing/2014/main" id="{02403C8E-18FE-CBE7-1B05-EE3E8F70A5E9}"/>
              </a:ext>
            </a:extLst>
          </p:cNvPr>
          <p:cNvSpPr txBox="1"/>
          <p:nvPr/>
        </p:nvSpPr>
        <p:spPr>
          <a:xfrm>
            <a:off x="8991600" y="3035300"/>
            <a:ext cx="1905000" cy="384721"/>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Reviewer support before evaluation</a:t>
            </a:r>
          </a:p>
        </p:txBody>
      </p:sp>
      <p:sp>
        <p:nvSpPr>
          <p:cNvPr id="54" name="Rectangle 53">
            <a:extLst>
              <a:ext uri="{FF2B5EF4-FFF2-40B4-BE49-F238E27FC236}">
                <a16:creationId xmlns:a16="http://schemas.microsoft.com/office/drawing/2014/main" id="{F5AC35DE-B0F1-D5F9-0266-82C4FF3A0A93}"/>
              </a:ext>
            </a:extLst>
          </p:cNvPr>
          <p:cNvSpPr/>
          <p:nvPr/>
        </p:nvSpPr>
        <p:spPr>
          <a:xfrm>
            <a:off x="8763000" y="35941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ZoneTexte 54">
            <a:extLst>
              <a:ext uri="{FF2B5EF4-FFF2-40B4-BE49-F238E27FC236}">
                <a16:creationId xmlns:a16="http://schemas.microsoft.com/office/drawing/2014/main" id="{C322F915-C674-48B1-6268-E32D7F814BD0}"/>
              </a:ext>
            </a:extLst>
          </p:cNvPr>
          <p:cNvSpPr txBox="1"/>
          <p:nvPr/>
        </p:nvSpPr>
        <p:spPr>
          <a:xfrm>
            <a:off x="8991600" y="3505200"/>
            <a:ext cx="1905000" cy="384721"/>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Admin-controlled assignment</a:t>
            </a:r>
          </a:p>
        </p:txBody>
      </p:sp>
      <p:sp>
        <p:nvSpPr>
          <p:cNvPr id="56" name="ZoneTexte 55">
            <a:extLst>
              <a:ext uri="{FF2B5EF4-FFF2-40B4-BE49-F238E27FC236}">
                <a16:creationId xmlns:a16="http://schemas.microsoft.com/office/drawing/2014/main" id="{0AE08EE7-AE45-DE79-8C8A-FC5786E3E7F0}"/>
              </a:ext>
            </a:extLst>
          </p:cNvPr>
          <p:cNvSpPr txBox="1"/>
          <p:nvPr/>
        </p:nvSpPr>
        <p:spPr>
          <a:xfrm>
            <a:off x="10896600" y="6286500"/>
            <a:ext cx="762000" cy="138499"/>
          </a:xfrm>
          <a:prstGeom prst="rect">
            <a:avLst/>
          </a:prstGeom>
          <a:noFill/>
        </p:spPr>
        <p:txBody>
          <a:bodyPr vert="horz" lIns="0" tIns="0" rIns="0" bIns="0" rtlCol="0">
            <a:spAutoFit/>
          </a:bodyPr>
          <a:lstStyle/>
          <a:p>
            <a:pPr algn="r"/>
            <a:r>
              <a:rPr lang="en-US" sz="900" b="1">
                <a:solidFill>
                  <a:srgbClr val="AFC2BA"/>
                </a:solidFill>
                <a:latin typeface="Aptos" panose="020B0004020202020204" pitchFamily="34" charset="0"/>
              </a:rPr>
              <a:t>1/13</a:t>
            </a:r>
          </a:p>
        </p:txBody>
      </p:sp>
    </p:spTree>
    <p:extLst>
      <p:ext uri="{BB962C8B-B14F-4D97-AF65-F5344CB8AC3E}">
        <p14:creationId xmlns:p14="http://schemas.microsoft.com/office/powerpoint/2010/main" val="1148372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DA3A1A-D85F-3DDB-92EF-8B27A53DCE02}"/>
              </a:ext>
            </a:extLst>
          </p:cNvPr>
          <p:cNvSpPr/>
          <p:nvPr/>
        </p:nvSpPr>
        <p:spPr>
          <a:xfrm>
            <a:off x="0" y="0"/>
            <a:ext cx="12192000" cy="50800"/>
          </a:xfrm>
          <a:prstGeom prst="rect">
            <a:avLst/>
          </a:prstGeom>
          <a:solidFill>
            <a:srgbClr val="E1E7E2"/>
          </a:solidFill>
          <a:ln w="9525">
            <a:solidFill>
              <a:srgbClr val="E1E7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2CA1D2A-F631-BC60-1694-359729F5BCEC}"/>
              </a:ext>
            </a:extLst>
          </p:cNvPr>
          <p:cNvSpPr/>
          <p:nvPr/>
        </p:nvSpPr>
        <p:spPr>
          <a:xfrm>
            <a:off x="0" y="0"/>
            <a:ext cx="1879600" cy="508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6E7A04C-321D-B0A6-CF6C-9F7ADD837B99}"/>
              </a:ext>
            </a:extLst>
          </p:cNvPr>
          <p:cNvSpPr/>
          <p:nvPr/>
        </p:nvSpPr>
        <p:spPr>
          <a:xfrm>
            <a:off x="457200" y="317500"/>
            <a:ext cx="76200" cy="762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882F3B6B-D70F-FB84-9C74-F4BA242A1725}"/>
              </a:ext>
            </a:extLst>
          </p:cNvPr>
          <p:cNvSpPr txBox="1"/>
          <p:nvPr/>
        </p:nvSpPr>
        <p:spPr>
          <a:xfrm>
            <a:off x="635000" y="279400"/>
            <a:ext cx="3048000" cy="115416"/>
          </a:xfrm>
          <a:prstGeom prst="rect">
            <a:avLst/>
          </a:prstGeom>
          <a:noFill/>
        </p:spPr>
        <p:txBody>
          <a:bodyPr vert="horz" lIns="0" tIns="0" rIns="0" bIns="0" rtlCol="0">
            <a:spAutoFit/>
          </a:bodyPr>
          <a:lstStyle/>
          <a:p>
            <a:r>
              <a:rPr lang="en-US" sz="750" b="1">
                <a:solidFill>
                  <a:srgbClr val="66536E"/>
                </a:solidFill>
                <a:latin typeface="Aptos" panose="020B0004020202020204" pitchFamily="34" charset="0"/>
              </a:rPr>
              <a:t>OPENING</a:t>
            </a:r>
          </a:p>
        </p:txBody>
      </p:sp>
      <p:sp>
        <p:nvSpPr>
          <p:cNvPr id="6" name="Rectangle 5">
            <a:extLst>
              <a:ext uri="{FF2B5EF4-FFF2-40B4-BE49-F238E27FC236}">
                <a16:creationId xmlns:a16="http://schemas.microsoft.com/office/drawing/2014/main" id="{6F742F19-A96A-2621-338C-C4340049817F}"/>
              </a:ext>
            </a:extLst>
          </p:cNvPr>
          <p:cNvSpPr/>
          <p:nvPr/>
        </p:nvSpPr>
        <p:spPr>
          <a:xfrm>
            <a:off x="457200" y="6426200"/>
            <a:ext cx="10287000" cy="12700"/>
          </a:xfrm>
          <a:prstGeom prst="rect">
            <a:avLst/>
          </a:prstGeom>
          <a:solidFill>
            <a:srgbClr val="C0CDC8"/>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3AC88A91-DA59-517D-EF15-CAF875AAA848}"/>
              </a:ext>
            </a:extLst>
          </p:cNvPr>
          <p:cNvSpPr txBox="1"/>
          <p:nvPr/>
        </p:nvSpPr>
        <p:spPr>
          <a:xfrm>
            <a:off x="10896600" y="6286500"/>
            <a:ext cx="762000" cy="138499"/>
          </a:xfrm>
          <a:prstGeom prst="rect">
            <a:avLst/>
          </a:prstGeom>
          <a:noFill/>
        </p:spPr>
        <p:txBody>
          <a:bodyPr vert="horz" lIns="0" tIns="0" rIns="0" bIns="0" rtlCol="0">
            <a:spAutoFit/>
          </a:bodyPr>
          <a:lstStyle/>
          <a:p>
            <a:pPr algn="r"/>
            <a:r>
              <a:rPr lang="en-US" sz="900" b="1">
                <a:solidFill>
                  <a:srgbClr val="66536E"/>
                </a:solidFill>
                <a:latin typeface="Aptos" panose="020B0004020202020204" pitchFamily="34" charset="0"/>
              </a:rPr>
              <a:t>2/13</a:t>
            </a:r>
          </a:p>
        </p:txBody>
      </p:sp>
      <p:sp>
        <p:nvSpPr>
          <p:cNvPr id="8" name="ZoneTexte 7">
            <a:extLst>
              <a:ext uri="{FF2B5EF4-FFF2-40B4-BE49-F238E27FC236}">
                <a16:creationId xmlns:a16="http://schemas.microsoft.com/office/drawing/2014/main" id="{5A8FF2F9-9935-B1D3-F794-25C077B140AF}"/>
              </a:ext>
            </a:extLst>
          </p:cNvPr>
          <p:cNvSpPr txBox="1"/>
          <p:nvPr/>
        </p:nvSpPr>
        <p:spPr>
          <a:xfrm>
            <a:off x="457200" y="635000"/>
            <a:ext cx="7747000" cy="353943"/>
          </a:xfrm>
          <a:prstGeom prst="rect">
            <a:avLst/>
          </a:prstGeom>
          <a:noFill/>
        </p:spPr>
        <p:txBody>
          <a:bodyPr vert="horz" lIns="0" tIns="0" rIns="0" bIns="0" rtlCol="0">
            <a:spAutoFit/>
          </a:bodyPr>
          <a:lstStyle/>
          <a:p>
            <a:r>
              <a:rPr lang="en-US" sz="2300" b="1">
                <a:solidFill>
                  <a:srgbClr val="16201E"/>
                </a:solidFill>
                <a:latin typeface="Georgia" panose="02040502050405020303" pitchFamily="18" charset="0"/>
              </a:rPr>
              <a:t>Presentation Roadmap</a:t>
            </a:r>
          </a:p>
        </p:txBody>
      </p:sp>
      <p:sp>
        <p:nvSpPr>
          <p:cNvPr id="9" name="Rectangle 8">
            <a:extLst>
              <a:ext uri="{FF2B5EF4-FFF2-40B4-BE49-F238E27FC236}">
                <a16:creationId xmlns:a16="http://schemas.microsoft.com/office/drawing/2014/main" id="{10B10A18-A9B2-0873-8B1F-54E57717C96A}"/>
              </a:ext>
            </a:extLst>
          </p:cNvPr>
          <p:cNvSpPr/>
          <p:nvPr/>
        </p:nvSpPr>
        <p:spPr>
          <a:xfrm>
            <a:off x="635000" y="19304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A2742968-8D15-FA60-1C41-48FD815FBD9A}"/>
              </a:ext>
            </a:extLst>
          </p:cNvPr>
          <p:cNvSpPr txBox="1"/>
          <p:nvPr/>
        </p:nvSpPr>
        <p:spPr>
          <a:xfrm>
            <a:off x="863600" y="18415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Context and problem</a:t>
            </a:r>
          </a:p>
        </p:txBody>
      </p:sp>
      <p:sp>
        <p:nvSpPr>
          <p:cNvPr id="11" name="Rectangle 10">
            <a:extLst>
              <a:ext uri="{FF2B5EF4-FFF2-40B4-BE49-F238E27FC236}">
                <a16:creationId xmlns:a16="http://schemas.microsoft.com/office/drawing/2014/main" id="{3EBDFF8C-8491-0398-1685-8EF0557AE383}"/>
              </a:ext>
            </a:extLst>
          </p:cNvPr>
          <p:cNvSpPr/>
          <p:nvPr/>
        </p:nvSpPr>
        <p:spPr>
          <a:xfrm>
            <a:off x="635000" y="24003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ZoneTexte 11">
            <a:extLst>
              <a:ext uri="{FF2B5EF4-FFF2-40B4-BE49-F238E27FC236}">
                <a16:creationId xmlns:a16="http://schemas.microsoft.com/office/drawing/2014/main" id="{DE8B82DE-2F34-A926-F34E-92B32CED9143}"/>
              </a:ext>
            </a:extLst>
          </p:cNvPr>
          <p:cNvSpPr txBox="1"/>
          <p:nvPr/>
        </p:nvSpPr>
        <p:spPr>
          <a:xfrm>
            <a:off x="863600" y="23114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Objectives and requirements</a:t>
            </a:r>
          </a:p>
        </p:txBody>
      </p:sp>
      <p:sp>
        <p:nvSpPr>
          <p:cNvPr id="13" name="Rectangle 12">
            <a:extLst>
              <a:ext uri="{FF2B5EF4-FFF2-40B4-BE49-F238E27FC236}">
                <a16:creationId xmlns:a16="http://schemas.microsoft.com/office/drawing/2014/main" id="{92A8510C-E613-758F-9A57-220AD2338CF2}"/>
              </a:ext>
            </a:extLst>
          </p:cNvPr>
          <p:cNvSpPr/>
          <p:nvPr/>
        </p:nvSpPr>
        <p:spPr>
          <a:xfrm>
            <a:off x="635000" y="28702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ZoneTexte 13">
            <a:extLst>
              <a:ext uri="{FF2B5EF4-FFF2-40B4-BE49-F238E27FC236}">
                <a16:creationId xmlns:a16="http://schemas.microsoft.com/office/drawing/2014/main" id="{8B26387B-C957-5F82-DCDC-627BF3F72E20}"/>
              </a:ext>
            </a:extLst>
          </p:cNvPr>
          <p:cNvSpPr txBox="1"/>
          <p:nvPr/>
        </p:nvSpPr>
        <p:spPr>
          <a:xfrm>
            <a:off x="863600" y="27813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Architecture and data flow</a:t>
            </a:r>
          </a:p>
        </p:txBody>
      </p:sp>
      <p:sp>
        <p:nvSpPr>
          <p:cNvPr id="15" name="Rectangle 14">
            <a:extLst>
              <a:ext uri="{FF2B5EF4-FFF2-40B4-BE49-F238E27FC236}">
                <a16:creationId xmlns:a16="http://schemas.microsoft.com/office/drawing/2014/main" id="{95095834-33C2-6967-B609-716D4EDD6C69}"/>
              </a:ext>
            </a:extLst>
          </p:cNvPr>
          <p:cNvSpPr/>
          <p:nvPr/>
        </p:nvSpPr>
        <p:spPr>
          <a:xfrm>
            <a:off x="635000" y="33401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ZoneTexte 15">
            <a:extLst>
              <a:ext uri="{FF2B5EF4-FFF2-40B4-BE49-F238E27FC236}">
                <a16:creationId xmlns:a16="http://schemas.microsoft.com/office/drawing/2014/main" id="{F075CF85-52EC-923C-83EC-E0AC36A4C62E}"/>
              </a:ext>
            </a:extLst>
          </p:cNvPr>
          <p:cNvSpPr txBox="1"/>
          <p:nvPr/>
        </p:nvSpPr>
        <p:spPr>
          <a:xfrm>
            <a:off x="863600" y="32512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Three Scrum sprints</a:t>
            </a:r>
          </a:p>
        </p:txBody>
      </p:sp>
      <p:sp>
        <p:nvSpPr>
          <p:cNvPr id="17" name="Rectangle 16">
            <a:extLst>
              <a:ext uri="{FF2B5EF4-FFF2-40B4-BE49-F238E27FC236}">
                <a16:creationId xmlns:a16="http://schemas.microsoft.com/office/drawing/2014/main" id="{651A2CA0-C000-CD8E-F695-69CE77E639ED}"/>
              </a:ext>
            </a:extLst>
          </p:cNvPr>
          <p:cNvSpPr/>
          <p:nvPr/>
        </p:nvSpPr>
        <p:spPr>
          <a:xfrm>
            <a:off x="635000" y="38100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ZoneTexte 17">
            <a:extLst>
              <a:ext uri="{FF2B5EF4-FFF2-40B4-BE49-F238E27FC236}">
                <a16:creationId xmlns:a16="http://schemas.microsoft.com/office/drawing/2014/main" id="{61206B13-A32F-DFCB-17F7-0EC981D9BF87}"/>
              </a:ext>
            </a:extLst>
          </p:cNvPr>
          <p:cNvSpPr txBox="1"/>
          <p:nvPr/>
        </p:nvSpPr>
        <p:spPr>
          <a:xfrm>
            <a:off x="863600" y="37211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Demo, perspectives, conclusion</a:t>
            </a:r>
          </a:p>
        </p:txBody>
      </p:sp>
      <p:sp>
        <p:nvSpPr>
          <p:cNvPr id="19" name="Rectangle 18">
            <a:extLst>
              <a:ext uri="{FF2B5EF4-FFF2-40B4-BE49-F238E27FC236}">
                <a16:creationId xmlns:a16="http://schemas.microsoft.com/office/drawing/2014/main" id="{CBA71D89-BD7A-694A-37F0-07D9A408DA21}"/>
              </a:ext>
            </a:extLst>
          </p:cNvPr>
          <p:cNvSpPr/>
          <p:nvPr/>
        </p:nvSpPr>
        <p:spPr>
          <a:xfrm>
            <a:off x="787400" y="2476500"/>
            <a:ext cx="1206500" cy="1206500"/>
          </a:xfrm>
          <a:prstGeom prst="rect">
            <a:avLst/>
          </a:prstGeom>
          <a:solidFill>
            <a:srgbClr val="147D64"/>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ZoneTexte 19">
            <a:extLst>
              <a:ext uri="{FF2B5EF4-FFF2-40B4-BE49-F238E27FC236}">
                <a16:creationId xmlns:a16="http://schemas.microsoft.com/office/drawing/2014/main" id="{D0784696-5567-E80F-49CD-CBF8441E0E7C}"/>
              </a:ext>
            </a:extLst>
          </p:cNvPr>
          <p:cNvSpPr txBox="1"/>
          <p:nvPr/>
        </p:nvSpPr>
        <p:spPr>
          <a:xfrm>
            <a:off x="965200" y="2679700"/>
            <a:ext cx="508000" cy="276999"/>
          </a:xfrm>
          <a:prstGeom prst="rect">
            <a:avLst/>
          </a:prstGeom>
          <a:noFill/>
        </p:spPr>
        <p:txBody>
          <a:bodyPr vert="horz" lIns="0" tIns="0" rIns="0" bIns="0" rtlCol="0">
            <a:spAutoFit/>
          </a:bodyPr>
          <a:lstStyle/>
          <a:p>
            <a:r>
              <a:rPr lang="en-US" b="1">
                <a:solidFill>
                  <a:srgbClr val="FFFFFF"/>
                </a:solidFill>
                <a:latin typeface="Georgia" panose="02040502050405020303" pitchFamily="18" charset="0"/>
              </a:rPr>
              <a:t>01</a:t>
            </a:r>
          </a:p>
        </p:txBody>
      </p:sp>
      <p:sp>
        <p:nvSpPr>
          <p:cNvPr id="21" name="ZoneTexte 20">
            <a:extLst>
              <a:ext uri="{FF2B5EF4-FFF2-40B4-BE49-F238E27FC236}">
                <a16:creationId xmlns:a16="http://schemas.microsoft.com/office/drawing/2014/main" id="{CA881A8B-5D65-5197-1EE2-96B75615B184}"/>
              </a:ext>
            </a:extLst>
          </p:cNvPr>
          <p:cNvSpPr txBox="1"/>
          <p:nvPr/>
        </p:nvSpPr>
        <p:spPr>
          <a:xfrm>
            <a:off x="965200" y="3200400"/>
            <a:ext cx="863600" cy="161583"/>
          </a:xfrm>
          <a:prstGeom prst="rect">
            <a:avLst/>
          </a:prstGeom>
          <a:noFill/>
        </p:spPr>
        <p:txBody>
          <a:bodyPr vert="horz" lIns="0" tIns="0" rIns="0" bIns="0" rtlCol="0">
            <a:spAutoFit/>
          </a:bodyPr>
          <a:lstStyle/>
          <a:p>
            <a:r>
              <a:rPr lang="en-US" sz="1050" b="1">
                <a:solidFill>
                  <a:srgbClr val="FFFFFF"/>
                </a:solidFill>
                <a:latin typeface="Aptos" panose="020B0004020202020204" pitchFamily="34" charset="0"/>
              </a:rPr>
              <a:t>Context</a:t>
            </a:r>
          </a:p>
        </p:txBody>
      </p:sp>
      <p:sp>
        <p:nvSpPr>
          <p:cNvPr id="22" name="Rectangle 21">
            <a:extLst>
              <a:ext uri="{FF2B5EF4-FFF2-40B4-BE49-F238E27FC236}">
                <a16:creationId xmlns:a16="http://schemas.microsoft.com/office/drawing/2014/main" id="{5F6F9D9B-C78F-6C21-B225-688FDB441243}"/>
              </a:ext>
            </a:extLst>
          </p:cNvPr>
          <p:cNvSpPr/>
          <p:nvPr/>
        </p:nvSpPr>
        <p:spPr>
          <a:xfrm>
            <a:off x="1993900" y="3073400"/>
            <a:ext cx="5461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7A631A4-5312-D6E6-FF30-5182F1008B65}"/>
              </a:ext>
            </a:extLst>
          </p:cNvPr>
          <p:cNvSpPr/>
          <p:nvPr/>
        </p:nvSpPr>
        <p:spPr>
          <a:xfrm>
            <a:off x="2540000" y="2476500"/>
            <a:ext cx="1206500" cy="12065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ZoneTexte 23">
            <a:extLst>
              <a:ext uri="{FF2B5EF4-FFF2-40B4-BE49-F238E27FC236}">
                <a16:creationId xmlns:a16="http://schemas.microsoft.com/office/drawing/2014/main" id="{588893CF-89C4-4049-9045-003F93CFBE20}"/>
              </a:ext>
            </a:extLst>
          </p:cNvPr>
          <p:cNvSpPr txBox="1"/>
          <p:nvPr/>
        </p:nvSpPr>
        <p:spPr>
          <a:xfrm>
            <a:off x="2717800" y="2679700"/>
            <a:ext cx="508000" cy="276999"/>
          </a:xfrm>
          <a:prstGeom prst="rect">
            <a:avLst/>
          </a:prstGeom>
          <a:noFill/>
        </p:spPr>
        <p:txBody>
          <a:bodyPr vert="horz" lIns="0" tIns="0" rIns="0" bIns="0" rtlCol="0">
            <a:spAutoFit/>
          </a:bodyPr>
          <a:lstStyle/>
          <a:p>
            <a:r>
              <a:rPr lang="en-US" b="1">
                <a:solidFill>
                  <a:srgbClr val="147D64"/>
                </a:solidFill>
                <a:latin typeface="Georgia" panose="02040502050405020303" pitchFamily="18" charset="0"/>
              </a:rPr>
              <a:t>02</a:t>
            </a:r>
          </a:p>
        </p:txBody>
      </p:sp>
      <p:sp>
        <p:nvSpPr>
          <p:cNvPr id="25" name="ZoneTexte 24">
            <a:extLst>
              <a:ext uri="{FF2B5EF4-FFF2-40B4-BE49-F238E27FC236}">
                <a16:creationId xmlns:a16="http://schemas.microsoft.com/office/drawing/2014/main" id="{6BD4E1E6-8EE0-E53F-D9C8-4D5992F78383}"/>
              </a:ext>
            </a:extLst>
          </p:cNvPr>
          <p:cNvSpPr txBox="1"/>
          <p:nvPr/>
        </p:nvSpPr>
        <p:spPr>
          <a:xfrm>
            <a:off x="2717800" y="3200400"/>
            <a:ext cx="863600" cy="161583"/>
          </a:xfrm>
          <a:prstGeom prst="rect">
            <a:avLst/>
          </a:prstGeom>
          <a:noFill/>
        </p:spPr>
        <p:txBody>
          <a:bodyPr vert="horz" lIns="0" tIns="0" rIns="0" bIns="0" rtlCol="0">
            <a:spAutoFit/>
          </a:bodyPr>
          <a:lstStyle/>
          <a:p>
            <a:r>
              <a:rPr lang="en-US" sz="1050" b="1">
                <a:solidFill>
                  <a:srgbClr val="16201E"/>
                </a:solidFill>
                <a:latin typeface="Aptos" panose="020B0004020202020204" pitchFamily="34" charset="0"/>
              </a:rPr>
              <a:t>Problem</a:t>
            </a:r>
          </a:p>
        </p:txBody>
      </p:sp>
      <p:sp>
        <p:nvSpPr>
          <p:cNvPr id="26" name="Rectangle 25">
            <a:extLst>
              <a:ext uri="{FF2B5EF4-FFF2-40B4-BE49-F238E27FC236}">
                <a16:creationId xmlns:a16="http://schemas.microsoft.com/office/drawing/2014/main" id="{C28193D6-F82E-9D1D-0BBC-146D71A115A4}"/>
              </a:ext>
            </a:extLst>
          </p:cNvPr>
          <p:cNvSpPr/>
          <p:nvPr/>
        </p:nvSpPr>
        <p:spPr>
          <a:xfrm>
            <a:off x="3746500" y="3073400"/>
            <a:ext cx="5461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F3C9CAC-3617-82C0-97EE-1FF7EAD5034A}"/>
              </a:ext>
            </a:extLst>
          </p:cNvPr>
          <p:cNvSpPr/>
          <p:nvPr/>
        </p:nvSpPr>
        <p:spPr>
          <a:xfrm>
            <a:off x="4292600" y="2476500"/>
            <a:ext cx="1206500" cy="12065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ZoneTexte 27">
            <a:extLst>
              <a:ext uri="{FF2B5EF4-FFF2-40B4-BE49-F238E27FC236}">
                <a16:creationId xmlns:a16="http://schemas.microsoft.com/office/drawing/2014/main" id="{C24DD5AA-475D-AF3C-FABB-B71CA21B8281}"/>
              </a:ext>
            </a:extLst>
          </p:cNvPr>
          <p:cNvSpPr txBox="1"/>
          <p:nvPr/>
        </p:nvSpPr>
        <p:spPr>
          <a:xfrm>
            <a:off x="4470400" y="2679700"/>
            <a:ext cx="508000" cy="276999"/>
          </a:xfrm>
          <a:prstGeom prst="rect">
            <a:avLst/>
          </a:prstGeom>
          <a:noFill/>
        </p:spPr>
        <p:txBody>
          <a:bodyPr vert="horz" lIns="0" tIns="0" rIns="0" bIns="0" rtlCol="0">
            <a:spAutoFit/>
          </a:bodyPr>
          <a:lstStyle/>
          <a:p>
            <a:r>
              <a:rPr lang="en-US" b="1">
                <a:solidFill>
                  <a:srgbClr val="147D64"/>
                </a:solidFill>
                <a:latin typeface="Georgia" panose="02040502050405020303" pitchFamily="18" charset="0"/>
              </a:rPr>
              <a:t>03</a:t>
            </a:r>
          </a:p>
        </p:txBody>
      </p:sp>
      <p:sp>
        <p:nvSpPr>
          <p:cNvPr id="29" name="ZoneTexte 28">
            <a:extLst>
              <a:ext uri="{FF2B5EF4-FFF2-40B4-BE49-F238E27FC236}">
                <a16:creationId xmlns:a16="http://schemas.microsoft.com/office/drawing/2014/main" id="{F9D9B132-AF54-33AE-9CCF-9E69A0D658E7}"/>
              </a:ext>
            </a:extLst>
          </p:cNvPr>
          <p:cNvSpPr txBox="1"/>
          <p:nvPr/>
        </p:nvSpPr>
        <p:spPr>
          <a:xfrm>
            <a:off x="4470400" y="3200400"/>
            <a:ext cx="863600" cy="161583"/>
          </a:xfrm>
          <a:prstGeom prst="rect">
            <a:avLst/>
          </a:prstGeom>
          <a:noFill/>
        </p:spPr>
        <p:txBody>
          <a:bodyPr vert="horz" lIns="0" tIns="0" rIns="0" bIns="0" rtlCol="0">
            <a:spAutoFit/>
          </a:bodyPr>
          <a:lstStyle/>
          <a:p>
            <a:r>
              <a:rPr lang="en-US" sz="1050" b="1">
                <a:solidFill>
                  <a:srgbClr val="16201E"/>
                </a:solidFill>
                <a:latin typeface="Aptos" panose="020B0004020202020204" pitchFamily="34" charset="0"/>
              </a:rPr>
              <a:t>Solution</a:t>
            </a:r>
          </a:p>
        </p:txBody>
      </p:sp>
      <p:sp>
        <p:nvSpPr>
          <p:cNvPr id="30" name="Rectangle 29">
            <a:extLst>
              <a:ext uri="{FF2B5EF4-FFF2-40B4-BE49-F238E27FC236}">
                <a16:creationId xmlns:a16="http://schemas.microsoft.com/office/drawing/2014/main" id="{257CB0A3-9369-B96A-F7D9-115D06283CE7}"/>
              </a:ext>
            </a:extLst>
          </p:cNvPr>
          <p:cNvSpPr/>
          <p:nvPr/>
        </p:nvSpPr>
        <p:spPr>
          <a:xfrm>
            <a:off x="5499100" y="3073400"/>
            <a:ext cx="5461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8683D56-CCC8-3570-E6AE-4F737FE255F6}"/>
              </a:ext>
            </a:extLst>
          </p:cNvPr>
          <p:cNvSpPr/>
          <p:nvPr/>
        </p:nvSpPr>
        <p:spPr>
          <a:xfrm>
            <a:off x="6045200" y="2476500"/>
            <a:ext cx="1206500" cy="12065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ZoneTexte 31">
            <a:extLst>
              <a:ext uri="{FF2B5EF4-FFF2-40B4-BE49-F238E27FC236}">
                <a16:creationId xmlns:a16="http://schemas.microsoft.com/office/drawing/2014/main" id="{286AF3C3-6378-444E-FDA8-A853C8728DF0}"/>
              </a:ext>
            </a:extLst>
          </p:cNvPr>
          <p:cNvSpPr txBox="1"/>
          <p:nvPr/>
        </p:nvSpPr>
        <p:spPr>
          <a:xfrm>
            <a:off x="6223000" y="2679700"/>
            <a:ext cx="508000" cy="276999"/>
          </a:xfrm>
          <a:prstGeom prst="rect">
            <a:avLst/>
          </a:prstGeom>
          <a:noFill/>
        </p:spPr>
        <p:txBody>
          <a:bodyPr vert="horz" lIns="0" tIns="0" rIns="0" bIns="0" rtlCol="0">
            <a:spAutoFit/>
          </a:bodyPr>
          <a:lstStyle/>
          <a:p>
            <a:r>
              <a:rPr lang="en-US" b="1">
                <a:solidFill>
                  <a:srgbClr val="147D64"/>
                </a:solidFill>
                <a:latin typeface="Georgia" panose="02040502050405020303" pitchFamily="18" charset="0"/>
              </a:rPr>
              <a:t>04</a:t>
            </a:r>
          </a:p>
        </p:txBody>
      </p:sp>
      <p:sp>
        <p:nvSpPr>
          <p:cNvPr id="33" name="ZoneTexte 32">
            <a:extLst>
              <a:ext uri="{FF2B5EF4-FFF2-40B4-BE49-F238E27FC236}">
                <a16:creationId xmlns:a16="http://schemas.microsoft.com/office/drawing/2014/main" id="{31490274-70C0-878B-F9FE-47A6F72E3E62}"/>
              </a:ext>
            </a:extLst>
          </p:cNvPr>
          <p:cNvSpPr txBox="1"/>
          <p:nvPr/>
        </p:nvSpPr>
        <p:spPr>
          <a:xfrm>
            <a:off x="6223000" y="3200400"/>
            <a:ext cx="863600" cy="161583"/>
          </a:xfrm>
          <a:prstGeom prst="rect">
            <a:avLst/>
          </a:prstGeom>
          <a:noFill/>
        </p:spPr>
        <p:txBody>
          <a:bodyPr vert="horz" lIns="0" tIns="0" rIns="0" bIns="0" rtlCol="0">
            <a:spAutoFit/>
          </a:bodyPr>
          <a:lstStyle/>
          <a:p>
            <a:r>
              <a:rPr lang="en-US" sz="1050" b="1">
                <a:solidFill>
                  <a:srgbClr val="16201E"/>
                </a:solidFill>
                <a:latin typeface="Aptos" panose="020B0004020202020204" pitchFamily="34" charset="0"/>
              </a:rPr>
              <a:t>Architecture</a:t>
            </a:r>
          </a:p>
        </p:txBody>
      </p:sp>
      <p:sp>
        <p:nvSpPr>
          <p:cNvPr id="34" name="Rectangle 33">
            <a:extLst>
              <a:ext uri="{FF2B5EF4-FFF2-40B4-BE49-F238E27FC236}">
                <a16:creationId xmlns:a16="http://schemas.microsoft.com/office/drawing/2014/main" id="{293F34F5-9801-6530-D749-F2A0E67560D3}"/>
              </a:ext>
            </a:extLst>
          </p:cNvPr>
          <p:cNvSpPr/>
          <p:nvPr/>
        </p:nvSpPr>
        <p:spPr>
          <a:xfrm>
            <a:off x="7251700" y="3073400"/>
            <a:ext cx="5461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E063E06C-558B-A30E-F0F8-426659A567BA}"/>
              </a:ext>
            </a:extLst>
          </p:cNvPr>
          <p:cNvSpPr/>
          <p:nvPr/>
        </p:nvSpPr>
        <p:spPr>
          <a:xfrm>
            <a:off x="7797800" y="2476500"/>
            <a:ext cx="1206500" cy="12065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ZoneTexte 35">
            <a:extLst>
              <a:ext uri="{FF2B5EF4-FFF2-40B4-BE49-F238E27FC236}">
                <a16:creationId xmlns:a16="http://schemas.microsoft.com/office/drawing/2014/main" id="{609EDCC6-E3BD-BB8D-6BDA-15D10340CF7B}"/>
              </a:ext>
            </a:extLst>
          </p:cNvPr>
          <p:cNvSpPr txBox="1"/>
          <p:nvPr/>
        </p:nvSpPr>
        <p:spPr>
          <a:xfrm>
            <a:off x="7975600" y="2679700"/>
            <a:ext cx="508000" cy="276999"/>
          </a:xfrm>
          <a:prstGeom prst="rect">
            <a:avLst/>
          </a:prstGeom>
          <a:noFill/>
        </p:spPr>
        <p:txBody>
          <a:bodyPr vert="horz" lIns="0" tIns="0" rIns="0" bIns="0" rtlCol="0">
            <a:spAutoFit/>
          </a:bodyPr>
          <a:lstStyle/>
          <a:p>
            <a:r>
              <a:rPr lang="en-US" b="1">
                <a:solidFill>
                  <a:srgbClr val="147D64"/>
                </a:solidFill>
                <a:latin typeface="Georgia" panose="02040502050405020303" pitchFamily="18" charset="0"/>
              </a:rPr>
              <a:t>05</a:t>
            </a:r>
          </a:p>
        </p:txBody>
      </p:sp>
      <p:sp>
        <p:nvSpPr>
          <p:cNvPr id="37" name="ZoneTexte 36">
            <a:extLst>
              <a:ext uri="{FF2B5EF4-FFF2-40B4-BE49-F238E27FC236}">
                <a16:creationId xmlns:a16="http://schemas.microsoft.com/office/drawing/2014/main" id="{24D4C3FF-27BF-4B76-0BF2-4BF0AF7A7B90}"/>
              </a:ext>
            </a:extLst>
          </p:cNvPr>
          <p:cNvSpPr txBox="1"/>
          <p:nvPr/>
        </p:nvSpPr>
        <p:spPr>
          <a:xfrm>
            <a:off x="7975600" y="3200400"/>
            <a:ext cx="863600" cy="161583"/>
          </a:xfrm>
          <a:prstGeom prst="rect">
            <a:avLst/>
          </a:prstGeom>
          <a:noFill/>
        </p:spPr>
        <p:txBody>
          <a:bodyPr vert="horz" lIns="0" tIns="0" rIns="0" bIns="0" rtlCol="0">
            <a:spAutoFit/>
          </a:bodyPr>
          <a:lstStyle/>
          <a:p>
            <a:r>
              <a:rPr lang="en-US" sz="1050" b="1">
                <a:solidFill>
                  <a:srgbClr val="16201E"/>
                </a:solidFill>
                <a:latin typeface="Aptos" panose="020B0004020202020204" pitchFamily="34" charset="0"/>
              </a:rPr>
              <a:t>Sprints</a:t>
            </a:r>
          </a:p>
        </p:txBody>
      </p:sp>
      <p:sp>
        <p:nvSpPr>
          <p:cNvPr id="38" name="Rectangle 37">
            <a:extLst>
              <a:ext uri="{FF2B5EF4-FFF2-40B4-BE49-F238E27FC236}">
                <a16:creationId xmlns:a16="http://schemas.microsoft.com/office/drawing/2014/main" id="{FFD3CFF3-314B-C70B-8228-D7839B1E1173}"/>
              </a:ext>
            </a:extLst>
          </p:cNvPr>
          <p:cNvSpPr/>
          <p:nvPr/>
        </p:nvSpPr>
        <p:spPr>
          <a:xfrm>
            <a:off x="9004300" y="3073400"/>
            <a:ext cx="5461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C86D3154-3D0A-1C3E-21F4-3DA9A0805E18}"/>
              </a:ext>
            </a:extLst>
          </p:cNvPr>
          <p:cNvSpPr/>
          <p:nvPr/>
        </p:nvSpPr>
        <p:spPr>
          <a:xfrm>
            <a:off x="9550400" y="2476500"/>
            <a:ext cx="1206500" cy="12065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ZoneTexte 39">
            <a:extLst>
              <a:ext uri="{FF2B5EF4-FFF2-40B4-BE49-F238E27FC236}">
                <a16:creationId xmlns:a16="http://schemas.microsoft.com/office/drawing/2014/main" id="{320D7E08-B8BC-86A4-F3D8-9E8079DD1DAA}"/>
              </a:ext>
            </a:extLst>
          </p:cNvPr>
          <p:cNvSpPr txBox="1"/>
          <p:nvPr/>
        </p:nvSpPr>
        <p:spPr>
          <a:xfrm>
            <a:off x="9728200" y="2679700"/>
            <a:ext cx="508000" cy="276999"/>
          </a:xfrm>
          <a:prstGeom prst="rect">
            <a:avLst/>
          </a:prstGeom>
          <a:noFill/>
        </p:spPr>
        <p:txBody>
          <a:bodyPr vert="horz" lIns="0" tIns="0" rIns="0" bIns="0" rtlCol="0">
            <a:spAutoFit/>
          </a:bodyPr>
          <a:lstStyle/>
          <a:p>
            <a:r>
              <a:rPr lang="en-US" b="1">
                <a:solidFill>
                  <a:srgbClr val="147D64"/>
                </a:solidFill>
                <a:latin typeface="Georgia" panose="02040502050405020303" pitchFamily="18" charset="0"/>
              </a:rPr>
              <a:t>06</a:t>
            </a:r>
          </a:p>
        </p:txBody>
      </p:sp>
      <p:sp>
        <p:nvSpPr>
          <p:cNvPr id="41" name="ZoneTexte 40">
            <a:extLst>
              <a:ext uri="{FF2B5EF4-FFF2-40B4-BE49-F238E27FC236}">
                <a16:creationId xmlns:a16="http://schemas.microsoft.com/office/drawing/2014/main" id="{7DBEB50B-B5F3-5AAC-D6E3-E6EB8E7B6837}"/>
              </a:ext>
            </a:extLst>
          </p:cNvPr>
          <p:cNvSpPr txBox="1"/>
          <p:nvPr/>
        </p:nvSpPr>
        <p:spPr>
          <a:xfrm>
            <a:off x="9728200" y="3200400"/>
            <a:ext cx="863600" cy="323165"/>
          </a:xfrm>
          <a:prstGeom prst="rect">
            <a:avLst/>
          </a:prstGeom>
          <a:noFill/>
        </p:spPr>
        <p:txBody>
          <a:bodyPr vert="horz" lIns="0" tIns="0" rIns="0" bIns="0" rtlCol="0">
            <a:spAutoFit/>
          </a:bodyPr>
          <a:lstStyle/>
          <a:p>
            <a:r>
              <a:rPr lang="en-US" sz="1050" b="1">
                <a:solidFill>
                  <a:srgbClr val="16201E"/>
                </a:solidFill>
                <a:latin typeface="Aptos" panose="020B0004020202020204" pitchFamily="34" charset="0"/>
              </a:rPr>
              <a:t>Demo &amp; Closing</a:t>
            </a:r>
          </a:p>
        </p:txBody>
      </p:sp>
      <p:sp>
        <p:nvSpPr>
          <p:cNvPr id="42" name="ZoneTexte 41">
            <a:extLst>
              <a:ext uri="{FF2B5EF4-FFF2-40B4-BE49-F238E27FC236}">
                <a16:creationId xmlns:a16="http://schemas.microsoft.com/office/drawing/2014/main" id="{14DFDFAE-9623-83F7-C552-39C9B519023C}"/>
              </a:ext>
            </a:extLst>
          </p:cNvPr>
          <p:cNvSpPr txBox="1"/>
          <p:nvPr/>
        </p:nvSpPr>
        <p:spPr>
          <a:xfrm>
            <a:off x="889000" y="4445000"/>
            <a:ext cx="7874000" cy="430887"/>
          </a:xfrm>
          <a:prstGeom prst="rect">
            <a:avLst/>
          </a:prstGeom>
          <a:noFill/>
        </p:spPr>
        <p:txBody>
          <a:bodyPr vert="horz" lIns="0" tIns="0" rIns="0" bIns="0" rtlCol="0">
            <a:spAutoFit/>
          </a:bodyPr>
          <a:lstStyle/>
          <a:p>
            <a:r>
              <a:rPr lang="en-US" sz="1400">
                <a:solidFill>
                  <a:srgbClr val="16201E"/>
                </a:solidFill>
                <a:latin typeface="Georgia" panose="02040502050405020303" pitchFamily="18" charset="0"/>
              </a:rPr>
              <a:t>The plan moves from the business need to the technical choices, then to the implemented increments.</a:t>
            </a:r>
          </a:p>
        </p:txBody>
      </p:sp>
    </p:spTree>
    <p:extLst>
      <p:ext uri="{BB962C8B-B14F-4D97-AF65-F5344CB8AC3E}">
        <p14:creationId xmlns:p14="http://schemas.microsoft.com/office/powerpoint/2010/main" val="3869793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3319FE-7A39-4C99-965A-C80817A4D83D}"/>
              </a:ext>
            </a:extLst>
          </p:cNvPr>
          <p:cNvSpPr/>
          <p:nvPr/>
        </p:nvSpPr>
        <p:spPr>
          <a:xfrm>
            <a:off x="0" y="0"/>
            <a:ext cx="12192000" cy="50800"/>
          </a:xfrm>
          <a:prstGeom prst="rect">
            <a:avLst/>
          </a:prstGeom>
          <a:solidFill>
            <a:srgbClr val="E1E7E2"/>
          </a:solidFill>
          <a:ln w="9525">
            <a:solidFill>
              <a:srgbClr val="E1E7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7150B34-E622-082B-C5E4-18B167C9F0CC}"/>
              </a:ext>
            </a:extLst>
          </p:cNvPr>
          <p:cNvSpPr/>
          <p:nvPr/>
        </p:nvSpPr>
        <p:spPr>
          <a:xfrm>
            <a:off x="0" y="0"/>
            <a:ext cx="2819400" cy="508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7B1691F-DEF2-0D19-8E8D-3FB8382D2FD8}"/>
              </a:ext>
            </a:extLst>
          </p:cNvPr>
          <p:cNvSpPr/>
          <p:nvPr/>
        </p:nvSpPr>
        <p:spPr>
          <a:xfrm>
            <a:off x="457200" y="317500"/>
            <a:ext cx="76200" cy="762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E6B516AD-4D88-8E21-4F8B-0B14A689F64B}"/>
              </a:ext>
            </a:extLst>
          </p:cNvPr>
          <p:cNvSpPr txBox="1"/>
          <p:nvPr/>
        </p:nvSpPr>
        <p:spPr>
          <a:xfrm>
            <a:off x="635000" y="279400"/>
            <a:ext cx="3048000" cy="115416"/>
          </a:xfrm>
          <a:prstGeom prst="rect">
            <a:avLst/>
          </a:prstGeom>
          <a:noFill/>
        </p:spPr>
        <p:txBody>
          <a:bodyPr vert="horz" lIns="0" tIns="0" rIns="0" bIns="0" rtlCol="0">
            <a:spAutoFit/>
          </a:bodyPr>
          <a:lstStyle/>
          <a:p>
            <a:r>
              <a:rPr lang="en-US" sz="750" b="1">
                <a:solidFill>
                  <a:srgbClr val="66536E"/>
                </a:solidFill>
                <a:latin typeface="Aptos" panose="020B0004020202020204" pitchFamily="34" charset="0"/>
              </a:rPr>
              <a:t>CONTEXT</a:t>
            </a:r>
          </a:p>
        </p:txBody>
      </p:sp>
      <p:sp>
        <p:nvSpPr>
          <p:cNvPr id="6" name="Rectangle 5">
            <a:extLst>
              <a:ext uri="{FF2B5EF4-FFF2-40B4-BE49-F238E27FC236}">
                <a16:creationId xmlns:a16="http://schemas.microsoft.com/office/drawing/2014/main" id="{3DF7CC27-6049-3A70-3B63-CB40832C2D93}"/>
              </a:ext>
            </a:extLst>
          </p:cNvPr>
          <p:cNvSpPr/>
          <p:nvPr/>
        </p:nvSpPr>
        <p:spPr>
          <a:xfrm>
            <a:off x="457200" y="6426200"/>
            <a:ext cx="10287000" cy="12700"/>
          </a:xfrm>
          <a:prstGeom prst="rect">
            <a:avLst/>
          </a:prstGeom>
          <a:solidFill>
            <a:srgbClr val="C0CDC8"/>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F550ADE7-441C-86F3-B29D-30851BB55AF1}"/>
              </a:ext>
            </a:extLst>
          </p:cNvPr>
          <p:cNvSpPr txBox="1"/>
          <p:nvPr/>
        </p:nvSpPr>
        <p:spPr>
          <a:xfrm>
            <a:off x="10896600" y="6286500"/>
            <a:ext cx="762000" cy="138499"/>
          </a:xfrm>
          <a:prstGeom prst="rect">
            <a:avLst/>
          </a:prstGeom>
          <a:noFill/>
        </p:spPr>
        <p:txBody>
          <a:bodyPr vert="horz" lIns="0" tIns="0" rIns="0" bIns="0" rtlCol="0">
            <a:spAutoFit/>
          </a:bodyPr>
          <a:lstStyle/>
          <a:p>
            <a:pPr algn="r"/>
            <a:r>
              <a:rPr lang="en-US" sz="900" b="1">
                <a:solidFill>
                  <a:srgbClr val="66536E"/>
                </a:solidFill>
                <a:latin typeface="Aptos" panose="020B0004020202020204" pitchFamily="34" charset="0"/>
              </a:rPr>
              <a:t>3/13</a:t>
            </a:r>
          </a:p>
        </p:txBody>
      </p:sp>
      <p:sp>
        <p:nvSpPr>
          <p:cNvPr id="8" name="ZoneTexte 7">
            <a:extLst>
              <a:ext uri="{FF2B5EF4-FFF2-40B4-BE49-F238E27FC236}">
                <a16:creationId xmlns:a16="http://schemas.microsoft.com/office/drawing/2014/main" id="{E46CD1FE-0211-CF39-1B98-B171AD18D0C8}"/>
              </a:ext>
            </a:extLst>
          </p:cNvPr>
          <p:cNvSpPr txBox="1"/>
          <p:nvPr/>
        </p:nvSpPr>
        <p:spPr>
          <a:xfrm>
            <a:off x="457200" y="635000"/>
            <a:ext cx="7747000" cy="707886"/>
          </a:xfrm>
          <a:prstGeom prst="rect">
            <a:avLst/>
          </a:prstGeom>
          <a:noFill/>
        </p:spPr>
        <p:txBody>
          <a:bodyPr vert="horz" lIns="0" tIns="0" rIns="0" bIns="0" rtlCol="0">
            <a:spAutoFit/>
          </a:bodyPr>
          <a:lstStyle/>
          <a:p>
            <a:r>
              <a:rPr lang="en-US" sz="2300" b="1">
                <a:solidFill>
                  <a:srgbClr val="16201E"/>
                </a:solidFill>
                <a:latin typeface="Georgia" panose="02040502050405020303" pitchFamily="18" charset="0"/>
              </a:rPr>
              <a:t>Scientific Review Still Depends on Fragmented Manual Work</a:t>
            </a:r>
          </a:p>
        </p:txBody>
      </p:sp>
      <p:sp>
        <p:nvSpPr>
          <p:cNvPr id="9" name="Rectangle 8">
            <a:extLst>
              <a:ext uri="{FF2B5EF4-FFF2-40B4-BE49-F238E27FC236}">
                <a16:creationId xmlns:a16="http://schemas.microsoft.com/office/drawing/2014/main" id="{34739921-E563-FF97-2ACC-16E790258FBB}"/>
              </a:ext>
            </a:extLst>
          </p:cNvPr>
          <p:cNvSpPr/>
          <p:nvPr/>
        </p:nvSpPr>
        <p:spPr>
          <a:xfrm>
            <a:off x="635000" y="19304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2B71850F-72A0-C86B-D12F-0241301790C3}"/>
              </a:ext>
            </a:extLst>
          </p:cNvPr>
          <p:cNvSpPr txBox="1"/>
          <p:nvPr/>
        </p:nvSpPr>
        <p:spPr>
          <a:xfrm>
            <a:off x="863600" y="18415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Papers are exchanged by email</a:t>
            </a:r>
          </a:p>
        </p:txBody>
      </p:sp>
      <p:sp>
        <p:nvSpPr>
          <p:cNvPr id="11" name="Rectangle 10">
            <a:extLst>
              <a:ext uri="{FF2B5EF4-FFF2-40B4-BE49-F238E27FC236}">
                <a16:creationId xmlns:a16="http://schemas.microsoft.com/office/drawing/2014/main" id="{E1C00E48-86B7-B3A1-CA2C-D8810D1463BC}"/>
              </a:ext>
            </a:extLst>
          </p:cNvPr>
          <p:cNvSpPr/>
          <p:nvPr/>
        </p:nvSpPr>
        <p:spPr>
          <a:xfrm>
            <a:off x="635000" y="24003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ZoneTexte 11">
            <a:extLst>
              <a:ext uri="{FF2B5EF4-FFF2-40B4-BE49-F238E27FC236}">
                <a16:creationId xmlns:a16="http://schemas.microsoft.com/office/drawing/2014/main" id="{E21879DC-6406-3A1F-AA92-2F37B4F7017C}"/>
              </a:ext>
            </a:extLst>
          </p:cNvPr>
          <p:cNvSpPr txBox="1"/>
          <p:nvPr/>
        </p:nvSpPr>
        <p:spPr>
          <a:xfrm>
            <a:off x="863600" y="23114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Metadata is copied manually</a:t>
            </a:r>
          </a:p>
        </p:txBody>
      </p:sp>
      <p:sp>
        <p:nvSpPr>
          <p:cNvPr id="13" name="Rectangle 12">
            <a:extLst>
              <a:ext uri="{FF2B5EF4-FFF2-40B4-BE49-F238E27FC236}">
                <a16:creationId xmlns:a16="http://schemas.microsoft.com/office/drawing/2014/main" id="{3A014AA4-65E3-24DC-43E1-DB38E63985D4}"/>
              </a:ext>
            </a:extLst>
          </p:cNvPr>
          <p:cNvSpPr/>
          <p:nvPr/>
        </p:nvSpPr>
        <p:spPr>
          <a:xfrm>
            <a:off x="635000" y="28702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ZoneTexte 13">
            <a:extLst>
              <a:ext uri="{FF2B5EF4-FFF2-40B4-BE49-F238E27FC236}">
                <a16:creationId xmlns:a16="http://schemas.microsoft.com/office/drawing/2014/main" id="{2C0F40A0-9789-8B5A-42DE-51B89CD9CDCB}"/>
              </a:ext>
            </a:extLst>
          </p:cNvPr>
          <p:cNvSpPr txBox="1"/>
          <p:nvPr/>
        </p:nvSpPr>
        <p:spPr>
          <a:xfrm>
            <a:off x="863600" y="27813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Reviewer choice is informal</a:t>
            </a:r>
          </a:p>
        </p:txBody>
      </p:sp>
      <p:sp>
        <p:nvSpPr>
          <p:cNvPr id="15" name="Rectangle 14">
            <a:extLst>
              <a:ext uri="{FF2B5EF4-FFF2-40B4-BE49-F238E27FC236}">
                <a16:creationId xmlns:a16="http://schemas.microsoft.com/office/drawing/2014/main" id="{E68BF766-C594-E857-123C-E9D625A5E6EE}"/>
              </a:ext>
            </a:extLst>
          </p:cNvPr>
          <p:cNvSpPr/>
          <p:nvPr/>
        </p:nvSpPr>
        <p:spPr>
          <a:xfrm>
            <a:off x="635000" y="33401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ZoneTexte 15">
            <a:extLst>
              <a:ext uri="{FF2B5EF4-FFF2-40B4-BE49-F238E27FC236}">
                <a16:creationId xmlns:a16="http://schemas.microsoft.com/office/drawing/2014/main" id="{0F7C96B1-1829-3691-FE9E-FD6FCE789D3B}"/>
              </a:ext>
            </a:extLst>
          </p:cNvPr>
          <p:cNvSpPr txBox="1"/>
          <p:nvPr/>
        </p:nvSpPr>
        <p:spPr>
          <a:xfrm>
            <a:off x="863600" y="32512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Status tracking lacks traceability</a:t>
            </a:r>
          </a:p>
        </p:txBody>
      </p:sp>
      <p:sp>
        <p:nvSpPr>
          <p:cNvPr id="17" name="Rectangle 16">
            <a:extLst>
              <a:ext uri="{FF2B5EF4-FFF2-40B4-BE49-F238E27FC236}">
                <a16:creationId xmlns:a16="http://schemas.microsoft.com/office/drawing/2014/main" id="{2CD14320-9F28-B8A6-68D3-27A288FF14F9}"/>
              </a:ext>
            </a:extLst>
          </p:cNvPr>
          <p:cNvSpPr/>
          <p:nvPr/>
        </p:nvSpPr>
        <p:spPr>
          <a:xfrm>
            <a:off x="6350000" y="1803400"/>
            <a:ext cx="3810000" cy="5715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ZoneTexte 17">
            <a:extLst>
              <a:ext uri="{FF2B5EF4-FFF2-40B4-BE49-F238E27FC236}">
                <a16:creationId xmlns:a16="http://schemas.microsoft.com/office/drawing/2014/main" id="{E6F383C8-013D-77C2-CCBF-AD514A9E0F50}"/>
              </a:ext>
            </a:extLst>
          </p:cNvPr>
          <p:cNvSpPr txBox="1"/>
          <p:nvPr/>
        </p:nvSpPr>
        <p:spPr>
          <a:xfrm>
            <a:off x="6629400" y="1930400"/>
            <a:ext cx="1651000" cy="184666"/>
          </a:xfrm>
          <a:prstGeom prst="rect">
            <a:avLst/>
          </a:prstGeom>
          <a:noFill/>
        </p:spPr>
        <p:txBody>
          <a:bodyPr vert="horz" lIns="0" tIns="0" rIns="0" bIns="0" rtlCol="0">
            <a:spAutoFit/>
          </a:bodyPr>
          <a:lstStyle/>
          <a:p>
            <a:r>
              <a:rPr lang="en-US" sz="1200" b="1">
                <a:solidFill>
                  <a:srgbClr val="147D64"/>
                </a:solidFill>
                <a:latin typeface="Aptos" panose="020B0004020202020204" pitchFamily="34" charset="0"/>
              </a:rPr>
              <a:t>Email</a:t>
            </a:r>
          </a:p>
        </p:txBody>
      </p:sp>
      <p:sp>
        <p:nvSpPr>
          <p:cNvPr id="19" name="ZoneTexte 18">
            <a:extLst>
              <a:ext uri="{FF2B5EF4-FFF2-40B4-BE49-F238E27FC236}">
                <a16:creationId xmlns:a16="http://schemas.microsoft.com/office/drawing/2014/main" id="{16CC6F2A-5D8D-8239-D265-F4CB6C7D9516}"/>
              </a:ext>
            </a:extLst>
          </p:cNvPr>
          <p:cNvSpPr txBox="1"/>
          <p:nvPr/>
        </p:nvSpPr>
        <p:spPr>
          <a:xfrm>
            <a:off x="8445500" y="1930400"/>
            <a:ext cx="1397000" cy="261610"/>
          </a:xfrm>
          <a:prstGeom prst="rect">
            <a:avLst/>
          </a:prstGeom>
          <a:noFill/>
        </p:spPr>
        <p:txBody>
          <a:bodyPr vert="horz" lIns="0" tIns="0" rIns="0" bIns="0" rtlCol="0">
            <a:spAutoFit/>
          </a:bodyPr>
          <a:lstStyle/>
          <a:p>
            <a:r>
              <a:rPr lang="en-US" sz="850">
                <a:solidFill>
                  <a:srgbClr val="66536E"/>
                </a:solidFill>
                <a:latin typeface="Aptos" panose="020B0004020202020204" pitchFamily="34" charset="0"/>
              </a:rPr>
              <a:t>Manual tracking creates delay and weak traceability.</a:t>
            </a:r>
          </a:p>
        </p:txBody>
      </p:sp>
      <p:sp>
        <p:nvSpPr>
          <p:cNvPr id="20" name="Rectangle 19">
            <a:extLst>
              <a:ext uri="{FF2B5EF4-FFF2-40B4-BE49-F238E27FC236}">
                <a16:creationId xmlns:a16="http://schemas.microsoft.com/office/drawing/2014/main" id="{4ABDBAAB-D6C0-12A6-029C-8EEF8808BD20}"/>
              </a:ext>
            </a:extLst>
          </p:cNvPr>
          <p:cNvSpPr/>
          <p:nvPr/>
        </p:nvSpPr>
        <p:spPr>
          <a:xfrm>
            <a:off x="6350000" y="2667000"/>
            <a:ext cx="3810000" cy="5715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ZoneTexte 20">
            <a:extLst>
              <a:ext uri="{FF2B5EF4-FFF2-40B4-BE49-F238E27FC236}">
                <a16:creationId xmlns:a16="http://schemas.microsoft.com/office/drawing/2014/main" id="{167A0ED9-7228-9BAD-99A1-1E123369CBF9}"/>
              </a:ext>
            </a:extLst>
          </p:cNvPr>
          <p:cNvSpPr txBox="1"/>
          <p:nvPr/>
        </p:nvSpPr>
        <p:spPr>
          <a:xfrm>
            <a:off x="6629400" y="2794000"/>
            <a:ext cx="1651000" cy="184666"/>
          </a:xfrm>
          <a:prstGeom prst="rect">
            <a:avLst/>
          </a:prstGeom>
          <a:noFill/>
        </p:spPr>
        <p:txBody>
          <a:bodyPr vert="horz" lIns="0" tIns="0" rIns="0" bIns="0" rtlCol="0">
            <a:spAutoFit/>
          </a:bodyPr>
          <a:lstStyle/>
          <a:p>
            <a:r>
              <a:rPr lang="en-US" sz="1200" b="1">
                <a:solidFill>
                  <a:srgbClr val="147D64"/>
                </a:solidFill>
                <a:latin typeface="Aptos" panose="020B0004020202020204" pitchFamily="34" charset="0"/>
              </a:rPr>
              <a:t>Spreadsheet</a:t>
            </a:r>
          </a:p>
        </p:txBody>
      </p:sp>
      <p:sp>
        <p:nvSpPr>
          <p:cNvPr id="22" name="ZoneTexte 21">
            <a:extLst>
              <a:ext uri="{FF2B5EF4-FFF2-40B4-BE49-F238E27FC236}">
                <a16:creationId xmlns:a16="http://schemas.microsoft.com/office/drawing/2014/main" id="{2B7ECF69-A3EE-0D58-1750-1254C0759D76}"/>
              </a:ext>
            </a:extLst>
          </p:cNvPr>
          <p:cNvSpPr txBox="1"/>
          <p:nvPr/>
        </p:nvSpPr>
        <p:spPr>
          <a:xfrm>
            <a:off x="8445500" y="2794000"/>
            <a:ext cx="1397000" cy="261610"/>
          </a:xfrm>
          <a:prstGeom prst="rect">
            <a:avLst/>
          </a:prstGeom>
          <a:noFill/>
        </p:spPr>
        <p:txBody>
          <a:bodyPr vert="horz" lIns="0" tIns="0" rIns="0" bIns="0" rtlCol="0">
            <a:spAutoFit/>
          </a:bodyPr>
          <a:lstStyle/>
          <a:p>
            <a:r>
              <a:rPr lang="en-US" sz="850">
                <a:solidFill>
                  <a:srgbClr val="66536E"/>
                </a:solidFill>
                <a:latin typeface="Aptos" panose="020B0004020202020204" pitchFamily="34" charset="0"/>
              </a:rPr>
              <a:t>Manual tracking creates delay and weak traceability.</a:t>
            </a:r>
          </a:p>
        </p:txBody>
      </p:sp>
      <p:sp>
        <p:nvSpPr>
          <p:cNvPr id="23" name="Rectangle 22">
            <a:extLst>
              <a:ext uri="{FF2B5EF4-FFF2-40B4-BE49-F238E27FC236}">
                <a16:creationId xmlns:a16="http://schemas.microsoft.com/office/drawing/2014/main" id="{DCC5F80A-D0B6-111F-7C36-3F0CB451846D}"/>
              </a:ext>
            </a:extLst>
          </p:cNvPr>
          <p:cNvSpPr/>
          <p:nvPr/>
        </p:nvSpPr>
        <p:spPr>
          <a:xfrm>
            <a:off x="6350000" y="3530600"/>
            <a:ext cx="3810000" cy="5715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ZoneTexte 23">
            <a:extLst>
              <a:ext uri="{FF2B5EF4-FFF2-40B4-BE49-F238E27FC236}">
                <a16:creationId xmlns:a16="http://schemas.microsoft.com/office/drawing/2014/main" id="{389BAE5F-9817-F101-9774-5315FBEA0944}"/>
              </a:ext>
            </a:extLst>
          </p:cNvPr>
          <p:cNvSpPr txBox="1"/>
          <p:nvPr/>
        </p:nvSpPr>
        <p:spPr>
          <a:xfrm>
            <a:off x="6629400" y="3657600"/>
            <a:ext cx="1651000" cy="184666"/>
          </a:xfrm>
          <a:prstGeom prst="rect">
            <a:avLst/>
          </a:prstGeom>
          <a:noFill/>
        </p:spPr>
        <p:txBody>
          <a:bodyPr vert="horz" lIns="0" tIns="0" rIns="0" bIns="0" rtlCol="0">
            <a:spAutoFit/>
          </a:bodyPr>
          <a:lstStyle/>
          <a:p>
            <a:r>
              <a:rPr lang="en-US" sz="1200" b="1">
                <a:solidFill>
                  <a:srgbClr val="147D64"/>
                </a:solidFill>
                <a:latin typeface="Aptos" panose="020B0004020202020204" pitchFamily="34" charset="0"/>
              </a:rPr>
              <a:t>Informal choice</a:t>
            </a:r>
          </a:p>
        </p:txBody>
      </p:sp>
      <p:sp>
        <p:nvSpPr>
          <p:cNvPr id="25" name="ZoneTexte 24">
            <a:extLst>
              <a:ext uri="{FF2B5EF4-FFF2-40B4-BE49-F238E27FC236}">
                <a16:creationId xmlns:a16="http://schemas.microsoft.com/office/drawing/2014/main" id="{6E1F31D5-A0F8-8B2C-D561-5B7012A0F723}"/>
              </a:ext>
            </a:extLst>
          </p:cNvPr>
          <p:cNvSpPr txBox="1"/>
          <p:nvPr/>
        </p:nvSpPr>
        <p:spPr>
          <a:xfrm>
            <a:off x="8445500" y="3657600"/>
            <a:ext cx="1397000" cy="261610"/>
          </a:xfrm>
          <a:prstGeom prst="rect">
            <a:avLst/>
          </a:prstGeom>
          <a:noFill/>
        </p:spPr>
        <p:txBody>
          <a:bodyPr vert="horz" lIns="0" tIns="0" rIns="0" bIns="0" rtlCol="0">
            <a:spAutoFit/>
          </a:bodyPr>
          <a:lstStyle/>
          <a:p>
            <a:r>
              <a:rPr lang="en-US" sz="850">
                <a:solidFill>
                  <a:srgbClr val="66536E"/>
                </a:solidFill>
                <a:latin typeface="Aptos" panose="020B0004020202020204" pitchFamily="34" charset="0"/>
              </a:rPr>
              <a:t>Manual tracking creates delay and weak traceability.</a:t>
            </a:r>
          </a:p>
        </p:txBody>
      </p:sp>
      <p:sp>
        <p:nvSpPr>
          <p:cNvPr id="26" name="Rectangle 25">
            <a:extLst>
              <a:ext uri="{FF2B5EF4-FFF2-40B4-BE49-F238E27FC236}">
                <a16:creationId xmlns:a16="http://schemas.microsoft.com/office/drawing/2014/main" id="{F41B8D65-FFAF-FFD5-A24C-667E24DE89AB}"/>
              </a:ext>
            </a:extLst>
          </p:cNvPr>
          <p:cNvSpPr/>
          <p:nvPr/>
        </p:nvSpPr>
        <p:spPr>
          <a:xfrm>
            <a:off x="6350000" y="4394200"/>
            <a:ext cx="3810000" cy="5715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ZoneTexte 26">
            <a:extLst>
              <a:ext uri="{FF2B5EF4-FFF2-40B4-BE49-F238E27FC236}">
                <a16:creationId xmlns:a16="http://schemas.microsoft.com/office/drawing/2014/main" id="{509498F6-CF31-8880-D8AC-E73014FB3341}"/>
              </a:ext>
            </a:extLst>
          </p:cNvPr>
          <p:cNvSpPr txBox="1"/>
          <p:nvPr/>
        </p:nvSpPr>
        <p:spPr>
          <a:xfrm>
            <a:off x="6629400" y="4521200"/>
            <a:ext cx="1651000" cy="184666"/>
          </a:xfrm>
          <a:prstGeom prst="rect">
            <a:avLst/>
          </a:prstGeom>
          <a:noFill/>
        </p:spPr>
        <p:txBody>
          <a:bodyPr vert="horz" lIns="0" tIns="0" rIns="0" bIns="0" rtlCol="0">
            <a:spAutoFit/>
          </a:bodyPr>
          <a:lstStyle/>
          <a:p>
            <a:r>
              <a:rPr lang="en-US" sz="1200" b="1">
                <a:solidFill>
                  <a:srgbClr val="147D64"/>
                </a:solidFill>
                <a:latin typeface="Aptos" panose="020B0004020202020204" pitchFamily="34" charset="0"/>
              </a:rPr>
              <a:t>Unclear audit</a:t>
            </a:r>
          </a:p>
        </p:txBody>
      </p:sp>
      <p:sp>
        <p:nvSpPr>
          <p:cNvPr id="28" name="ZoneTexte 27">
            <a:extLst>
              <a:ext uri="{FF2B5EF4-FFF2-40B4-BE49-F238E27FC236}">
                <a16:creationId xmlns:a16="http://schemas.microsoft.com/office/drawing/2014/main" id="{7C2EA6C6-CA91-CBD9-5DD4-757E72726B8A}"/>
              </a:ext>
            </a:extLst>
          </p:cNvPr>
          <p:cNvSpPr txBox="1"/>
          <p:nvPr/>
        </p:nvSpPr>
        <p:spPr>
          <a:xfrm>
            <a:off x="8445500" y="4521200"/>
            <a:ext cx="1397000" cy="261610"/>
          </a:xfrm>
          <a:prstGeom prst="rect">
            <a:avLst/>
          </a:prstGeom>
          <a:noFill/>
        </p:spPr>
        <p:txBody>
          <a:bodyPr vert="horz" lIns="0" tIns="0" rIns="0" bIns="0" rtlCol="0">
            <a:spAutoFit/>
          </a:bodyPr>
          <a:lstStyle/>
          <a:p>
            <a:r>
              <a:rPr lang="en-US" sz="850">
                <a:solidFill>
                  <a:srgbClr val="66536E"/>
                </a:solidFill>
                <a:latin typeface="Aptos" panose="020B0004020202020204" pitchFamily="34" charset="0"/>
              </a:rPr>
              <a:t>Manual tracking creates delay and weak traceability.</a:t>
            </a:r>
          </a:p>
        </p:txBody>
      </p:sp>
    </p:spTree>
    <p:extLst>
      <p:ext uri="{BB962C8B-B14F-4D97-AF65-F5344CB8AC3E}">
        <p14:creationId xmlns:p14="http://schemas.microsoft.com/office/powerpoint/2010/main" val="3943335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B9F8D3-AF0C-B3A6-C0D5-FA88B247B095}"/>
              </a:ext>
            </a:extLst>
          </p:cNvPr>
          <p:cNvSpPr/>
          <p:nvPr/>
        </p:nvSpPr>
        <p:spPr>
          <a:xfrm>
            <a:off x="0" y="0"/>
            <a:ext cx="12192000" cy="50800"/>
          </a:xfrm>
          <a:prstGeom prst="rect">
            <a:avLst/>
          </a:prstGeom>
          <a:solidFill>
            <a:srgbClr val="E1E7E2"/>
          </a:solidFill>
          <a:ln w="9525">
            <a:solidFill>
              <a:srgbClr val="E1E7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B10A19A-F032-B42F-68CF-DB9ED0C234E0}"/>
              </a:ext>
            </a:extLst>
          </p:cNvPr>
          <p:cNvSpPr/>
          <p:nvPr/>
        </p:nvSpPr>
        <p:spPr>
          <a:xfrm>
            <a:off x="0" y="0"/>
            <a:ext cx="3746500" cy="508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D6036DD-B69A-6596-62C4-A46589F88E13}"/>
              </a:ext>
            </a:extLst>
          </p:cNvPr>
          <p:cNvSpPr/>
          <p:nvPr/>
        </p:nvSpPr>
        <p:spPr>
          <a:xfrm>
            <a:off x="457200" y="317500"/>
            <a:ext cx="76200" cy="762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DEC858C0-9F49-FAA2-24A9-7979B3033ABF}"/>
              </a:ext>
            </a:extLst>
          </p:cNvPr>
          <p:cNvSpPr txBox="1"/>
          <p:nvPr/>
        </p:nvSpPr>
        <p:spPr>
          <a:xfrm>
            <a:off x="635000" y="279400"/>
            <a:ext cx="3048000" cy="115416"/>
          </a:xfrm>
          <a:prstGeom prst="rect">
            <a:avLst/>
          </a:prstGeom>
          <a:noFill/>
        </p:spPr>
        <p:txBody>
          <a:bodyPr vert="horz" lIns="0" tIns="0" rIns="0" bIns="0" rtlCol="0">
            <a:spAutoFit/>
          </a:bodyPr>
          <a:lstStyle/>
          <a:p>
            <a:r>
              <a:rPr lang="en-US" sz="750" b="1">
                <a:solidFill>
                  <a:srgbClr val="66536E"/>
                </a:solidFill>
                <a:latin typeface="Aptos" panose="020B0004020202020204" pitchFamily="34" charset="0"/>
              </a:rPr>
              <a:t>CONTEXT</a:t>
            </a:r>
          </a:p>
        </p:txBody>
      </p:sp>
      <p:sp>
        <p:nvSpPr>
          <p:cNvPr id="6" name="Rectangle 5">
            <a:extLst>
              <a:ext uri="{FF2B5EF4-FFF2-40B4-BE49-F238E27FC236}">
                <a16:creationId xmlns:a16="http://schemas.microsoft.com/office/drawing/2014/main" id="{1EE28C97-73D9-884F-1518-D9F4C7121F3F}"/>
              </a:ext>
            </a:extLst>
          </p:cNvPr>
          <p:cNvSpPr/>
          <p:nvPr/>
        </p:nvSpPr>
        <p:spPr>
          <a:xfrm>
            <a:off x="457200" y="6426200"/>
            <a:ext cx="10287000" cy="12700"/>
          </a:xfrm>
          <a:prstGeom prst="rect">
            <a:avLst/>
          </a:prstGeom>
          <a:solidFill>
            <a:srgbClr val="C0CDC8"/>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BBD1923E-9DDD-EA9B-661F-4614346448B4}"/>
              </a:ext>
            </a:extLst>
          </p:cNvPr>
          <p:cNvSpPr txBox="1"/>
          <p:nvPr/>
        </p:nvSpPr>
        <p:spPr>
          <a:xfrm>
            <a:off x="10896600" y="6286500"/>
            <a:ext cx="762000" cy="138499"/>
          </a:xfrm>
          <a:prstGeom prst="rect">
            <a:avLst/>
          </a:prstGeom>
          <a:noFill/>
        </p:spPr>
        <p:txBody>
          <a:bodyPr vert="horz" lIns="0" tIns="0" rIns="0" bIns="0" rtlCol="0">
            <a:spAutoFit/>
          </a:bodyPr>
          <a:lstStyle/>
          <a:p>
            <a:pPr algn="r"/>
            <a:r>
              <a:rPr lang="en-US" sz="900" b="1">
                <a:solidFill>
                  <a:srgbClr val="66536E"/>
                </a:solidFill>
                <a:latin typeface="Aptos" panose="020B0004020202020204" pitchFamily="34" charset="0"/>
              </a:rPr>
              <a:t>4/13</a:t>
            </a:r>
          </a:p>
        </p:txBody>
      </p:sp>
      <p:sp>
        <p:nvSpPr>
          <p:cNvPr id="8" name="ZoneTexte 7">
            <a:extLst>
              <a:ext uri="{FF2B5EF4-FFF2-40B4-BE49-F238E27FC236}">
                <a16:creationId xmlns:a16="http://schemas.microsoft.com/office/drawing/2014/main" id="{FBF5D76E-8B21-348B-8B58-066BF41C2274}"/>
              </a:ext>
            </a:extLst>
          </p:cNvPr>
          <p:cNvSpPr txBox="1"/>
          <p:nvPr/>
        </p:nvSpPr>
        <p:spPr>
          <a:xfrm>
            <a:off x="457200" y="635000"/>
            <a:ext cx="7747000" cy="353943"/>
          </a:xfrm>
          <a:prstGeom prst="rect">
            <a:avLst/>
          </a:prstGeom>
          <a:noFill/>
        </p:spPr>
        <p:txBody>
          <a:bodyPr vert="horz" lIns="0" tIns="0" rIns="0" bIns="0" rtlCol="0">
            <a:spAutoFit/>
          </a:bodyPr>
          <a:lstStyle/>
          <a:p>
            <a:r>
              <a:rPr lang="en-US" sz="2300" b="1">
                <a:solidFill>
                  <a:srgbClr val="16201E"/>
                </a:solidFill>
                <a:latin typeface="Georgia" panose="02040502050405020303" pitchFamily="18" charset="0"/>
              </a:rPr>
              <a:t>The Core Problem Is Not Only Uploading a PDF</a:t>
            </a:r>
          </a:p>
        </p:txBody>
      </p:sp>
      <p:sp>
        <p:nvSpPr>
          <p:cNvPr id="9" name="Rectangle 8">
            <a:extLst>
              <a:ext uri="{FF2B5EF4-FFF2-40B4-BE49-F238E27FC236}">
                <a16:creationId xmlns:a16="http://schemas.microsoft.com/office/drawing/2014/main" id="{5B96D296-0A8D-50D0-5DD5-D7AE5287B30C}"/>
              </a:ext>
            </a:extLst>
          </p:cNvPr>
          <p:cNvSpPr/>
          <p:nvPr/>
        </p:nvSpPr>
        <p:spPr>
          <a:xfrm>
            <a:off x="635000" y="19304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A73B5EB2-80C0-3C7F-FB92-8976D5C98487}"/>
              </a:ext>
            </a:extLst>
          </p:cNvPr>
          <p:cNvSpPr txBox="1"/>
          <p:nvPr/>
        </p:nvSpPr>
        <p:spPr>
          <a:xfrm>
            <a:off x="863600" y="18415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Manual metadata entry wastes time</a:t>
            </a:r>
          </a:p>
        </p:txBody>
      </p:sp>
      <p:sp>
        <p:nvSpPr>
          <p:cNvPr id="11" name="Rectangle 10">
            <a:extLst>
              <a:ext uri="{FF2B5EF4-FFF2-40B4-BE49-F238E27FC236}">
                <a16:creationId xmlns:a16="http://schemas.microsoft.com/office/drawing/2014/main" id="{5F512416-DD74-A622-ADB7-6E1E7DC9EF06}"/>
              </a:ext>
            </a:extLst>
          </p:cNvPr>
          <p:cNvSpPr/>
          <p:nvPr/>
        </p:nvSpPr>
        <p:spPr>
          <a:xfrm>
            <a:off x="635000" y="24003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ZoneTexte 11">
            <a:extLst>
              <a:ext uri="{FF2B5EF4-FFF2-40B4-BE49-F238E27FC236}">
                <a16:creationId xmlns:a16="http://schemas.microsoft.com/office/drawing/2014/main" id="{FDDA7385-D828-3929-56E7-161CF29D4E49}"/>
              </a:ext>
            </a:extLst>
          </p:cNvPr>
          <p:cNvSpPr txBox="1"/>
          <p:nvPr/>
        </p:nvSpPr>
        <p:spPr>
          <a:xfrm>
            <a:off x="863600" y="23114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Reviewer assignment lacks objective support</a:t>
            </a:r>
          </a:p>
        </p:txBody>
      </p:sp>
      <p:sp>
        <p:nvSpPr>
          <p:cNvPr id="13" name="Rectangle 12">
            <a:extLst>
              <a:ext uri="{FF2B5EF4-FFF2-40B4-BE49-F238E27FC236}">
                <a16:creationId xmlns:a16="http://schemas.microsoft.com/office/drawing/2014/main" id="{25DFBF2D-1AFF-D687-6D2F-D0105B47D184}"/>
              </a:ext>
            </a:extLst>
          </p:cNvPr>
          <p:cNvSpPr/>
          <p:nvPr/>
        </p:nvSpPr>
        <p:spPr>
          <a:xfrm>
            <a:off x="635000" y="28702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ZoneTexte 13">
            <a:extLst>
              <a:ext uri="{FF2B5EF4-FFF2-40B4-BE49-F238E27FC236}">
                <a16:creationId xmlns:a16="http://schemas.microsoft.com/office/drawing/2014/main" id="{2E30BD17-093E-7F56-7ED0-DBC2CCC7C4AE}"/>
              </a:ext>
            </a:extLst>
          </p:cNvPr>
          <p:cNvSpPr txBox="1"/>
          <p:nvPr/>
        </p:nvSpPr>
        <p:spPr>
          <a:xfrm>
            <a:off x="863600" y="27813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Similarity checks are not integrated</a:t>
            </a:r>
          </a:p>
        </p:txBody>
      </p:sp>
      <p:sp>
        <p:nvSpPr>
          <p:cNvPr id="15" name="Rectangle 14">
            <a:extLst>
              <a:ext uri="{FF2B5EF4-FFF2-40B4-BE49-F238E27FC236}">
                <a16:creationId xmlns:a16="http://schemas.microsoft.com/office/drawing/2014/main" id="{A5012252-D575-A5B0-6C48-B0CA685BAA12}"/>
              </a:ext>
            </a:extLst>
          </p:cNvPr>
          <p:cNvSpPr/>
          <p:nvPr/>
        </p:nvSpPr>
        <p:spPr>
          <a:xfrm>
            <a:off x="635000" y="33401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ZoneTexte 15">
            <a:extLst>
              <a:ext uri="{FF2B5EF4-FFF2-40B4-BE49-F238E27FC236}">
                <a16:creationId xmlns:a16="http://schemas.microsoft.com/office/drawing/2014/main" id="{F4849B21-6F5D-B179-4429-A0B884749BE8}"/>
              </a:ext>
            </a:extLst>
          </p:cNvPr>
          <p:cNvSpPr txBox="1"/>
          <p:nvPr/>
        </p:nvSpPr>
        <p:spPr>
          <a:xfrm>
            <a:off x="863600" y="32512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Reviewers lack preparation tools</a:t>
            </a:r>
          </a:p>
        </p:txBody>
      </p:sp>
      <p:sp>
        <p:nvSpPr>
          <p:cNvPr id="17" name="Rectangle 16">
            <a:extLst>
              <a:ext uri="{FF2B5EF4-FFF2-40B4-BE49-F238E27FC236}">
                <a16:creationId xmlns:a16="http://schemas.microsoft.com/office/drawing/2014/main" id="{EF768C4A-8082-AA8E-73DA-57BEDE1F957A}"/>
              </a:ext>
            </a:extLst>
          </p:cNvPr>
          <p:cNvSpPr/>
          <p:nvPr/>
        </p:nvSpPr>
        <p:spPr>
          <a:xfrm>
            <a:off x="6350000" y="1803400"/>
            <a:ext cx="3810000" cy="5715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ZoneTexte 17">
            <a:extLst>
              <a:ext uri="{FF2B5EF4-FFF2-40B4-BE49-F238E27FC236}">
                <a16:creationId xmlns:a16="http://schemas.microsoft.com/office/drawing/2014/main" id="{E9870670-EE45-8AC4-41FF-9B6839DD6082}"/>
              </a:ext>
            </a:extLst>
          </p:cNvPr>
          <p:cNvSpPr txBox="1"/>
          <p:nvPr/>
        </p:nvSpPr>
        <p:spPr>
          <a:xfrm>
            <a:off x="6629400" y="1930400"/>
            <a:ext cx="1651000" cy="184666"/>
          </a:xfrm>
          <a:prstGeom prst="rect">
            <a:avLst/>
          </a:prstGeom>
          <a:noFill/>
        </p:spPr>
        <p:txBody>
          <a:bodyPr vert="horz" lIns="0" tIns="0" rIns="0" bIns="0" rtlCol="0">
            <a:spAutoFit/>
          </a:bodyPr>
          <a:lstStyle/>
          <a:p>
            <a:r>
              <a:rPr lang="en-US" sz="1200" b="1">
                <a:solidFill>
                  <a:srgbClr val="147D64"/>
                </a:solidFill>
                <a:latin typeface="Aptos" panose="020B0004020202020204" pitchFamily="34" charset="0"/>
              </a:rPr>
              <a:t>Metadata quality</a:t>
            </a:r>
          </a:p>
        </p:txBody>
      </p:sp>
      <p:sp>
        <p:nvSpPr>
          <p:cNvPr id="19" name="ZoneTexte 18">
            <a:extLst>
              <a:ext uri="{FF2B5EF4-FFF2-40B4-BE49-F238E27FC236}">
                <a16:creationId xmlns:a16="http://schemas.microsoft.com/office/drawing/2014/main" id="{7278102C-BB33-62E8-14E7-DAF710242A20}"/>
              </a:ext>
            </a:extLst>
          </p:cNvPr>
          <p:cNvSpPr txBox="1"/>
          <p:nvPr/>
        </p:nvSpPr>
        <p:spPr>
          <a:xfrm>
            <a:off x="8445500" y="1930400"/>
            <a:ext cx="1397000" cy="261610"/>
          </a:xfrm>
          <a:prstGeom prst="rect">
            <a:avLst/>
          </a:prstGeom>
          <a:noFill/>
        </p:spPr>
        <p:txBody>
          <a:bodyPr vert="horz" lIns="0" tIns="0" rIns="0" bIns="0" rtlCol="0">
            <a:spAutoFit/>
          </a:bodyPr>
          <a:lstStyle/>
          <a:p>
            <a:r>
              <a:rPr lang="en-US" sz="850">
                <a:solidFill>
                  <a:srgbClr val="66536E"/>
                </a:solidFill>
                <a:latin typeface="Aptos" panose="020B0004020202020204" pitchFamily="34" charset="0"/>
              </a:rPr>
              <a:t>This bottleneck must be supported in the platform.</a:t>
            </a:r>
          </a:p>
        </p:txBody>
      </p:sp>
      <p:sp>
        <p:nvSpPr>
          <p:cNvPr id="20" name="Rectangle 19">
            <a:extLst>
              <a:ext uri="{FF2B5EF4-FFF2-40B4-BE49-F238E27FC236}">
                <a16:creationId xmlns:a16="http://schemas.microsoft.com/office/drawing/2014/main" id="{B87D1CA2-58CF-CCC8-139F-DF39B9D12837}"/>
              </a:ext>
            </a:extLst>
          </p:cNvPr>
          <p:cNvSpPr/>
          <p:nvPr/>
        </p:nvSpPr>
        <p:spPr>
          <a:xfrm>
            <a:off x="6350000" y="2667000"/>
            <a:ext cx="3810000" cy="5715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ZoneTexte 20">
            <a:extLst>
              <a:ext uri="{FF2B5EF4-FFF2-40B4-BE49-F238E27FC236}">
                <a16:creationId xmlns:a16="http://schemas.microsoft.com/office/drawing/2014/main" id="{7D3D75BA-5716-9738-49F4-2FD263B8631C}"/>
              </a:ext>
            </a:extLst>
          </p:cNvPr>
          <p:cNvSpPr txBox="1"/>
          <p:nvPr/>
        </p:nvSpPr>
        <p:spPr>
          <a:xfrm>
            <a:off x="6629400" y="2794000"/>
            <a:ext cx="1651000" cy="184666"/>
          </a:xfrm>
          <a:prstGeom prst="rect">
            <a:avLst/>
          </a:prstGeom>
          <a:noFill/>
        </p:spPr>
        <p:txBody>
          <a:bodyPr vert="horz" lIns="0" tIns="0" rIns="0" bIns="0" rtlCol="0">
            <a:spAutoFit/>
          </a:bodyPr>
          <a:lstStyle/>
          <a:p>
            <a:r>
              <a:rPr lang="en-US" sz="1200" b="1">
                <a:solidFill>
                  <a:srgbClr val="147D64"/>
                </a:solidFill>
                <a:latin typeface="Aptos" panose="020B0004020202020204" pitchFamily="34" charset="0"/>
              </a:rPr>
              <a:t>Reviewer relevance</a:t>
            </a:r>
          </a:p>
        </p:txBody>
      </p:sp>
      <p:sp>
        <p:nvSpPr>
          <p:cNvPr id="22" name="ZoneTexte 21">
            <a:extLst>
              <a:ext uri="{FF2B5EF4-FFF2-40B4-BE49-F238E27FC236}">
                <a16:creationId xmlns:a16="http://schemas.microsoft.com/office/drawing/2014/main" id="{5CD2066A-B2E1-CB51-26B7-5DA184686351}"/>
              </a:ext>
            </a:extLst>
          </p:cNvPr>
          <p:cNvSpPr txBox="1"/>
          <p:nvPr/>
        </p:nvSpPr>
        <p:spPr>
          <a:xfrm>
            <a:off x="8445500" y="2794000"/>
            <a:ext cx="1397000" cy="261610"/>
          </a:xfrm>
          <a:prstGeom prst="rect">
            <a:avLst/>
          </a:prstGeom>
          <a:noFill/>
        </p:spPr>
        <p:txBody>
          <a:bodyPr vert="horz" lIns="0" tIns="0" rIns="0" bIns="0" rtlCol="0">
            <a:spAutoFit/>
          </a:bodyPr>
          <a:lstStyle/>
          <a:p>
            <a:r>
              <a:rPr lang="en-US" sz="850">
                <a:solidFill>
                  <a:srgbClr val="66536E"/>
                </a:solidFill>
                <a:latin typeface="Aptos" panose="020B0004020202020204" pitchFamily="34" charset="0"/>
              </a:rPr>
              <a:t>This bottleneck must be supported in the platform.</a:t>
            </a:r>
          </a:p>
        </p:txBody>
      </p:sp>
      <p:sp>
        <p:nvSpPr>
          <p:cNvPr id="23" name="Rectangle 22">
            <a:extLst>
              <a:ext uri="{FF2B5EF4-FFF2-40B4-BE49-F238E27FC236}">
                <a16:creationId xmlns:a16="http://schemas.microsoft.com/office/drawing/2014/main" id="{A283D291-F214-7DEF-46B7-61B756F7962C}"/>
              </a:ext>
            </a:extLst>
          </p:cNvPr>
          <p:cNvSpPr/>
          <p:nvPr/>
        </p:nvSpPr>
        <p:spPr>
          <a:xfrm>
            <a:off x="6350000" y="3530600"/>
            <a:ext cx="3810000" cy="5715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ZoneTexte 23">
            <a:extLst>
              <a:ext uri="{FF2B5EF4-FFF2-40B4-BE49-F238E27FC236}">
                <a16:creationId xmlns:a16="http://schemas.microsoft.com/office/drawing/2014/main" id="{431B1C11-7F35-90E5-F99C-A508D831FAEB}"/>
              </a:ext>
            </a:extLst>
          </p:cNvPr>
          <p:cNvSpPr txBox="1"/>
          <p:nvPr/>
        </p:nvSpPr>
        <p:spPr>
          <a:xfrm>
            <a:off x="6629400" y="3657600"/>
            <a:ext cx="1651000" cy="184666"/>
          </a:xfrm>
          <a:prstGeom prst="rect">
            <a:avLst/>
          </a:prstGeom>
          <a:noFill/>
        </p:spPr>
        <p:txBody>
          <a:bodyPr vert="horz" lIns="0" tIns="0" rIns="0" bIns="0" rtlCol="0">
            <a:spAutoFit/>
          </a:bodyPr>
          <a:lstStyle/>
          <a:p>
            <a:r>
              <a:rPr lang="en-US" sz="1200" b="1">
                <a:solidFill>
                  <a:srgbClr val="147D64"/>
                </a:solidFill>
                <a:latin typeface="Aptos" panose="020B0004020202020204" pitchFamily="34" charset="0"/>
              </a:rPr>
              <a:t>Originality signal</a:t>
            </a:r>
          </a:p>
        </p:txBody>
      </p:sp>
      <p:sp>
        <p:nvSpPr>
          <p:cNvPr id="25" name="ZoneTexte 24">
            <a:extLst>
              <a:ext uri="{FF2B5EF4-FFF2-40B4-BE49-F238E27FC236}">
                <a16:creationId xmlns:a16="http://schemas.microsoft.com/office/drawing/2014/main" id="{69455ED4-2955-07D7-47A1-5915CA4677A3}"/>
              </a:ext>
            </a:extLst>
          </p:cNvPr>
          <p:cNvSpPr txBox="1"/>
          <p:nvPr/>
        </p:nvSpPr>
        <p:spPr>
          <a:xfrm>
            <a:off x="8445500" y="3657600"/>
            <a:ext cx="1397000" cy="261610"/>
          </a:xfrm>
          <a:prstGeom prst="rect">
            <a:avLst/>
          </a:prstGeom>
          <a:noFill/>
        </p:spPr>
        <p:txBody>
          <a:bodyPr vert="horz" lIns="0" tIns="0" rIns="0" bIns="0" rtlCol="0">
            <a:spAutoFit/>
          </a:bodyPr>
          <a:lstStyle/>
          <a:p>
            <a:r>
              <a:rPr lang="en-US" sz="850">
                <a:solidFill>
                  <a:srgbClr val="66536E"/>
                </a:solidFill>
                <a:latin typeface="Aptos" panose="020B0004020202020204" pitchFamily="34" charset="0"/>
              </a:rPr>
              <a:t>This bottleneck must be supported in the platform.</a:t>
            </a:r>
          </a:p>
        </p:txBody>
      </p:sp>
      <p:sp>
        <p:nvSpPr>
          <p:cNvPr id="26" name="Rectangle 25">
            <a:extLst>
              <a:ext uri="{FF2B5EF4-FFF2-40B4-BE49-F238E27FC236}">
                <a16:creationId xmlns:a16="http://schemas.microsoft.com/office/drawing/2014/main" id="{CD021F08-B200-5988-22B4-FA924B06A1C4}"/>
              </a:ext>
            </a:extLst>
          </p:cNvPr>
          <p:cNvSpPr/>
          <p:nvPr/>
        </p:nvSpPr>
        <p:spPr>
          <a:xfrm>
            <a:off x="6350000" y="4394200"/>
            <a:ext cx="3810000" cy="5715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ZoneTexte 26">
            <a:extLst>
              <a:ext uri="{FF2B5EF4-FFF2-40B4-BE49-F238E27FC236}">
                <a16:creationId xmlns:a16="http://schemas.microsoft.com/office/drawing/2014/main" id="{535DD240-A54A-95EF-934F-1521C8050F22}"/>
              </a:ext>
            </a:extLst>
          </p:cNvPr>
          <p:cNvSpPr txBox="1"/>
          <p:nvPr/>
        </p:nvSpPr>
        <p:spPr>
          <a:xfrm>
            <a:off x="6629400" y="4521200"/>
            <a:ext cx="1651000" cy="184666"/>
          </a:xfrm>
          <a:prstGeom prst="rect">
            <a:avLst/>
          </a:prstGeom>
          <a:noFill/>
        </p:spPr>
        <p:txBody>
          <a:bodyPr vert="horz" lIns="0" tIns="0" rIns="0" bIns="0" rtlCol="0">
            <a:spAutoFit/>
          </a:bodyPr>
          <a:lstStyle/>
          <a:p>
            <a:r>
              <a:rPr lang="en-US" sz="1200" b="1">
                <a:solidFill>
                  <a:srgbClr val="147D64"/>
                </a:solidFill>
                <a:latin typeface="Aptos" panose="020B0004020202020204" pitchFamily="34" charset="0"/>
              </a:rPr>
              <a:t>Review preparation</a:t>
            </a:r>
          </a:p>
        </p:txBody>
      </p:sp>
      <p:sp>
        <p:nvSpPr>
          <p:cNvPr id="28" name="ZoneTexte 27">
            <a:extLst>
              <a:ext uri="{FF2B5EF4-FFF2-40B4-BE49-F238E27FC236}">
                <a16:creationId xmlns:a16="http://schemas.microsoft.com/office/drawing/2014/main" id="{83480B88-80B7-418C-61DA-F4981834EF2C}"/>
              </a:ext>
            </a:extLst>
          </p:cNvPr>
          <p:cNvSpPr txBox="1"/>
          <p:nvPr/>
        </p:nvSpPr>
        <p:spPr>
          <a:xfrm>
            <a:off x="8445500" y="4521200"/>
            <a:ext cx="1397000" cy="261610"/>
          </a:xfrm>
          <a:prstGeom prst="rect">
            <a:avLst/>
          </a:prstGeom>
          <a:noFill/>
        </p:spPr>
        <p:txBody>
          <a:bodyPr vert="horz" lIns="0" tIns="0" rIns="0" bIns="0" rtlCol="0">
            <a:spAutoFit/>
          </a:bodyPr>
          <a:lstStyle/>
          <a:p>
            <a:r>
              <a:rPr lang="en-US" sz="850">
                <a:solidFill>
                  <a:srgbClr val="66536E"/>
                </a:solidFill>
                <a:latin typeface="Aptos" panose="020B0004020202020204" pitchFamily="34" charset="0"/>
              </a:rPr>
              <a:t>This bottleneck must be supported in the platform.</a:t>
            </a:r>
          </a:p>
        </p:txBody>
      </p:sp>
    </p:spTree>
    <p:extLst>
      <p:ext uri="{BB962C8B-B14F-4D97-AF65-F5344CB8AC3E}">
        <p14:creationId xmlns:p14="http://schemas.microsoft.com/office/powerpoint/2010/main" val="2075892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520CB9-9DC0-1087-BCBE-F43FE1481F18}"/>
              </a:ext>
            </a:extLst>
          </p:cNvPr>
          <p:cNvSpPr/>
          <p:nvPr/>
        </p:nvSpPr>
        <p:spPr>
          <a:xfrm>
            <a:off x="0" y="0"/>
            <a:ext cx="12192000" cy="50800"/>
          </a:xfrm>
          <a:prstGeom prst="rect">
            <a:avLst/>
          </a:prstGeom>
          <a:solidFill>
            <a:srgbClr val="E1E7E2"/>
          </a:solidFill>
          <a:ln w="9525">
            <a:solidFill>
              <a:srgbClr val="E1E7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2993249-136A-F747-F691-0A977E188973}"/>
              </a:ext>
            </a:extLst>
          </p:cNvPr>
          <p:cNvSpPr/>
          <p:nvPr/>
        </p:nvSpPr>
        <p:spPr>
          <a:xfrm>
            <a:off x="0" y="0"/>
            <a:ext cx="4686300" cy="508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AC708AE-AD44-8F67-6EAA-749AD4C8330B}"/>
              </a:ext>
            </a:extLst>
          </p:cNvPr>
          <p:cNvSpPr/>
          <p:nvPr/>
        </p:nvSpPr>
        <p:spPr>
          <a:xfrm>
            <a:off x="457200" y="317500"/>
            <a:ext cx="76200" cy="762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059A47F5-F6EE-C8ED-35EB-3EC373747216}"/>
              </a:ext>
            </a:extLst>
          </p:cNvPr>
          <p:cNvSpPr txBox="1"/>
          <p:nvPr/>
        </p:nvSpPr>
        <p:spPr>
          <a:xfrm>
            <a:off x="635000" y="279400"/>
            <a:ext cx="3048000" cy="115416"/>
          </a:xfrm>
          <a:prstGeom prst="rect">
            <a:avLst/>
          </a:prstGeom>
          <a:noFill/>
        </p:spPr>
        <p:txBody>
          <a:bodyPr vert="horz" lIns="0" tIns="0" rIns="0" bIns="0" rtlCol="0">
            <a:spAutoFit/>
          </a:bodyPr>
          <a:lstStyle/>
          <a:p>
            <a:r>
              <a:rPr lang="en-US" sz="750" b="1">
                <a:solidFill>
                  <a:srgbClr val="66536E"/>
                </a:solidFill>
                <a:latin typeface="Aptos" panose="020B0004020202020204" pitchFamily="34" charset="0"/>
              </a:rPr>
              <a:t>SOLUTION</a:t>
            </a:r>
          </a:p>
        </p:txBody>
      </p:sp>
      <p:sp>
        <p:nvSpPr>
          <p:cNvPr id="6" name="Rectangle 5">
            <a:extLst>
              <a:ext uri="{FF2B5EF4-FFF2-40B4-BE49-F238E27FC236}">
                <a16:creationId xmlns:a16="http://schemas.microsoft.com/office/drawing/2014/main" id="{FDD197BB-A26F-F278-6C4F-B34E91EF0C00}"/>
              </a:ext>
            </a:extLst>
          </p:cNvPr>
          <p:cNvSpPr/>
          <p:nvPr/>
        </p:nvSpPr>
        <p:spPr>
          <a:xfrm>
            <a:off x="457200" y="6426200"/>
            <a:ext cx="10287000" cy="12700"/>
          </a:xfrm>
          <a:prstGeom prst="rect">
            <a:avLst/>
          </a:prstGeom>
          <a:solidFill>
            <a:srgbClr val="C0CDC8"/>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EBD81937-9C2C-E0F1-86B7-CE67D5CA9793}"/>
              </a:ext>
            </a:extLst>
          </p:cNvPr>
          <p:cNvSpPr txBox="1"/>
          <p:nvPr/>
        </p:nvSpPr>
        <p:spPr>
          <a:xfrm>
            <a:off x="10896600" y="6286500"/>
            <a:ext cx="762000" cy="138499"/>
          </a:xfrm>
          <a:prstGeom prst="rect">
            <a:avLst/>
          </a:prstGeom>
          <a:noFill/>
        </p:spPr>
        <p:txBody>
          <a:bodyPr vert="horz" lIns="0" tIns="0" rIns="0" bIns="0" rtlCol="0">
            <a:spAutoFit/>
          </a:bodyPr>
          <a:lstStyle/>
          <a:p>
            <a:pPr algn="r"/>
            <a:r>
              <a:rPr lang="en-US" sz="900" b="1">
                <a:solidFill>
                  <a:srgbClr val="66536E"/>
                </a:solidFill>
                <a:latin typeface="Aptos" panose="020B0004020202020204" pitchFamily="34" charset="0"/>
              </a:rPr>
              <a:t>5/13</a:t>
            </a:r>
          </a:p>
        </p:txBody>
      </p:sp>
      <p:sp>
        <p:nvSpPr>
          <p:cNvPr id="8" name="ZoneTexte 7">
            <a:extLst>
              <a:ext uri="{FF2B5EF4-FFF2-40B4-BE49-F238E27FC236}">
                <a16:creationId xmlns:a16="http://schemas.microsoft.com/office/drawing/2014/main" id="{59A376E9-2974-A214-5530-A32A92E5B260}"/>
              </a:ext>
            </a:extLst>
          </p:cNvPr>
          <p:cNvSpPr txBox="1"/>
          <p:nvPr/>
        </p:nvSpPr>
        <p:spPr>
          <a:xfrm>
            <a:off x="457200" y="635000"/>
            <a:ext cx="7747000" cy="707886"/>
          </a:xfrm>
          <a:prstGeom prst="rect">
            <a:avLst/>
          </a:prstGeom>
          <a:noFill/>
        </p:spPr>
        <p:txBody>
          <a:bodyPr vert="horz" lIns="0" tIns="0" rIns="0" bIns="0" rtlCol="0">
            <a:spAutoFit/>
          </a:bodyPr>
          <a:lstStyle/>
          <a:p>
            <a:r>
              <a:rPr lang="en-US" sz="2300" b="1">
                <a:solidFill>
                  <a:srgbClr val="16201E"/>
                </a:solidFill>
                <a:latin typeface="Georgia" panose="02040502050405020303" pitchFamily="18" charset="0"/>
              </a:rPr>
              <a:t>The Proposed Solution Automates the Workflow, Not the Judgment</a:t>
            </a:r>
          </a:p>
        </p:txBody>
      </p:sp>
      <p:sp>
        <p:nvSpPr>
          <p:cNvPr id="9" name="Rectangle 8">
            <a:extLst>
              <a:ext uri="{FF2B5EF4-FFF2-40B4-BE49-F238E27FC236}">
                <a16:creationId xmlns:a16="http://schemas.microsoft.com/office/drawing/2014/main" id="{99965013-C481-C4C9-147A-D39A8E404259}"/>
              </a:ext>
            </a:extLst>
          </p:cNvPr>
          <p:cNvSpPr/>
          <p:nvPr/>
        </p:nvSpPr>
        <p:spPr>
          <a:xfrm>
            <a:off x="635000" y="19304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459282F3-6056-B9FE-D1F4-933B7EF251A8}"/>
              </a:ext>
            </a:extLst>
          </p:cNvPr>
          <p:cNvSpPr txBox="1"/>
          <p:nvPr/>
        </p:nvSpPr>
        <p:spPr>
          <a:xfrm>
            <a:off x="863600" y="18415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Upload PDF and extract metadata with GROBID</a:t>
            </a:r>
          </a:p>
        </p:txBody>
      </p:sp>
      <p:sp>
        <p:nvSpPr>
          <p:cNvPr id="11" name="Rectangle 10">
            <a:extLst>
              <a:ext uri="{FF2B5EF4-FFF2-40B4-BE49-F238E27FC236}">
                <a16:creationId xmlns:a16="http://schemas.microsoft.com/office/drawing/2014/main" id="{DEE2DEAF-80C0-A7F4-9285-FD8C26B97A1F}"/>
              </a:ext>
            </a:extLst>
          </p:cNvPr>
          <p:cNvSpPr/>
          <p:nvPr/>
        </p:nvSpPr>
        <p:spPr>
          <a:xfrm>
            <a:off x="635000" y="24003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ZoneTexte 11">
            <a:extLst>
              <a:ext uri="{FF2B5EF4-FFF2-40B4-BE49-F238E27FC236}">
                <a16:creationId xmlns:a16="http://schemas.microsoft.com/office/drawing/2014/main" id="{A736F8AF-5663-6ACD-2279-B42D77D3201B}"/>
              </a:ext>
            </a:extLst>
          </p:cNvPr>
          <p:cNvSpPr txBox="1"/>
          <p:nvPr/>
        </p:nvSpPr>
        <p:spPr>
          <a:xfrm>
            <a:off x="863600" y="23114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Researcher corrects metadata before submission</a:t>
            </a:r>
          </a:p>
        </p:txBody>
      </p:sp>
      <p:sp>
        <p:nvSpPr>
          <p:cNvPr id="13" name="Rectangle 12">
            <a:extLst>
              <a:ext uri="{FF2B5EF4-FFF2-40B4-BE49-F238E27FC236}">
                <a16:creationId xmlns:a16="http://schemas.microsoft.com/office/drawing/2014/main" id="{88F85F1E-62EF-9194-FFBA-13E8AF4FA57A}"/>
              </a:ext>
            </a:extLst>
          </p:cNvPr>
          <p:cNvSpPr/>
          <p:nvPr/>
        </p:nvSpPr>
        <p:spPr>
          <a:xfrm>
            <a:off x="635000" y="28702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ZoneTexte 13">
            <a:extLst>
              <a:ext uri="{FF2B5EF4-FFF2-40B4-BE49-F238E27FC236}">
                <a16:creationId xmlns:a16="http://schemas.microsoft.com/office/drawing/2014/main" id="{FA234E69-7AE2-694A-57E9-C538E079DE0D}"/>
              </a:ext>
            </a:extLst>
          </p:cNvPr>
          <p:cNvSpPr txBox="1"/>
          <p:nvPr/>
        </p:nvSpPr>
        <p:spPr>
          <a:xfrm>
            <a:off x="863600" y="27813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Local embeddings support search and matching</a:t>
            </a:r>
          </a:p>
        </p:txBody>
      </p:sp>
      <p:sp>
        <p:nvSpPr>
          <p:cNvPr id="15" name="Rectangle 14">
            <a:extLst>
              <a:ext uri="{FF2B5EF4-FFF2-40B4-BE49-F238E27FC236}">
                <a16:creationId xmlns:a16="http://schemas.microsoft.com/office/drawing/2014/main" id="{10D876FD-DC24-08AF-C7B5-0D79861359D8}"/>
              </a:ext>
            </a:extLst>
          </p:cNvPr>
          <p:cNvSpPr/>
          <p:nvPr/>
        </p:nvSpPr>
        <p:spPr>
          <a:xfrm>
            <a:off x="635000" y="33401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ZoneTexte 15">
            <a:extLst>
              <a:ext uri="{FF2B5EF4-FFF2-40B4-BE49-F238E27FC236}">
                <a16:creationId xmlns:a16="http://schemas.microsoft.com/office/drawing/2014/main" id="{C3225BF5-D13A-29D8-D525-A33E5192A961}"/>
              </a:ext>
            </a:extLst>
          </p:cNvPr>
          <p:cNvSpPr txBox="1"/>
          <p:nvPr/>
        </p:nvSpPr>
        <p:spPr>
          <a:xfrm>
            <a:off x="863600" y="32512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Reviewer receives summary, similarity report, chatbot</a:t>
            </a:r>
          </a:p>
        </p:txBody>
      </p:sp>
      <p:sp>
        <p:nvSpPr>
          <p:cNvPr id="17" name="Rectangle 16">
            <a:extLst>
              <a:ext uri="{FF2B5EF4-FFF2-40B4-BE49-F238E27FC236}">
                <a16:creationId xmlns:a16="http://schemas.microsoft.com/office/drawing/2014/main" id="{F4BB7A48-9DB0-7C45-D0E2-A6B28C436F5D}"/>
              </a:ext>
            </a:extLst>
          </p:cNvPr>
          <p:cNvSpPr/>
          <p:nvPr/>
        </p:nvSpPr>
        <p:spPr>
          <a:xfrm>
            <a:off x="635000" y="38100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ZoneTexte 17">
            <a:extLst>
              <a:ext uri="{FF2B5EF4-FFF2-40B4-BE49-F238E27FC236}">
                <a16:creationId xmlns:a16="http://schemas.microsoft.com/office/drawing/2014/main" id="{1E50C368-E7A6-705D-AF42-0D02A49B47EF}"/>
              </a:ext>
            </a:extLst>
          </p:cNvPr>
          <p:cNvSpPr txBox="1"/>
          <p:nvPr/>
        </p:nvSpPr>
        <p:spPr>
          <a:xfrm>
            <a:off x="863600" y="37211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Admin validates assignment and final decision</a:t>
            </a:r>
          </a:p>
        </p:txBody>
      </p:sp>
      <p:sp>
        <p:nvSpPr>
          <p:cNvPr id="19" name="Rectangle 18">
            <a:extLst>
              <a:ext uri="{FF2B5EF4-FFF2-40B4-BE49-F238E27FC236}">
                <a16:creationId xmlns:a16="http://schemas.microsoft.com/office/drawing/2014/main" id="{6E03C118-1A99-266B-BAB7-04A0598DFF95}"/>
              </a:ext>
            </a:extLst>
          </p:cNvPr>
          <p:cNvSpPr/>
          <p:nvPr/>
        </p:nvSpPr>
        <p:spPr>
          <a:xfrm>
            <a:off x="5905500" y="1841500"/>
            <a:ext cx="522288" cy="635000"/>
          </a:xfrm>
          <a:prstGeom prst="rect">
            <a:avLst/>
          </a:prstGeom>
          <a:solidFill>
            <a:srgbClr val="EAF1EC"/>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ZoneTexte 19">
            <a:extLst>
              <a:ext uri="{FF2B5EF4-FFF2-40B4-BE49-F238E27FC236}">
                <a16:creationId xmlns:a16="http://schemas.microsoft.com/office/drawing/2014/main" id="{EFB9B7EB-478C-39E6-F035-CCEF4D053737}"/>
              </a:ext>
            </a:extLst>
          </p:cNvPr>
          <p:cNvSpPr txBox="1"/>
          <p:nvPr/>
        </p:nvSpPr>
        <p:spPr>
          <a:xfrm>
            <a:off x="6007100" y="1943100"/>
            <a:ext cx="355600" cy="130805"/>
          </a:xfrm>
          <a:prstGeom prst="rect">
            <a:avLst/>
          </a:prstGeom>
          <a:noFill/>
        </p:spPr>
        <p:txBody>
          <a:bodyPr vert="horz" lIns="0" tIns="0" rIns="0" bIns="0" rtlCol="0">
            <a:spAutoFit/>
          </a:bodyPr>
          <a:lstStyle/>
          <a:p>
            <a:r>
              <a:rPr lang="en-US" sz="850" b="1">
                <a:solidFill>
                  <a:srgbClr val="147D64"/>
                </a:solidFill>
                <a:latin typeface="Aptos" panose="020B0004020202020204" pitchFamily="34" charset="0"/>
              </a:rPr>
              <a:t>01</a:t>
            </a:r>
          </a:p>
        </p:txBody>
      </p:sp>
      <p:sp>
        <p:nvSpPr>
          <p:cNvPr id="21" name="ZoneTexte 20">
            <a:extLst>
              <a:ext uri="{FF2B5EF4-FFF2-40B4-BE49-F238E27FC236}">
                <a16:creationId xmlns:a16="http://schemas.microsoft.com/office/drawing/2014/main" id="{F78E085C-EE49-B4E1-AB35-5350D2547334}"/>
              </a:ext>
            </a:extLst>
          </p:cNvPr>
          <p:cNvSpPr txBox="1"/>
          <p:nvPr/>
        </p:nvSpPr>
        <p:spPr>
          <a:xfrm>
            <a:off x="6007100" y="2146300"/>
            <a:ext cx="319088" cy="236988"/>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Upload PDF</a:t>
            </a:r>
          </a:p>
        </p:txBody>
      </p:sp>
      <p:sp>
        <p:nvSpPr>
          <p:cNvPr id="22" name="Rectangle 21">
            <a:extLst>
              <a:ext uri="{FF2B5EF4-FFF2-40B4-BE49-F238E27FC236}">
                <a16:creationId xmlns:a16="http://schemas.microsoft.com/office/drawing/2014/main" id="{232A564E-ADEE-A1A3-B35D-28EDD64F7A9E}"/>
              </a:ext>
            </a:extLst>
          </p:cNvPr>
          <p:cNvSpPr/>
          <p:nvPr/>
        </p:nvSpPr>
        <p:spPr>
          <a:xfrm>
            <a:off x="6427788" y="21463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367BCB3-5F25-E315-5B53-3996F6AFE15D}"/>
              </a:ext>
            </a:extLst>
          </p:cNvPr>
          <p:cNvSpPr/>
          <p:nvPr/>
        </p:nvSpPr>
        <p:spPr>
          <a:xfrm>
            <a:off x="6580188" y="1841500"/>
            <a:ext cx="522287" cy="635000"/>
          </a:xfrm>
          <a:prstGeom prst="rect">
            <a:avLst/>
          </a:prstGeom>
          <a:solidFill>
            <a:srgbClr val="E7EEF6"/>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ZoneTexte 23">
            <a:extLst>
              <a:ext uri="{FF2B5EF4-FFF2-40B4-BE49-F238E27FC236}">
                <a16:creationId xmlns:a16="http://schemas.microsoft.com/office/drawing/2014/main" id="{0AD27C69-EBA6-3778-6FD2-6AFCFFF5B12D}"/>
              </a:ext>
            </a:extLst>
          </p:cNvPr>
          <p:cNvSpPr txBox="1"/>
          <p:nvPr/>
        </p:nvSpPr>
        <p:spPr>
          <a:xfrm>
            <a:off x="6681788" y="1943100"/>
            <a:ext cx="355600" cy="130805"/>
          </a:xfrm>
          <a:prstGeom prst="rect">
            <a:avLst/>
          </a:prstGeom>
          <a:noFill/>
        </p:spPr>
        <p:txBody>
          <a:bodyPr vert="horz" lIns="0" tIns="0" rIns="0" bIns="0" rtlCol="0">
            <a:spAutoFit/>
          </a:bodyPr>
          <a:lstStyle/>
          <a:p>
            <a:r>
              <a:rPr lang="en-US" sz="850" b="1">
                <a:solidFill>
                  <a:srgbClr val="315E8A"/>
                </a:solidFill>
                <a:latin typeface="Aptos" panose="020B0004020202020204" pitchFamily="34" charset="0"/>
              </a:rPr>
              <a:t>02</a:t>
            </a:r>
          </a:p>
        </p:txBody>
      </p:sp>
      <p:sp>
        <p:nvSpPr>
          <p:cNvPr id="25" name="ZoneTexte 24">
            <a:extLst>
              <a:ext uri="{FF2B5EF4-FFF2-40B4-BE49-F238E27FC236}">
                <a16:creationId xmlns:a16="http://schemas.microsoft.com/office/drawing/2014/main" id="{76F51B2A-9570-F660-3883-C36671C6DC69}"/>
              </a:ext>
            </a:extLst>
          </p:cNvPr>
          <p:cNvSpPr txBox="1"/>
          <p:nvPr/>
        </p:nvSpPr>
        <p:spPr>
          <a:xfrm>
            <a:off x="6681788" y="2146300"/>
            <a:ext cx="319088" cy="236988"/>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GROBID</a:t>
            </a:r>
          </a:p>
        </p:txBody>
      </p:sp>
      <p:sp>
        <p:nvSpPr>
          <p:cNvPr id="26" name="Rectangle 25">
            <a:extLst>
              <a:ext uri="{FF2B5EF4-FFF2-40B4-BE49-F238E27FC236}">
                <a16:creationId xmlns:a16="http://schemas.microsoft.com/office/drawing/2014/main" id="{AAC10B9D-2569-EB93-C90F-FE60C30AECBD}"/>
              </a:ext>
            </a:extLst>
          </p:cNvPr>
          <p:cNvSpPr/>
          <p:nvPr/>
        </p:nvSpPr>
        <p:spPr>
          <a:xfrm>
            <a:off x="7102475" y="21463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BCC2BE1-49FF-6A9F-B69E-49E03E87F208}"/>
              </a:ext>
            </a:extLst>
          </p:cNvPr>
          <p:cNvSpPr/>
          <p:nvPr/>
        </p:nvSpPr>
        <p:spPr>
          <a:xfrm>
            <a:off x="7254875" y="1841500"/>
            <a:ext cx="522288" cy="635000"/>
          </a:xfrm>
          <a:prstGeom prst="rect">
            <a:avLst/>
          </a:prstGeom>
          <a:solidFill>
            <a:srgbClr val="EAF1EC"/>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ZoneTexte 27">
            <a:extLst>
              <a:ext uri="{FF2B5EF4-FFF2-40B4-BE49-F238E27FC236}">
                <a16:creationId xmlns:a16="http://schemas.microsoft.com/office/drawing/2014/main" id="{611EB0F9-8F8A-3A09-15D6-1756DF0BF130}"/>
              </a:ext>
            </a:extLst>
          </p:cNvPr>
          <p:cNvSpPr txBox="1"/>
          <p:nvPr/>
        </p:nvSpPr>
        <p:spPr>
          <a:xfrm>
            <a:off x="7356475" y="1943100"/>
            <a:ext cx="355600" cy="130805"/>
          </a:xfrm>
          <a:prstGeom prst="rect">
            <a:avLst/>
          </a:prstGeom>
          <a:noFill/>
        </p:spPr>
        <p:txBody>
          <a:bodyPr vert="horz" lIns="0" tIns="0" rIns="0" bIns="0" rtlCol="0">
            <a:spAutoFit/>
          </a:bodyPr>
          <a:lstStyle/>
          <a:p>
            <a:r>
              <a:rPr lang="en-US" sz="850" b="1">
                <a:solidFill>
                  <a:srgbClr val="147D64"/>
                </a:solidFill>
                <a:latin typeface="Aptos" panose="020B0004020202020204" pitchFamily="34" charset="0"/>
              </a:rPr>
              <a:t>03</a:t>
            </a:r>
          </a:p>
        </p:txBody>
      </p:sp>
      <p:sp>
        <p:nvSpPr>
          <p:cNvPr id="29" name="ZoneTexte 28">
            <a:extLst>
              <a:ext uri="{FF2B5EF4-FFF2-40B4-BE49-F238E27FC236}">
                <a16:creationId xmlns:a16="http://schemas.microsoft.com/office/drawing/2014/main" id="{508E7813-81FE-8EA7-D527-B6487FA77A91}"/>
              </a:ext>
            </a:extLst>
          </p:cNvPr>
          <p:cNvSpPr txBox="1"/>
          <p:nvPr/>
        </p:nvSpPr>
        <p:spPr>
          <a:xfrm>
            <a:off x="7356475" y="2146300"/>
            <a:ext cx="319088" cy="236988"/>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Correction</a:t>
            </a:r>
          </a:p>
        </p:txBody>
      </p:sp>
      <p:sp>
        <p:nvSpPr>
          <p:cNvPr id="30" name="Rectangle 29">
            <a:extLst>
              <a:ext uri="{FF2B5EF4-FFF2-40B4-BE49-F238E27FC236}">
                <a16:creationId xmlns:a16="http://schemas.microsoft.com/office/drawing/2014/main" id="{99A3F842-0C35-E131-6F9D-0C0EDCE85230}"/>
              </a:ext>
            </a:extLst>
          </p:cNvPr>
          <p:cNvSpPr/>
          <p:nvPr/>
        </p:nvSpPr>
        <p:spPr>
          <a:xfrm>
            <a:off x="7777163" y="21463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86ECAE3-D285-88A7-687B-532D8F842688}"/>
              </a:ext>
            </a:extLst>
          </p:cNvPr>
          <p:cNvSpPr/>
          <p:nvPr/>
        </p:nvSpPr>
        <p:spPr>
          <a:xfrm>
            <a:off x="7929563" y="1841500"/>
            <a:ext cx="522287" cy="635000"/>
          </a:xfrm>
          <a:prstGeom prst="rect">
            <a:avLst/>
          </a:prstGeom>
          <a:solidFill>
            <a:srgbClr val="E7EEF6"/>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ZoneTexte 31">
            <a:extLst>
              <a:ext uri="{FF2B5EF4-FFF2-40B4-BE49-F238E27FC236}">
                <a16:creationId xmlns:a16="http://schemas.microsoft.com/office/drawing/2014/main" id="{B0EDE6D9-4117-D6F4-1B08-D6FD1E97B7BD}"/>
              </a:ext>
            </a:extLst>
          </p:cNvPr>
          <p:cNvSpPr txBox="1"/>
          <p:nvPr/>
        </p:nvSpPr>
        <p:spPr>
          <a:xfrm>
            <a:off x="8031163" y="1943100"/>
            <a:ext cx="355600" cy="130805"/>
          </a:xfrm>
          <a:prstGeom prst="rect">
            <a:avLst/>
          </a:prstGeom>
          <a:noFill/>
        </p:spPr>
        <p:txBody>
          <a:bodyPr vert="horz" lIns="0" tIns="0" rIns="0" bIns="0" rtlCol="0">
            <a:spAutoFit/>
          </a:bodyPr>
          <a:lstStyle/>
          <a:p>
            <a:r>
              <a:rPr lang="en-US" sz="850" b="1">
                <a:solidFill>
                  <a:srgbClr val="315E8A"/>
                </a:solidFill>
                <a:latin typeface="Aptos" panose="020B0004020202020204" pitchFamily="34" charset="0"/>
              </a:rPr>
              <a:t>04</a:t>
            </a:r>
          </a:p>
        </p:txBody>
      </p:sp>
      <p:sp>
        <p:nvSpPr>
          <p:cNvPr id="33" name="ZoneTexte 32">
            <a:extLst>
              <a:ext uri="{FF2B5EF4-FFF2-40B4-BE49-F238E27FC236}">
                <a16:creationId xmlns:a16="http://schemas.microsoft.com/office/drawing/2014/main" id="{3E7C4C9B-EB1B-39DF-9BD8-033567B60CC5}"/>
              </a:ext>
            </a:extLst>
          </p:cNvPr>
          <p:cNvSpPr txBox="1"/>
          <p:nvPr/>
        </p:nvSpPr>
        <p:spPr>
          <a:xfrm>
            <a:off x="8031163" y="2146300"/>
            <a:ext cx="319088"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Submit</a:t>
            </a:r>
          </a:p>
        </p:txBody>
      </p:sp>
      <p:sp>
        <p:nvSpPr>
          <p:cNvPr id="34" name="Rectangle 33">
            <a:extLst>
              <a:ext uri="{FF2B5EF4-FFF2-40B4-BE49-F238E27FC236}">
                <a16:creationId xmlns:a16="http://schemas.microsoft.com/office/drawing/2014/main" id="{208E9BCF-FB17-6707-4794-406D610D9401}"/>
              </a:ext>
            </a:extLst>
          </p:cNvPr>
          <p:cNvSpPr/>
          <p:nvPr/>
        </p:nvSpPr>
        <p:spPr>
          <a:xfrm>
            <a:off x="8451850" y="21463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98799BCE-113C-6AA4-BB1A-B380075748D2}"/>
              </a:ext>
            </a:extLst>
          </p:cNvPr>
          <p:cNvSpPr/>
          <p:nvPr/>
        </p:nvSpPr>
        <p:spPr>
          <a:xfrm>
            <a:off x="8604250" y="1841500"/>
            <a:ext cx="522288" cy="635000"/>
          </a:xfrm>
          <a:prstGeom prst="rect">
            <a:avLst/>
          </a:prstGeom>
          <a:solidFill>
            <a:srgbClr val="EAF1EC"/>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ZoneTexte 35">
            <a:extLst>
              <a:ext uri="{FF2B5EF4-FFF2-40B4-BE49-F238E27FC236}">
                <a16:creationId xmlns:a16="http://schemas.microsoft.com/office/drawing/2014/main" id="{37DB5D2F-16E5-77A6-FA91-780EBA6338C6}"/>
              </a:ext>
            </a:extLst>
          </p:cNvPr>
          <p:cNvSpPr txBox="1"/>
          <p:nvPr/>
        </p:nvSpPr>
        <p:spPr>
          <a:xfrm>
            <a:off x="8705850" y="1943100"/>
            <a:ext cx="355600" cy="130805"/>
          </a:xfrm>
          <a:prstGeom prst="rect">
            <a:avLst/>
          </a:prstGeom>
          <a:noFill/>
        </p:spPr>
        <p:txBody>
          <a:bodyPr vert="horz" lIns="0" tIns="0" rIns="0" bIns="0" rtlCol="0">
            <a:spAutoFit/>
          </a:bodyPr>
          <a:lstStyle/>
          <a:p>
            <a:r>
              <a:rPr lang="en-US" sz="850" b="1">
                <a:solidFill>
                  <a:srgbClr val="147D64"/>
                </a:solidFill>
                <a:latin typeface="Aptos" panose="020B0004020202020204" pitchFamily="34" charset="0"/>
              </a:rPr>
              <a:t>05</a:t>
            </a:r>
          </a:p>
        </p:txBody>
      </p:sp>
      <p:sp>
        <p:nvSpPr>
          <p:cNvPr id="37" name="ZoneTexte 36">
            <a:extLst>
              <a:ext uri="{FF2B5EF4-FFF2-40B4-BE49-F238E27FC236}">
                <a16:creationId xmlns:a16="http://schemas.microsoft.com/office/drawing/2014/main" id="{B5E8286F-F67B-DF8F-91B7-F03CB1F6434C}"/>
              </a:ext>
            </a:extLst>
          </p:cNvPr>
          <p:cNvSpPr txBox="1"/>
          <p:nvPr/>
        </p:nvSpPr>
        <p:spPr>
          <a:xfrm>
            <a:off x="8705850" y="2146300"/>
            <a:ext cx="319088" cy="236988"/>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Embedding</a:t>
            </a:r>
          </a:p>
        </p:txBody>
      </p:sp>
      <p:sp>
        <p:nvSpPr>
          <p:cNvPr id="38" name="Rectangle 37">
            <a:extLst>
              <a:ext uri="{FF2B5EF4-FFF2-40B4-BE49-F238E27FC236}">
                <a16:creationId xmlns:a16="http://schemas.microsoft.com/office/drawing/2014/main" id="{80A1A3A2-A4FD-5FE9-FF9D-818AE903687F}"/>
              </a:ext>
            </a:extLst>
          </p:cNvPr>
          <p:cNvSpPr/>
          <p:nvPr/>
        </p:nvSpPr>
        <p:spPr>
          <a:xfrm>
            <a:off x="9126538" y="21463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2D4305A6-C98A-FE1B-58EA-85FD612A8561}"/>
              </a:ext>
            </a:extLst>
          </p:cNvPr>
          <p:cNvSpPr/>
          <p:nvPr/>
        </p:nvSpPr>
        <p:spPr>
          <a:xfrm>
            <a:off x="9278938" y="1841500"/>
            <a:ext cx="522287" cy="635000"/>
          </a:xfrm>
          <a:prstGeom prst="rect">
            <a:avLst/>
          </a:prstGeom>
          <a:solidFill>
            <a:srgbClr val="E7EEF6"/>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ZoneTexte 39">
            <a:extLst>
              <a:ext uri="{FF2B5EF4-FFF2-40B4-BE49-F238E27FC236}">
                <a16:creationId xmlns:a16="http://schemas.microsoft.com/office/drawing/2014/main" id="{EC945477-630B-45B1-A731-F6CE5DFB16EE}"/>
              </a:ext>
            </a:extLst>
          </p:cNvPr>
          <p:cNvSpPr txBox="1"/>
          <p:nvPr/>
        </p:nvSpPr>
        <p:spPr>
          <a:xfrm>
            <a:off x="9380538" y="1943100"/>
            <a:ext cx="355600" cy="130805"/>
          </a:xfrm>
          <a:prstGeom prst="rect">
            <a:avLst/>
          </a:prstGeom>
          <a:noFill/>
        </p:spPr>
        <p:txBody>
          <a:bodyPr vert="horz" lIns="0" tIns="0" rIns="0" bIns="0" rtlCol="0">
            <a:spAutoFit/>
          </a:bodyPr>
          <a:lstStyle/>
          <a:p>
            <a:r>
              <a:rPr lang="en-US" sz="850" b="1">
                <a:solidFill>
                  <a:srgbClr val="315E8A"/>
                </a:solidFill>
                <a:latin typeface="Aptos" panose="020B0004020202020204" pitchFamily="34" charset="0"/>
              </a:rPr>
              <a:t>06</a:t>
            </a:r>
          </a:p>
        </p:txBody>
      </p:sp>
      <p:sp>
        <p:nvSpPr>
          <p:cNvPr id="41" name="ZoneTexte 40">
            <a:extLst>
              <a:ext uri="{FF2B5EF4-FFF2-40B4-BE49-F238E27FC236}">
                <a16:creationId xmlns:a16="http://schemas.microsoft.com/office/drawing/2014/main" id="{3D009032-0B3D-44EF-B409-EAB3686E5A5C}"/>
              </a:ext>
            </a:extLst>
          </p:cNvPr>
          <p:cNvSpPr txBox="1"/>
          <p:nvPr/>
        </p:nvSpPr>
        <p:spPr>
          <a:xfrm>
            <a:off x="9380538" y="2146300"/>
            <a:ext cx="319088" cy="236988"/>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Assignment</a:t>
            </a:r>
          </a:p>
        </p:txBody>
      </p:sp>
      <p:sp>
        <p:nvSpPr>
          <p:cNvPr id="42" name="Rectangle 41">
            <a:extLst>
              <a:ext uri="{FF2B5EF4-FFF2-40B4-BE49-F238E27FC236}">
                <a16:creationId xmlns:a16="http://schemas.microsoft.com/office/drawing/2014/main" id="{72EA429F-39B7-1206-5146-2E1AE94AEF19}"/>
              </a:ext>
            </a:extLst>
          </p:cNvPr>
          <p:cNvSpPr/>
          <p:nvPr/>
        </p:nvSpPr>
        <p:spPr>
          <a:xfrm>
            <a:off x="9801225" y="21463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0E940ED-10BE-2B3D-BB7E-208E015862BB}"/>
              </a:ext>
            </a:extLst>
          </p:cNvPr>
          <p:cNvSpPr/>
          <p:nvPr/>
        </p:nvSpPr>
        <p:spPr>
          <a:xfrm>
            <a:off x="9953625" y="1841500"/>
            <a:ext cx="522288" cy="635000"/>
          </a:xfrm>
          <a:prstGeom prst="rect">
            <a:avLst/>
          </a:prstGeom>
          <a:solidFill>
            <a:srgbClr val="EAF1EC"/>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ZoneTexte 43">
            <a:extLst>
              <a:ext uri="{FF2B5EF4-FFF2-40B4-BE49-F238E27FC236}">
                <a16:creationId xmlns:a16="http://schemas.microsoft.com/office/drawing/2014/main" id="{60CE3D1D-7609-5689-4E17-0158AEE8EFD7}"/>
              </a:ext>
            </a:extLst>
          </p:cNvPr>
          <p:cNvSpPr txBox="1"/>
          <p:nvPr/>
        </p:nvSpPr>
        <p:spPr>
          <a:xfrm>
            <a:off x="10055225" y="1943100"/>
            <a:ext cx="355600" cy="130805"/>
          </a:xfrm>
          <a:prstGeom prst="rect">
            <a:avLst/>
          </a:prstGeom>
          <a:noFill/>
        </p:spPr>
        <p:txBody>
          <a:bodyPr vert="horz" lIns="0" tIns="0" rIns="0" bIns="0" rtlCol="0">
            <a:spAutoFit/>
          </a:bodyPr>
          <a:lstStyle/>
          <a:p>
            <a:r>
              <a:rPr lang="en-US" sz="850" b="1">
                <a:solidFill>
                  <a:srgbClr val="147D64"/>
                </a:solidFill>
                <a:latin typeface="Aptos" panose="020B0004020202020204" pitchFamily="34" charset="0"/>
              </a:rPr>
              <a:t>07</a:t>
            </a:r>
          </a:p>
        </p:txBody>
      </p:sp>
      <p:sp>
        <p:nvSpPr>
          <p:cNvPr id="45" name="ZoneTexte 44">
            <a:extLst>
              <a:ext uri="{FF2B5EF4-FFF2-40B4-BE49-F238E27FC236}">
                <a16:creationId xmlns:a16="http://schemas.microsoft.com/office/drawing/2014/main" id="{1BDD3E08-8693-3CDE-251E-AF50C07C3644}"/>
              </a:ext>
            </a:extLst>
          </p:cNvPr>
          <p:cNvSpPr txBox="1"/>
          <p:nvPr/>
        </p:nvSpPr>
        <p:spPr>
          <a:xfrm>
            <a:off x="10055225" y="2146300"/>
            <a:ext cx="319088" cy="236988"/>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Review tools</a:t>
            </a:r>
          </a:p>
        </p:txBody>
      </p:sp>
      <p:sp>
        <p:nvSpPr>
          <p:cNvPr id="46" name="Rectangle 45">
            <a:extLst>
              <a:ext uri="{FF2B5EF4-FFF2-40B4-BE49-F238E27FC236}">
                <a16:creationId xmlns:a16="http://schemas.microsoft.com/office/drawing/2014/main" id="{3159093F-89FC-4B29-4B4D-3EEB419317F7}"/>
              </a:ext>
            </a:extLst>
          </p:cNvPr>
          <p:cNvSpPr/>
          <p:nvPr/>
        </p:nvSpPr>
        <p:spPr>
          <a:xfrm>
            <a:off x="10475913" y="21463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5547C8D6-A649-8D61-0444-FF35BCEE63A2}"/>
              </a:ext>
            </a:extLst>
          </p:cNvPr>
          <p:cNvSpPr/>
          <p:nvPr/>
        </p:nvSpPr>
        <p:spPr>
          <a:xfrm>
            <a:off x="10628313" y="1841500"/>
            <a:ext cx="522287" cy="635000"/>
          </a:xfrm>
          <a:prstGeom prst="rect">
            <a:avLst/>
          </a:prstGeom>
          <a:solidFill>
            <a:srgbClr val="E7EEF6"/>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ZoneTexte 47">
            <a:extLst>
              <a:ext uri="{FF2B5EF4-FFF2-40B4-BE49-F238E27FC236}">
                <a16:creationId xmlns:a16="http://schemas.microsoft.com/office/drawing/2014/main" id="{61945CDD-E1CB-3B56-3C3C-C61919425BA2}"/>
              </a:ext>
            </a:extLst>
          </p:cNvPr>
          <p:cNvSpPr txBox="1"/>
          <p:nvPr/>
        </p:nvSpPr>
        <p:spPr>
          <a:xfrm>
            <a:off x="10729913" y="1943100"/>
            <a:ext cx="355600" cy="130805"/>
          </a:xfrm>
          <a:prstGeom prst="rect">
            <a:avLst/>
          </a:prstGeom>
          <a:noFill/>
        </p:spPr>
        <p:txBody>
          <a:bodyPr vert="horz" lIns="0" tIns="0" rIns="0" bIns="0" rtlCol="0">
            <a:spAutoFit/>
          </a:bodyPr>
          <a:lstStyle/>
          <a:p>
            <a:r>
              <a:rPr lang="en-US" sz="850" b="1">
                <a:solidFill>
                  <a:srgbClr val="315E8A"/>
                </a:solidFill>
                <a:latin typeface="Aptos" panose="020B0004020202020204" pitchFamily="34" charset="0"/>
              </a:rPr>
              <a:t>08</a:t>
            </a:r>
          </a:p>
        </p:txBody>
      </p:sp>
      <p:sp>
        <p:nvSpPr>
          <p:cNvPr id="49" name="ZoneTexte 48">
            <a:extLst>
              <a:ext uri="{FF2B5EF4-FFF2-40B4-BE49-F238E27FC236}">
                <a16:creationId xmlns:a16="http://schemas.microsoft.com/office/drawing/2014/main" id="{4402BF69-B4EC-FDD6-0A7F-346AEE1FE476}"/>
              </a:ext>
            </a:extLst>
          </p:cNvPr>
          <p:cNvSpPr txBox="1"/>
          <p:nvPr/>
        </p:nvSpPr>
        <p:spPr>
          <a:xfrm>
            <a:off x="10729913" y="2146300"/>
            <a:ext cx="319088" cy="236988"/>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Decision</a:t>
            </a:r>
          </a:p>
        </p:txBody>
      </p:sp>
      <p:sp>
        <p:nvSpPr>
          <p:cNvPr id="50" name="Rectangle 49">
            <a:extLst>
              <a:ext uri="{FF2B5EF4-FFF2-40B4-BE49-F238E27FC236}">
                <a16:creationId xmlns:a16="http://schemas.microsoft.com/office/drawing/2014/main" id="{DAA68D18-F081-656F-C9B4-E120FF8E875A}"/>
              </a:ext>
            </a:extLst>
          </p:cNvPr>
          <p:cNvSpPr/>
          <p:nvPr/>
        </p:nvSpPr>
        <p:spPr>
          <a:xfrm>
            <a:off x="6286500" y="4000500"/>
            <a:ext cx="4064000" cy="787400"/>
          </a:xfrm>
          <a:prstGeom prst="rect">
            <a:avLst/>
          </a:prstGeom>
          <a:solidFill>
            <a:srgbClr val="10431F"/>
          </a:solidFill>
          <a:ln w="9525">
            <a:solidFill>
              <a:srgbClr val="1043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ZoneTexte 50">
            <a:extLst>
              <a:ext uri="{FF2B5EF4-FFF2-40B4-BE49-F238E27FC236}">
                <a16:creationId xmlns:a16="http://schemas.microsoft.com/office/drawing/2014/main" id="{092EF86F-68E7-B7D3-A50C-ECBBF42CCF2E}"/>
              </a:ext>
            </a:extLst>
          </p:cNvPr>
          <p:cNvSpPr txBox="1"/>
          <p:nvPr/>
        </p:nvSpPr>
        <p:spPr>
          <a:xfrm>
            <a:off x="6604000" y="4165600"/>
            <a:ext cx="1524000" cy="130805"/>
          </a:xfrm>
          <a:prstGeom prst="rect">
            <a:avLst/>
          </a:prstGeom>
          <a:noFill/>
        </p:spPr>
        <p:txBody>
          <a:bodyPr vert="horz" lIns="0" tIns="0" rIns="0" bIns="0" rtlCol="0">
            <a:spAutoFit/>
          </a:bodyPr>
          <a:lstStyle/>
          <a:p>
            <a:r>
              <a:rPr lang="en-US" sz="850" b="1">
                <a:solidFill>
                  <a:srgbClr val="AFC2BA"/>
                </a:solidFill>
                <a:latin typeface="Aptos" panose="020B0004020202020204" pitchFamily="34" charset="0"/>
              </a:rPr>
              <a:t>Core principle</a:t>
            </a:r>
          </a:p>
        </p:txBody>
      </p:sp>
      <p:sp>
        <p:nvSpPr>
          <p:cNvPr id="52" name="ZoneTexte 51">
            <a:extLst>
              <a:ext uri="{FF2B5EF4-FFF2-40B4-BE49-F238E27FC236}">
                <a16:creationId xmlns:a16="http://schemas.microsoft.com/office/drawing/2014/main" id="{069EB023-562F-FE2E-1210-D2B28512050B}"/>
              </a:ext>
            </a:extLst>
          </p:cNvPr>
          <p:cNvSpPr txBox="1"/>
          <p:nvPr/>
        </p:nvSpPr>
        <p:spPr>
          <a:xfrm>
            <a:off x="6604000" y="4419600"/>
            <a:ext cx="3302000" cy="369332"/>
          </a:xfrm>
          <a:prstGeom prst="rect">
            <a:avLst/>
          </a:prstGeom>
          <a:noFill/>
        </p:spPr>
        <p:txBody>
          <a:bodyPr vert="horz" lIns="0" tIns="0" rIns="0" bIns="0" rtlCol="0">
            <a:spAutoFit/>
          </a:bodyPr>
          <a:lstStyle/>
          <a:p>
            <a:r>
              <a:rPr lang="en-US" sz="1200">
                <a:solidFill>
                  <a:srgbClr val="FFFFFF"/>
                </a:solidFill>
                <a:latin typeface="Georgia" panose="02040502050405020303" pitchFamily="18" charset="0"/>
              </a:rPr>
              <a:t>AI supports evidence and preparation; it does not replace the final human decision.</a:t>
            </a:r>
          </a:p>
        </p:txBody>
      </p:sp>
    </p:spTree>
    <p:extLst>
      <p:ext uri="{BB962C8B-B14F-4D97-AF65-F5344CB8AC3E}">
        <p14:creationId xmlns:p14="http://schemas.microsoft.com/office/powerpoint/2010/main" val="914708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599C50-7D2E-903C-C447-0F4D7F1B114F}"/>
              </a:ext>
            </a:extLst>
          </p:cNvPr>
          <p:cNvSpPr/>
          <p:nvPr/>
        </p:nvSpPr>
        <p:spPr>
          <a:xfrm>
            <a:off x="0" y="0"/>
            <a:ext cx="12192000" cy="50800"/>
          </a:xfrm>
          <a:prstGeom prst="rect">
            <a:avLst/>
          </a:prstGeom>
          <a:solidFill>
            <a:srgbClr val="E1E7E2"/>
          </a:solidFill>
          <a:ln w="9525">
            <a:solidFill>
              <a:srgbClr val="E1E7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6578FB4-81A4-7F2A-681A-7C9370B1C2A5}"/>
              </a:ext>
            </a:extLst>
          </p:cNvPr>
          <p:cNvSpPr/>
          <p:nvPr/>
        </p:nvSpPr>
        <p:spPr>
          <a:xfrm>
            <a:off x="0" y="0"/>
            <a:ext cx="5626100" cy="508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CF03D78-A381-18D2-17AF-EEA244012678}"/>
              </a:ext>
            </a:extLst>
          </p:cNvPr>
          <p:cNvSpPr/>
          <p:nvPr/>
        </p:nvSpPr>
        <p:spPr>
          <a:xfrm>
            <a:off x="457200" y="317500"/>
            <a:ext cx="76200" cy="762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7AEF875E-81DD-D26E-4CC9-424D42D431CC}"/>
              </a:ext>
            </a:extLst>
          </p:cNvPr>
          <p:cNvSpPr txBox="1"/>
          <p:nvPr/>
        </p:nvSpPr>
        <p:spPr>
          <a:xfrm>
            <a:off x="635000" y="279400"/>
            <a:ext cx="3048000" cy="115416"/>
          </a:xfrm>
          <a:prstGeom prst="rect">
            <a:avLst/>
          </a:prstGeom>
          <a:noFill/>
        </p:spPr>
        <p:txBody>
          <a:bodyPr vert="horz" lIns="0" tIns="0" rIns="0" bIns="0" rtlCol="0">
            <a:spAutoFit/>
          </a:bodyPr>
          <a:lstStyle/>
          <a:p>
            <a:r>
              <a:rPr lang="en-US" sz="750" b="1">
                <a:solidFill>
                  <a:srgbClr val="66536E"/>
                </a:solidFill>
                <a:latin typeface="Aptos" panose="020B0004020202020204" pitchFamily="34" charset="0"/>
              </a:rPr>
              <a:t>SOLUTION</a:t>
            </a:r>
          </a:p>
        </p:txBody>
      </p:sp>
      <p:sp>
        <p:nvSpPr>
          <p:cNvPr id="6" name="Rectangle 5">
            <a:extLst>
              <a:ext uri="{FF2B5EF4-FFF2-40B4-BE49-F238E27FC236}">
                <a16:creationId xmlns:a16="http://schemas.microsoft.com/office/drawing/2014/main" id="{EDBF5508-AC84-C17E-A686-809FC7D9C01E}"/>
              </a:ext>
            </a:extLst>
          </p:cNvPr>
          <p:cNvSpPr/>
          <p:nvPr/>
        </p:nvSpPr>
        <p:spPr>
          <a:xfrm>
            <a:off x="457200" y="6426200"/>
            <a:ext cx="10287000" cy="12700"/>
          </a:xfrm>
          <a:prstGeom prst="rect">
            <a:avLst/>
          </a:prstGeom>
          <a:solidFill>
            <a:srgbClr val="C0CDC8"/>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CF1846EB-50A6-FECD-3E9F-732B888F1984}"/>
              </a:ext>
            </a:extLst>
          </p:cNvPr>
          <p:cNvSpPr txBox="1"/>
          <p:nvPr/>
        </p:nvSpPr>
        <p:spPr>
          <a:xfrm>
            <a:off x="10896600" y="6286500"/>
            <a:ext cx="762000" cy="138499"/>
          </a:xfrm>
          <a:prstGeom prst="rect">
            <a:avLst/>
          </a:prstGeom>
          <a:noFill/>
        </p:spPr>
        <p:txBody>
          <a:bodyPr vert="horz" lIns="0" tIns="0" rIns="0" bIns="0" rtlCol="0">
            <a:spAutoFit/>
          </a:bodyPr>
          <a:lstStyle/>
          <a:p>
            <a:pPr algn="r"/>
            <a:r>
              <a:rPr lang="en-US" sz="900" b="1">
                <a:solidFill>
                  <a:srgbClr val="66536E"/>
                </a:solidFill>
                <a:latin typeface="Aptos" panose="020B0004020202020204" pitchFamily="34" charset="0"/>
              </a:rPr>
              <a:t>6/13</a:t>
            </a:r>
          </a:p>
        </p:txBody>
      </p:sp>
      <p:sp>
        <p:nvSpPr>
          <p:cNvPr id="8" name="ZoneTexte 7">
            <a:extLst>
              <a:ext uri="{FF2B5EF4-FFF2-40B4-BE49-F238E27FC236}">
                <a16:creationId xmlns:a16="http://schemas.microsoft.com/office/drawing/2014/main" id="{DF535090-6256-E1A9-31C8-1CAE676E0D53}"/>
              </a:ext>
            </a:extLst>
          </p:cNvPr>
          <p:cNvSpPr txBox="1"/>
          <p:nvPr/>
        </p:nvSpPr>
        <p:spPr>
          <a:xfrm>
            <a:off x="457200" y="635000"/>
            <a:ext cx="7747000" cy="707886"/>
          </a:xfrm>
          <a:prstGeom prst="rect">
            <a:avLst/>
          </a:prstGeom>
          <a:noFill/>
        </p:spPr>
        <p:txBody>
          <a:bodyPr vert="horz" lIns="0" tIns="0" rIns="0" bIns="0" rtlCol="0">
            <a:spAutoFit/>
          </a:bodyPr>
          <a:lstStyle/>
          <a:p>
            <a:r>
              <a:rPr lang="en-US" sz="2300" b="1">
                <a:solidFill>
                  <a:srgbClr val="16201E"/>
                </a:solidFill>
                <a:latin typeface="Georgia" panose="02040502050405020303" pitchFamily="18" charset="0"/>
              </a:rPr>
              <a:t>Requirements Balance Usability, Security, and Maintainability</a:t>
            </a:r>
          </a:p>
        </p:txBody>
      </p:sp>
      <p:sp>
        <p:nvSpPr>
          <p:cNvPr id="9" name="Rectangle 8">
            <a:extLst>
              <a:ext uri="{FF2B5EF4-FFF2-40B4-BE49-F238E27FC236}">
                <a16:creationId xmlns:a16="http://schemas.microsoft.com/office/drawing/2014/main" id="{4CDC2CE3-46AB-71FA-D70F-F40E35412959}"/>
              </a:ext>
            </a:extLst>
          </p:cNvPr>
          <p:cNvSpPr/>
          <p:nvPr/>
        </p:nvSpPr>
        <p:spPr>
          <a:xfrm>
            <a:off x="635000" y="19304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259761C8-A120-0A71-EE5C-D53E4EF40902}"/>
              </a:ext>
            </a:extLst>
          </p:cNvPr>
          <p:cNvSpPr txBox="1"/>
          <p:nvPr/>
        </p:nvSpPr>
        <p:spPr>
          <a:xfrm>
            <a:off x="863600" y="18415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Researcher: upload, correct, submit, track</a:t>
            </a:r>
          </a:p>
        </p:txBody>
      </p:sp>
      <p:sp>
        <p:nvSpPr>
          <p:cNvPr id="11" name="Rectangle 10">
            <a:extLst>
              <a:ext uri="{FF2B5EF4-FFF2-40B4-BE49-F238E27FC236}">
                <a16:creationId xmlns:a16="http://schemas.microsoft.com/office/drawing/2014/main" id="{DB08C263-906A-F364-9FC4-63F9D6DD6D24}"/>
              </a:ext>
            </a:extLst>
          </p:cNvPr>
          <p:cNvSpPr/>
          <p:nvPr/>
        </p:nvSpPr>
        <p:spPr>
          <a:xfrm>
            <a:off x="635000" y="24003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ZoneTexte 11">
            <a:extLst>
              <a:ext uri="{FF2B5EF4-FFF2-40B4-BE49-F238E27FC236}">
                <a16:creationId xmlns:a16="http://schemas.microsoft.com/office/drawing/2014/main" id="{5FD8810E-AA40-2DA9-57E8-BB68D56F6C97}"/>
              </a:ext>
            </a:extLst>
          </p:cNvPr>
          <p:cNvSpPr txBox="1"/>
          <p:nvPr/>
        </p:nvSpPr>
        <p:spPr>
          <a:xfrm>
            <a:off x="863600" y="23114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CHECKER: expertise, assigned papers, review tools</a:t>
            </a:r>
          </a:p>
        </p:txBody>
      </p:sp>
      <p:sp>
        <p:nvSpPr>
          <p:cNvPr id="13" name="Rectangle 12">
            <a:extLst>
              <a:ext uri="{FF2B5EF4-FFF2-40B4-BE49-F238E27FC236}">
                <a16:creationId xmlns:a16="http://schemas.microsoft.com/office/drawing/2014/main" id="{5A9EB528-73A4-6884-363A-274EB3AE1115}"/>
              </a:ext>
            </a:extLst>
          </p:cNvPr>
          <p:cNvSpPr/>
          <p:nvPr/>
        </p:nvSpPr>
        <p:spPr>
          <a:xfrm>
            <a:off x="635000" y="28702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ZoneTexte 13">
            <a:extLst>
              <a:ext uri="{FF2B5EF4-FFF2-40B4-BE49-F238E27FC236}">
                <a16:creationId xmlns:a16="http://schemas.microsoft.com/office/drawing/2014/main" id="{547D97FB-F106-5537-50C1-8F01F018E4AD}"/>
              </a:ext>
            </a:extLst>
          </p:cNvPr>
          <p:cNvSpPr txBox="1"/>
          <p:nvPr/>
        </p:nvSpPr>
        <p:spPr>
          <a:xfrm>
            <a:off x="863600" y="27813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Admin: users, assignments, statistics, final decision</a:t>
            </a:r>
          </a:p>
        </p:txBody>
      </p:sp>
      <p:sp>
        <p:nvSpPr>
          <p:cNvPr id="15" name="Rectangle 14">
            <a:extLst>
              <a:ext uri="{FF2B5EF4-FFF2-40B4-BE49-F238E27FC236}">
                <a16:creationId xmlns:a16="http://schemas.microsoft.com/office/drawing/2014/main" id="{01873D78-1758-139C-14A1-DDA3EBF02B78}"/>
              </a:ext>
            </a:extLst>
          </p:cNvPr>
          <p:cNvSpPr/>
          <p:nvPr/>
        </p:nvSpPr>
        <p:spPr>
          <a:xfrm>
            <a:off x="635000" y="33401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ZoneTexte 15">
            <a:extLst>
              <a:ext uri="{FF2B5EF4-FFF2-40B4-BE49-F238E27FC236}">
                <a16:creationId xmlns:a16="http://schemas.microsoft.com/office/drawing/2014/main" id="{C7277ECD-B2C9-C106-3259-8092C7A861E6}"/>
              </a:ext>
            </a:extLst>
          </p:cNvPr>
          <p:cNvSpPr txBox="1"/>
          <p:nvPr/>
        </p:nvSpPr>
        <p:spPr>
          <a:xfrm>
            <a:off x="863600" y="32512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JWT, BCrypt, role-based authorization</a:t>
            </a:r>
          </a:p>
        </p:txBody>
      </p:sp>
      <p:sp>
        <p:nvSpPr>
          <p:cNvPr id="17" name="Rectangle 16">
            <a:extLst>
              <a:ext uri="{FF2B5EF4-FFF2-40B4-BE49-F238E27FC236}">
                <a16:creationId xmlns:a16="http://schemas.microsoft.com/office/drawing/2014/main" id="{F9CF4561-51BB-37FE-CF8E-01FDC9F1C588}"/>
              </a:ext>
            </a:extLst>
          </p:cNvPr>
          <p:cNvSpPr/>
          <p:nvPr/>
        </p:nvSpPr>
        <p:spPr>
          <a:xfrm>
            <a:off x="635000" y="38100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ZoneTexte 17">
            <a:extLst>
              <a:ext uri="{FF2B5EF4-FFF2-40B4-BE49-F238E27FC236}">
                <a16:creationId xmlns:a16="http://schemas.microsoft.com/office/drawing/2014/main" id="{6E6D7C87-2AC6-B230-DC54-40B830B40CDC}"/>
              </a:ext>
            </a:extLst>
          </p:cNvPr>
          <p:cNvSpPr txBox="1"/>
          <p:nvPr/>
        </p:nvSpPr>
        <p:spPr>
          <a:xfrm>
            <a:off x="863600" y="37211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Layered backend for maintainability</a:t>
            </a:r>
          </a:p>
        </p:txBody>
      </p:sp>
      <p:sp>
        <p:nvSpPr>
          <p:cNvPr id="19" name="Rectangle 18">
            <a:extLst>
              <a:ext uri="{FF2B5EF4-FFF2-40B4-BE49-F238E27FC236}">
                <a16:creationId xmlns:a16="http://schemas.microsoft.com/office/drawing/2014/main" id="{0668F88B-47AF-04C3-67C0-ACE175D125C3}"/>
              </a:ext>
            </a:extLst>
          </p:cNvPr>
          <p:cNvSpPr/>
          <p:nvPr/>
        </p:nvSpPr>
        <p:spPr>
          <a:xfrm>
            <a:off x="6413500" y="2006600"/>
            <a:ext cx="4000500" cy="5842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ZoneTexte 19">
            <a:extLst>
              <a:ext uri="{FF2B5EF4-FFF2-40B4-BE49-F238E27FC236}">
                <a16:creationId xmlns:a16="http://schemas.microsoft.com/office/drawing/2014/main" id="{27E282C9-0CE8-08E8-9E9A-17CF5893F2D3}"/>
              </a:ext>
            </a:extLst>
          </p:cNvPr>
          <p:cNvSpPr txBox="1"/>
          <p:nvPr/>
        </p:nvSpPr>
        <p:spPr>
          <a:xfrm>
            <a:off x="6667500" y="2146300"/>
            <a:ext cx="1143000" cy="184666"/>
          </a:xfrm>
          <a:prstGeom prst="rect">
            <a:avLst/>
          </a:prstGeom>
          <a:noFill/>
        </p:spPr>
        <p:txBody>
          <a:bodyPr vert="horz" lIns="0" tIns="0" rIns="0" bIns="0" rtlCol="0">
            <a:spAutoFit/>
          </a:bodyPr>
          <a:lstStyle/>
          <a:p>
            <a:r>
              <a:rPr lang="en-US" sz="1200" b="1">
                <a:solidFill>
                  <a:srgbClr val="147D64"/>
                </a:solidFill>
                <a:latin typeface="Aptos" panose="020B0004020202020204" pitchFamily="34" charset="0"/>
              </a:rPr>
              <a:t>Researcher</a:t>
            </a:r>
          </a:p>
        </p:txBody>
      </p:sp>
      <p:sp>
        <p:nvSpPr>
          <p:cNvPr id="21" name="ZoneTexte 20">
            <a:extLst>
              <a:ext uri="{FF2B5EF4-FFF2-40B4-BE49-F238E27FC236}">
                <a16:creationId xmlns:a16="http://schemas.microsoft.com/office/drawing/2014/main" id="{3D2954AE-B0F0-703C-A985-AF733D076182}"/>
              </a:ext>
            </a:extLst>
          </p:cNvPr>
          <p:cNvSpPr txBox="1"/>
          <p:nvPr/>
        </p:nvSpPr>
        <p:spPr>
          <a:xfrm>
            <a:off x="8001000" y="2146300"/>
            <a:ext cx="2032000" cy="146194"/>
          </a:xfrm>
          <a:prstGeom prst="rect">
            <a:avLst/>
          </a:prstGeom>
          <a:noFill/>
        </p:spPr>
        <p:txBody>
          <a:bodyPr vert="horz" lIns="0" tIns="0" rIns="0" bIns="0" rtlCol="0">
            <a:spAutoFit/>
          </a:bodyPr>
          <a:lstStyle/>
          <a:p>
            <a:r>
              <a:rPr lang="en-US" sz="950">
                <a:solidFill>
                  <a:srgbClr val="16201E"/>
                </a:solidFill>
                <a:latin typeface="Aptos" panose="020B0004020202020204" pitchFamily="34" charset="0"/>
              </a:rPr>
              <a:t>Upload, correct, submit, track</a:t>
            </a:r>
          </a:p>
        </p:txBody>
      </p:sp>
      <p:sp>
        <p:nvSpPr>
          <p:cNvPr id="22" name="Rectangle 21">
            <a:extLst>
              <a:ext uri="{FF2B5EF4-FFF2-40B4-BE49-F238E27FC236}">
                <a16:creationId xmlns:a16="http://schemas.microsoft.com/office/drawing/2014/main" id="{77161CE8-6C28-7D74-5877-A82B4F31A5FE}"/>
              </a:ext>
            </a:extLst>
          </p:cNvPr>
          <p:cNvSpPr/>
          <p:nvPr/>
        </p:nvSpPr>
        <p:spPr>
          <a:xfrm>
            <a:off x="6413500" y="2971800"/>
            <a:ext cx="4000500" cy="5842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ZoneTexte 22">
            <a:extLst>
              <a:ext uri="{FF2B5EF4-FFF2-40B4-BE49-F238E27FC236}">
                <a16:creationId xmlns:a16="http://schemas.microsoft.com/office/drawing/2014/main" id="{3F5F9DCD-B946-3999-FF94-7D04C071A63C}"/>
              </a:ext>
            </a:extLst>
          </p:cNvPr>
          <p:cNvSpPr txBox="1"/>
          <p:nvPr/>
        </p:nvSpPr>
        <p:spPr>
          <a:xfrm>
            <a:off x="6667500" y="3111500"/>
            <a:ext cx="1143000" cy="184666"/>
          </a:xfrm>
          <a:prstGeom prst="rect">
            <a:avLst/>
          </a:prstGeom>
          <a:noFill/>
        </p:spPr>
        <p:txBody>
          <a:bodyPr vert="horz" lIns="0" tIns="0" rIns="0" bIns="0" rtlCol="0">
            <a:spAutoFit/>
          </a:bodyPr>
          <a:lstStyle/>
          <a:p>
            <a:r>
              <a:rPr lang="en-US" sz="1200" b="1">
                <a:solidFill>
                  <a:srgbClr val="315E8A"/>
                </a:solidFill>
                <a:latin typeface="Aptos" panose="020B0004020202020204" pitchFamily="34" charset="0"/>
              </a:rPr>
              <a:t>CHECKER</a:t>
            </a:r>
          </a:p>
        </p:txBody>
      </p:sp>
      <p:sp>
        <p:nvSpPr>
          <p:cNvPr id="24" name="ZoneTexte 23">
            <a:extLst>
              <a:ext uri="{FF2B5EF4-FFF2-40B4-BE49-F238E27FC236}">
                <a16:creationId xmlns:a16="http://schemas.microsoft.com/office/drawing/2014/main" id="{587FC959-E80F-921D-1832-015812E6B45C}"/>
              </a:ext>
            </a:extLst>
          </p:cNvPr>
          <p:cNvSpPr txBox="1"/>
          <p:nvPr/>
        </p:nvSpPr>
        <p:spPr>
          <a:xfrm>
            <a:off x="8001000" y="3111500"/>
            <a:ext cx="2032000" cy="146194"/>
          </a:xfrm>
          <a:prstGeom prst="rect">
            <a:avLst/>
          </a:prstGeom>
          <a:noFill/>
        </p:spPr>
        <p:txBody>
          <a:bodyPr vert="horz" lIns="0" tIns="0" rIns="0" bIns="0" rtlCol="0">
            <a:spAutoFit/>
          </a:bodyPr>
          <a:lstStyle/>
          <a:p>
            <a:r>
              <a:rPr lang="en-US" sz="950">
                <a:solidFill>
                  <a:srgbClr val="16201E"/>
                </a:solidFill>
                <a:latin typeface="Aptos" panose="020B0004020202020204" pitchFamily="34" charset="0"/>
              </a:rPr>
              <a:t>Expertise, assigned papers, evaluation</a:t>
            </a:r>
          </a:p>
        </p:txBody>
      </p:sp>
      <p:sp>
        <p:nvSpPr>
          <p:cNvPr id="25" name="Rectangle 24">
            <a:extLst>
              <a:ext uri="{FF2B5EF4-FFF2-40B4-BE49-F238E27FC236}">
                <a16:creationId xmlns:a16="http://schemas.microsoft.com/office/drawing/2014/main" id="{F69E3B44-9540-3EAF-8ED8-7B5D283151AF}"/>
              </a:ext>
            </a:extLst>
          </p:cNvPr>
          <p:cNvSpPr/>
          <p:nvPr/>
        </p:nvSpPr>
        <p:spPr>
          <a:xfrm>
            <a:off x="6413500" y="3937000"/>
            <a:ext cx="4000500" cy="5842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ZoneTexte 25">
            <a:extLst>
              <a:ext uri="{FF2B5EF4-FFF2-40B4-BE49-F238E27FC236}">
                <a16:creationId xmlns:a16="http://schemas.microsoft.com/office/drawing/2014/main" id="{59E10F44-F5EE-0166-DFF5-992C4EA40BB8}"/>
              </a:ext>
            </a:extLst>
          </p:cNvPr>
          <p:cNvSpPr txBox="1"/>
          <p:nvPr/>
        </p:nvSpPr>
        <p:spPr>
          <a:xfrm>
            <a:off x="6667500" y="4076700"/>
            <a:ext cx="1143000" cy="184666"/>
          </a:xfrm>
          <a:prstGeom prst="rect">
            <a:avLst/>
          </a:prstGeom>
          <a:noFill/>
        </p:spPr>
        <p:txBody>
          <a:bodyPr vert="horz" lIns="0" tIns="0" rIns="0" bIns="0" rtlCol="0">
            <a:spAutoFit/>
          </a:bodyPr>
          <a:lstStyle/>
          <a:p>
            <a:r>
              <a:rPr lang="en-US" sz="1200" b="1">
                <a:solidFill>
                  <a:srgbClr val="147D64"/>
                </a:solidFill>
                <a:latin typeface="Aptos" panose="020B0004020202020204" pitchFamily="34" charset="0"/>
              </a:rPr>
              <a:t>Admin</a:t>
            </a:r>
          </a:p>
        </p:txBody>
      </p:sp>
      <p:sp>
        <p:nvSpPr>
          <p:cNvPr id="27" name="ZoneTexte 26">
            <a:extLst>
              <a:ext uri="{FF2B5EF4-FFF2-40B4-BE49-F238E27FC236}">
                <a16:creationId xmlns:a16="http://schemas.microsoft.com/office/drawing/2014/main" id="{8F6B78E2-5939-6808-2177-2D6FC92ED013}"/>
              </a:ext>
            </a:extLst>
          </p:cNvPr>
          <p:cNvSpPr txBox="1"/>
          <p:nvPr/>
        </p:nvSpPr>
        <p:spPr>
          <a:xfrm>
            <a:off x="8001000" y="4076700"/>
            <a:ext cx="2032000" cy="146194"/>
          </a:xfrm>
          <a:prstGeom prst="rect">
            <a:avLst/>
          </a:prstGeom>
          <a:noFill/>
        </p:spPr>
        <p:txBody>
          <a:bodyPr vert="horz" lIns="0" tIns="0" rIns="0" bIns="0" rtlCol="0">
            <a:spAutoFit/>
          </a:bodyPr>
          <a:lstStyle/>
          <a:p>
            <a:r>
              <a:rPr lang="en-US" sz="950">
                <a:solidFill>
                  <a:srgbClr val="16201E"/>
                </a:solidFill>
                <a:latin typeface="Aptos" panose="020B0004020202020204" pitchFamily="34" charset="0"/>
              </a:rPr>
              <a:t>Users, assignment, statistics, decision</a:t>
            </a:r>
          </a:p>
        </p:txBody>
      </p:sp>
      <p:sp>
        <p:nvSpPr>
          <p:cNvPr id="28" name="Rectangle 27">
            <a:extLst>
              <a:ext uri="{FF2B5EF4-FFF2-40B4-BE49-F238E27FC236}">
                <a16:creationId xmlns:a16="http://schemas.microsoft.com/office/drawing/2014/main" id="{22157F6B-56CE-42E5-AF0E-5140D9334B48}"/>
              </a:ext>
            </a:extLst>
          </p:cNvPr>
          <p:cNvSpPr/>
          <p:nvPr/>
        </p:nvSpPr>
        <p:spPr>
          <a:xfrm>
            <a:off x="6413500" y="5207000"/>
            <a:ext cx="4000500" cy="508000"/>
          </a:xfrm>
          <a:prstGeom prst="rect">
            <a:avLst/>
          </a:prstGeom>
          <a:solidFill>
            <a:srgbClr val="EEF1F0"/>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ZoneTexte 28">
            <a:extLst>
              <a:ext uri="{FF2B5EF4-FFF2-40B4-BE49-F238E27FC236}">
                <a16:creationId xmlns:a16="http://schemas.microsoft.com/office/drawing/2014/main" id="{13472645-087D-B5BB-889C-19F68381815D}"/>
              </a:ext>
            </a:extLst>
          </p:cNvPr>
          <p:cNvSpPr txBox="1"/>
          <p:nvPr/>
        </p:nvSpPr>
        <p:spPr>
          <a:xfrm>
            <a:off x="6667500" y="5384800"/>
            <a:ext cx="3429000" cy="276999"/>
          </a:xfrm>
          <a:prstGeom prst="rect">
            <a:avLst/>
          </a:prstGeom>
          <a:noFill/>
        </p:spPr>
        <p:txBody>
          <a:bodyPr vert="horz" lIns="0" tIns="0" rIns="0" bIns="0" rtlCol="0">
            <a:spAutoFit/>
          </a:bodyPr>
          <a:lstStyle/>
          <a:p>
            <a:r>
              <a:rPr lang="en-US" sz="900">
                <a:solidFill>
                  <a:srgbClr val="16201E"/>
                </a:solidFill>
                <a:latin typeface="Aptos" panose="020B0004020202020204" pitchFamily="34" charset="0"/>
              </a:rPr>
              <a:t>Non-functional baseline: JWT, BCrypt, RBAC, clear errors, layered backend.</a:t>
            </a:r>
          </a:p>
        </p:txBody>
      </p:sp>
    </p:spTree>
    <p:extLst>
      <p:ext uri="{BB962C8B-B14F-4D97-AF65-F5344CB8AC3E}">
        <p14:creationId xmlns:p14="http://schemas.microsoft.com/office/powerpoint/2010/main" val="2076699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31C8AA-25D4-4FCC-36B2-8541CC2FAF88}"/>
              </a:ext>
            </a:extLst>
          </p:cNvPr>
          <p:cNvSpPr/>
          <p:nvPr/>
        </p:nvSpPr>
        <p:spPr>
          <a:xfrm>
            <a:off x="0" y="0"/>
            <a:ext cx="12192000" cy="50800"/>
          </a:xfrm>
          <a:prstGeom prst="rect">
            <a:avLst/>
          </a:prstGeom>
          <a:solidFill>
            <a:srgbClr val="E1E7E2"/>
          </a:solidFill>
          <a:ln w="9525">
            <a:solidFill>
              <a:srgbClr val="E1E7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B52716B-AEA5-2BBF-29EC-E811A6CB6503}"/>
              </a:ext>
            </a:extLst>
          </p:cNvPr>
          <p:cNvSpPr/>
          <p:nvPr/>
        </p:nvSpPr>
        <p:spPr>
          <a:xfrm>
            <a:off x="0" y="0"/>
            <a:ext cx="6565900" cy="508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1F09D8E-2209-CA36-CA5E-F5742E7A1003}"/>
              </a:ext>
            </a:extLst>
          </p:cNvPr>
          <p:cNvSpPr/>
          <p:nvPr/>
        </p:nvSpPr>
        <p:spPr>
          <a:xfrm>
            <a:off x="457200" y="317500"/>
            <a:ext cx="76200" cy="762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C732CD52-DBCC-8F2D-B41D-44818EAE119E}"/>
              </a:ext>
            </a:extLst>
          </p:cNvPr>
          <p:cNvSpPr txBox="1"/>
          <p:nvPr/>
        </p:nvSpPr>
        <p:spPr>
          <a:xfrm>
            <a:off x="635000" y="279400"/>
            <a:ext cx="3048000" cy="115416"/>
          </a:xfrm>
          <a:prstGeom prst="rect">
            <a:avLst/>
          </a:prstGeom>
          <a:noFill/>
        </p:spPr>
        <p:txBody>
          <a:bodyPr vert="horz" lIns="0" tIns="0" rIns="0" bIns="0" rtlCol="0">
            <a:spAutoFit/>
          </a:bodyPr>
          <a:lstStyle/>
          <a:p>
            <a:r>
              <a:rPr lang="en-US" sz="750" b="1">
                <a:solidFill>
                  <a:srgbClr val="66536E"/>
                </a:solidFill>
                <a:latin typeface="Aptos" panose="020B0004020202020204" pitchFamily="34" charset="0"/>
              </a:rPr>
              <a:t>ARCHITECTURE</a:t>
            </a:r>
          </a:p>
        </p:txBody>
      </p:sp>
      <p:sp>
        <p:nvSpPr>
          <p:cNvPr id="6" name="Rectangle 5">
            <a:extLst>
              <a:ext uri="{FF2B5EF4-FFF2-40B4-BE49-F238E27FC236}">
                <a16:creationId xmlns:a16="http://schemas.microsoft.com/office/drawing/2014/main" id="{9A3D4E90-E60A-86FF-0868-2FB1F99372DA}"/>
              </a:ext>
            </a:extLst>
          </p:cNvPr>
          <p:cNvSpPr/>
          <p:nvPr/>
        </p:nvSpPr>
        <p:spPr>
          <a:xfrm>
            <a:off x="457200" y="6426200"/>
            <a:ext cx="10287000" cy="12700"/>
          </a:xfrm>
          <a:prstGeom prst="rect">
            <a:avLst/>
          </a:prstGeom>
          <a:solidFill>
            <a:srgbClr val="C0CDC8"/>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CEFCB3F1-ED02-AA9B-5CCE-57C92CB2B324}"/>
              </a:ext>
            </a:extLst>
          </p:cNvPr>
          <p:cNvSpPr txBox="1"/>
          <p:nvPr/>
        </p:nvSpPr>
        <p:spPr>
          <a:xfrm>
            <a:off x="10896600" y="6286500"/>
            <a:ext cx="762000" cy="138499"/>
          </a:xfrm>
          <a:prstGeom prst="rect">
            <a:avLst/>
          </a:prstGeom>
          <a:noFill/>
        </p:spPr>
        <p:txBody>
          <a:bodyPr vert="horz" lIns="0" tIns="0" rIns="0" bIns="0" rtlCol="0">
            <a:spAutoFit/>
          </a:bodyPr>
          <a:lstStyle/>
          <a:p>
            <a:pPr algn="r"/>
            <a:r>
              <a:rPr lang="en-US" sz="900" b="1">
                <a:solidFill>
                  <a:srgbClr val="66536E"/>
                </a:solidFill>
                <a:latin typeface="Aptos" panose="020B0004020202020204" pitchFamily="34" charset="0"/>
              </a:rPr>
              <a:t>7/13</a:t>
            </a:r>
          </a:p>
        </p:txBody>
      </p:sp>
      <p:sp>
        <p:nvSpPr>
          <p:cNvPr id="8" name="ZoneTexte 7">
            <a:extLst>
              <a:ext uri="{FF2B5EF4-FFF2-40B4-BE49-F238E27FC236}">
                <a16:creationId xmlns:a16="http://schemas.microsoft.com/office/drawing/2014/main" id="{8612D144-14FF-5BE2-62D6-3CCAB7650D50}"/>
              </a:ext>
            </a:extLst>
          </p:cNvPr>
          <p:cNvSpPr txBox="1"/>
          <p:nvPr/>
        </p:nvSpPr>
        <p:spPr>
          <a:xfrm>
            <a:off x="457200" y="635000"/>
            <a:ext cx="7747000" cy="707886"/>
          </a:xfrm>
          <a:prstGeom prst="rect">
            <a:avLst/>
          </a:prstGeom>
          <a:noFill/>
        </p:spPr>
        <p:txBody>
          <a:bodyPr vert="horz" lIns="0" tIns="0" rIns="0" bIns="0" rtlCol="0">
            <a:spAutoFit/>
          </a:bodyPr>
          <a:lstStyle/>
          <a:p>
            <a:r>
              <a:rPr lang="en-US" sz="2300" b="1">
                <a:solidFill>
                  <a:srgbClr val="16201E"/>
                </a:solidFill>
                <a:latin typeface="Georgia" panose="02040502050405020303" pitchFamily="18" charset="0"/>
              </a:rPr>
              <a:t>The Architecture Separates UI, Core Workflow, and Local AI</a:t>
            </a:r>
          </a:p>
        </p:txBody>
      </p:sp>
      <p:sp>
        <p:nvSpPr>
          <p:cNvPr id="9" name="Rectangle 8">
            <a:extLst>
              <a:ext uri="{FF2B5EF4-FFF2-40B4-BE49-F238E27FC236}">
                <a16:creationId xmlns:a16="http://schemas.microsoft.com/office/drawing/2014/main" id="{6737F595-D911-8097-2D52-98042B1CCFC1}"/>
              </a:ext>
            </a:extLst>
          </p:cNvPr>
          <p:cNvSpPr/>
          <p:nvPr/>
        </p:nvSpPr>
        <p:spPr>
          <a:xfrm>
            <a:off x="635000" y="19304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CE4492AF-E9E8-C213-D486-00FE9A74A411}"/>
              </a:ext>
            </a:extLst>
          </p:cNvPr>
          <p:cNvSpPr txBox="1"/>
          <p:nvPr/>
        </p:nvSpPr>
        <p:spPr>
          <a:xfrm>
            <a:off x="863600" y="18415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Angular frontend for role-specific interfaces</a:t>
            </a:r>
          </a:p>
        </p:txBody>
      </p:sp>
      <p:sp>
        <p:nvSpPr>
          <p:cNvPr id="11" name="Rectangle 10">
            <a:extLst>
              <a:ext uri="{FF2B5EF4-FFF2-40B4-BE49-F238E27FC236}">
                <a16:creationId xmlns:a16="http://schemas.microsoft.com/office/drawing/2014/main" id="{F0C3A3BA-B7A4-C942-BB0F-CC294373556E}"/>
              </a:ext>
            </a:extLst>
          </p:cNvPr>
          <p:cNvSpPr/>
          <p:nvPr/>
        </p:nvSpPr>
        <p:spPr>
          <a:xfrm>
            <a:off x="635000" y="24003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ZoneTexte 11">
            <a:extLst>
              <a:ext uri="{FF2B5EF4-FFF2-40B4-BE49-F238E27FC236}">
                <a16:creationId xmlns:a16="http://schemas.microsoft.com/office/drawing/2014/main" id="{8F8F25A2-AB20-94A0-08FF-CFE31FF03108}"/>
              </a:ext>
            </a:extLst>
          </p:cNvPr>
          <p:cNvSpPr txBox="1"/>
          <p:nvPr/>
        </p:nvSpPr>
        <p:spPr>
          <a:xfrm>
            <a:off x="863600" y="23114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Spring Boot secures APIs and paper lifecycle</a:t>
            </a:r>
          </a:p>
        </p:txBody>
      </p:sp>
      <p:sp>
        <p:nvSpPr>
          <p:cNvPr id="13" name="Rectangle 12">
            <a:extLst>
              <a:ext uri="{FF2B5EF4-FFF2-40B4-BE49-F238E27FC236}">
                <a16:creationId xmlns:a16="http://schemas.microsoft.com/office/drawing/2014/main" id="{BDF878F5-E8EB-31B6-3D86-49F092DE97E0}"/>
              </a:ext>
            </a:extLst>
          </p:cNvPr>
          <p:cNvSpPr/>
          <p:nvPr/>
        </p:nvSpPr>
        <p:spPr>
          <a:xfrm>
            <a:off x="635000" y="28702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ZoneTexte 13">
            <a:extLst>
              <a:ext uri="{FF2B5EF4-FFF2-40B4-BE49-F238E27FC236}">
                <a16:creationId xmlns:a16="http://schemas.microsoft.com/office/drawing/2014/main" id="{F5B1AC20-B665-4911-2A64-94ADF22AC3D1}"/>
              </a:ext>
            </a:extLst>
          </p:cNvPr>
          <p:cNvSpPr txBox="1"/>
          <p:nvPr/>
        </p:nvSpPr>
        <p:spPr>
          <a:xfrm>
            <a:off x="863600" y="2781300"/>
            <a:ext cx="4953000" cy="192360"/>
          </a:xfrm>
          <a:prstGeom prst="rect">
            <a:avLst/>
          </a:prstGeom>
          <a:noFill/>
        </p:spPr>
        <p:txBody>
          <a:bodyPr vert="horz" lIns="0" tIns="0" rIns="0" bIns="0" rtlCol="0">
            <a:spAutoFit/>
          </a:bodyPr>
          <a:lstStyle/>
          <a:p>
            <a:r>
              <a:rPr lang="it-IT" sz="1250">
                <a:solidFill>
                  <a:srgbClr val="16201E"/>
                </a:solidFill>
                <a:latin typeface="Aptos" panose="020B0004020202020204" pitchFamily="34" charset="0"/>
              </a:rPr>
              <a:t>FastAPI isolates AI inference tasks</a:t>
            </a:r>
            <a:endParaRPr lang="en-US" sz="1250">
              <a:solidFill>
                <a:srgbClr val="16201E"/>
              </a:solidFill>
              <a:latin typeface="Aptos" panose="020B0004020202020204" pitchFamily="34" charset="0"/>
            </a:endParaRPr>
          </a:p>
        </p:txBody>
      </p:sp>
      <p:sp>
        <p:nvSpPr>
          <p:cNvPr id="15" name="Rectangle 14">
            <a:extLst>
              <a:ext uri="{FF2B5EF4-FFF2-40B4-BE49-F238E27FC236}">
                <a16:creationId xmlns:a16="http://schemas.microsoft.com/office/drawing/2014/main" id="{F5A47F2A-60B5-949B-2375-BACDE40FB7CA}"/>
              </a:ext>
            </a:extLst>
          </p:cNvPr>
          <p:cNvSpPr/>
          <p:nvPr/>
        </p:nvSpPr>
        <p:spPr>
          <a:xfrm>
            <a:off x="635000" y="33401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ZoneTexte 15">
            <a:extLst>
              <a:ext uri="{FF2B5EF4-FFF2-40B4-BE49-F238E27FC236}">
                <a16:creationId xmlns:a16="http://schemas.microsoft.com/office/drawing/2014/main" id="{02A2BE09-18EF-3880-54B3-CC1CA01D19E5}"/>
              </a:ext>
            </a:extLst>
          </p:cNvPr>
          <p:cNvSpPr txBox="1"/>
          <p:nvPr/>
        </p:nvSpPr>
        <p:spPr>
          <a:xfrm>
            <a:off x="863600" y="32512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PostgreSQL stores relational data and vectors</a:t>
            </a:r>
          </a:p>
        </p:txBody>
      </p:sp>
      <p:sp>
        <p:nvSpPr>
          <p:cNvPr id="17" name="Rectangle 16">
            <a:extLst>
              <a:ext uri="{FF2B5EF4-FFF2-40B4-BE49-F238E27FC236}">
                <a16:creationId xmlns:a16="http://schemas.microsoft.com/office/drawing/2014/main" id="{94CDC294-6047-6678-505C-0DF3BE0B1A9E}"/>
              </a:ext>
            </a:extLst>
          </p:cNvPr>
          <p:cNvSpPr/>
          <p:nvPr/>
        </p:nvSpPr>
        <p:spPr>
          <a:xfrm>
            <a:off x="635000" y="38100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ZoneTexte 17">
            <a:extLst>
              <a:ext uri="{FF2B5EF4-FFF2-40B4-BE49-F238E27FC236}">
                <a16:creationId xmlns:a16="http://schemas.microsoft.com/office/drawing/2014/main" id="{38B0AACE-6C8B-31D2-378F-D1EAA821D7F1}"/>
              </a:ext>
            </a:extLst>
          </p:cNvPr>
          <p:cNvSpPr txBox="1"/>
          <p:nvPr/>
        </p:nvSpPr>
        <p:spPr>
          <a:xfrm>
            <a:off x="863600" y="37211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Ollama keeps paper content local</a:t>
            </a:r>
          </a:p>
        </p:txBody>
      </p:sp>
      <p:sp>
        <p:nvSpPr>
          <p:cNvPr id="19" name="Rectangle 18">
            <a:extLst>
              <a:ext uri="{FF2B5EF4-FFF2-40B4-BE49-F238E27FC236}">
                <a16:creationId xmlns:a16="http://schemas.microsoft.com/office/drawing/2014/main" id="{BA2F5855-FD8F-CA24-3AE4-6CDF24ED3E28}"/>
              </a:ext>
            </a:extLst>
          </p:cNvPr>
          <p:cNvSpPr/>
          <p:nvPr/>
        </p:nvSpPr>
        <p:spPr>
          <a:xfrm>
            <a:off x="6350000" y="1879600"/>
            <a:ext cx="4445000" cy="5461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ZoneTexte 19">
            <a:extLst>
              <a:ext uri="{FF2B5EF4-FFF2-40B4-BE49-F238E27FC236}">
                <a16:creationId xmlns:a16="http://schemas.microsoft.com/office/drawing/2014/main" id="{927BA581-BE89-B5FC-0592-239FB3AD0B5A}"/>
              </a:ext>
            </a:extLst>
          </p:cNvPr>
          <p:cNvSpPr txBox="1"/>
          <p:nvPr/>
        </p:nvSpPr>
        <p:spPr>
          <a:xfrm>
            <a:off x="6604000" y="1993900"/>
            <a:ext cx="1524000" cy="176972"/>
          </a:xfrm>
          <a:prstGeom prst="rect">
            <a:avLst/>
          </a:prstGeom>
          <a:noFill/>
        </p:spPr>
        <p:txBody>
          <a:bodyPr vert="horz" lIns="0" tIns="0" rIns="0" bIns="0" rtlCol="0">
            <a:spAutoFit/>
          </a:bodyPr>
          <a:lstStyle/>
          <a:p>
            <a:r>
              <a:rPr lang="en-US" sz="1150" b="1">
                <a:solidFill>
                  <a:srgbClr val="147D64"/>
                </a:solidFill>
                <a:latin typeface="Aptos" panose="020B0004020202020204" pitchFamily="34" charset="0"/>
              </a:rPr>
              <a:t>Angular</a:t>
            </a:r>
          </a:p>
        </p:txBody>
      </p:sp>
      <p:sp>
        <p:nvSpPr>
          <p:cNvPr id="21" name="ZoneTexte 20">
            <a:extLst>
              <a:ext uri="{FF2B5EF4-FFF2-40B4-BE49-F238E27FC236}">
                <a16:creationId xmlns:a16="http://schemas.microsoft.com/office/drawing/2014/main" id="{E852E1D1-0225-AD79-2ED4-D53077C23C9F}"/>
              </a:ext>
            </a:extLst>
          </p:cNvPr>
          <p:cNvSpPr txBox="1"/>
          <p:nvPr/>
        </p:nvSpPr>
        <p:spPr>
          <a:xfrm>
            <a:off x="8255000" y="1993900"/>
            <a:ext cx="2159000" cy="135422"/>
          </a:xfrm>
          <a:prstGeom prst="rect">
            <a:avLst/>
          </a:prstGeom>
          <a:noFill/>
        </p:spPr>
        <p:txBody>
          <a:bodyPr vert="horz" lIns="0" tIns="0" rIns="0" bIns="0" rtlCol="0">
            <a:spAutoFit/>
          </a:bodyPr>
          <a:lstStyle/>
          <a:p>
            <a:r>
              <a:rPr lang="en-US" sz="880">
                <a:solidFill>
                  <a:srgbClr val="16201E"/>
                </a:solidFill>
                <a:latin typeface="Aptos" panose="020B0004020202020204" pitchFamily="34" charset="0"/>
              </a:rPr>
              <a:t>Role-specific UI</a:t>
            </a:r>
          </a:p>
        </p:txBody>
      </p:sp>
      <p:sp>
        <p:nvSpPr>
          <p:cNvPr id="22" name="Rectangle 21">
            <a:extLst>
              <a:ext uri="{FF2B5EF4-FFF2-40B4-BE49-F238E27FC236}">
                <a16:creationId xmlns:a16="http://schemas.microsoft.com/office/drawing/2014/main" id="{001131A0-2B5F-98BA-0952-B1078EBB5F02}"/>
              </a:ext>
            </a:extLst>
          </p:cNvPr>
          <p:cNvSpPr/>
          <p:nvPr/>
        </p:nvSpPr>
        <p:spPr>
          <a:xfrm>
            <a:off x="8445500" y="2451100"/>
            <a:ext cx="25400" cy="2286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79202AD-8441-C82D-2D07-94CFEA9E646F}"/>
              </a:ext>
            </a:extLst>
          </p:cNvPr>
          <p:cNvSpPr/>
          <p:nvPr/>
        </p:nvSpPr>
        <p:spPr>
          <a:xfrm>
            <a:off x="6350000" y="2692400"/>
            <a:ext cx="4445000" cy="5461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ZoneTexte 23">
            <a:extLst>
              <a:ext uri="{FF2B5EF4-FFF2-40B4-BE49-F238E27FC236}">
                <a16:creationId xmlns:a16="http://schemas.microsoft.com/office/drawing/2014/main" id="{0AEE8AA4-8EEF-25A1-1FC9-8473E83FDB48}"/>
              </a:ext>
            </a:extLst>
          </p:cNvPr>
          <p:cNvSpPr txBox="1"/>
          <p:nvPr/>
        </p:nvSpPr>
        <p:spPr>
          <a:xfrm>
            <a:off x="6604000" y="2806700"/>
            <a:ext cx="1524000" cy="176972"/>
          </a:xfrm>
          <a:prstGeom prst="rect">
            <a:avLst/>
          </a:prstGeom>
          <a:noFill/>
        </p:spPr>
        <p:txBody>
          <a:bodyPr vert="horz" lIns="0" tIns="0" rIns="0" bIns="0" rtlCol="0">
            <a:spAutoFit/>
          </a:bodyPr>
          <a:lstStyle/>
          <a:p>
            <a:r>
              <a:rPr lang="en-US" sz="1150" b="1">
                <a:solidFill>
                  <a:srgbClr val="315E8A"/>
                </a:solidFill>
                <a:latin typeface="Aptos" panose="020B0004020202020204" pitchFamily="34" charset="0"/>
              </a:rPr>
              <a:t>Spring Boot</a:t>
            </a:r>
          </a:p>
        </p:txBody>
      </p:sp>
      <p:sp>
        <p:nvSpPr>
          <p:cNvPr id="25" name="ZoneTexte 24">
            <a:extLst>
              <a:ext uri="{FF2B5EF4-FFF2-40B4-BE49-F238E27FC236}">
                <a16:creationId xmlns:a16="http://schemas.microsoft.com/office/drawing/2014/main" id="{4932940B-70CD-A90F-2B0D-949E5258AE89}"/>
              </a:ext>
            </a:extLst>
          </p:cNvPr>
          <p:cNvSpPr txBox="1"/>
          <p:nvPr/>
        </p:nvSpPr>
        <p:spPr>
          <a:xfrm>
            <a:off x="8255000" y="2806700"/>
            <a:ext cx="2159000" cy="135422"/>
          </a:xfrm>
          <a:prstGeom prst="rect">
            <a:avLst/>
          </a:prstGeom>
          <a:noFill/>
        </p:spPr>
        <p:txBody>
          <a:bodyPr vert="horz" lIns="0" tIns="0" rIns="0" bIns="0" rtlCol="0">
            <a:spAutoFit/>
          </a:bodyPr>
          <a:lstStyle/>
          <a:p>
            <a:r>
              <a:rPr lang="en-US" sz="880">
                <a:solidFill>
                  <a:srgbClr val="16201E"/>
                </a:solidFill>
                <a:latin typeface="Aptos" panose="020B0004020202020204" pitchFamily="34" charset="0"/>
              </a:rPr>
              <a:t>Security, lifecycle, authorizations</a:t>
            </a:r>
          </a:p>
        </p:txBody>
      </p:sp>
      <p:sp>
        <p:nvSpPr>
          <p:cNvPr id="26" name="Rectangle 25">
            <a:extLst>
              <a:ext uri="{FF2B5EF4-FFF2-40B4-BE49-F238E27FC236}">
                <a16:creationId xmlns:a16="http://schemas.microsoft.com/office/drawing/2014/main" id="{B73FEB91-0253-7641-CB89-C6BFF23BC0F2}"/>
              </a:ext>
            </a:extLst>
          </p:cNvPr>
          <p:cNvSpPr/>
          <p:nvPr/>
        </p:nvSpPr>
        <p:spPr>
          <a:xfrm>
            <a:off x="8445500" y="3263900"/>
            <a:ext cx="25400" cy="2286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E0700D0-B0A4-C64A-2B5B-778EE3EEB125}"/>
              </a:ext>
            </a:extLst>
          </p:cNvPr>
          <p:cNvSpPr/>
          <p:nvPr/>
        </p:nvSpPr>
        <p:spPr>
          <a:xfrm>
            <a:off x="6350000" y="3505200"/>
            <a:ext cx="4445000" cy="5461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ZoneTexte 27">
            <a:extLst>
              <a:ext uri="{FF2B5EF4-FFF2-40B4-BE49-F238E27FC236}">
                <a16:creationId xmlns:a16="http://schemas.microsoft.com/office/drawing/2014/main" id="{642AC67F-0DAE-A390-F365-2C53D2BCC204}"/>
              </a:ext>
            </a:extLst>
          </p:cNvPr>
          <p:cNvSpPr txBox="1"/>
          <p:nvPr/>
        </p:nvSpPr>
        <p:spPr>
          <a:xfrm>
            <a:off x="6604000" y="3619500"/>
            <a:ext cx="1524000" cy="176972"/>
          </a:xfrm>
          <a:prstGeom prst="rect">
            <a:avLst/>
          </a:prstGeom>
          <a:noFill/>
        </p:spPr>
        <p:txBody>
          <a:bodyPr vert="horz" lIns="0" tIns="0" rIns="0" bIns="0" rtlCol="0">
            <a:spAutoFit/>
          </a:bodyPr>
          <a:lstStyle/>
          <a:p>
            <a:r>
              <a:rPr lang="en-US" sz="1150" b="1">
                <a:solidFill>
                  <a:srgbClr val="C2802A"/>
                </a:solidFill>
                <a:latin typeface="Aptos" panose="020B0004020202020204" pitchFamily="34" charset="0"/>
              </a:rPr>
              <a:t>FastAPI + Ollama</a:t>
            </a:r>
          </a:p>
        </p:txBody>
      </p:sp>
      <p:sp>
        <p:nvSpPr>
          <p:cNvPr id="29" name="ZoneTexte 28">
            <a:extLst>
              <a:ext uri="{FF2B5EF4-FFF2-40B4-BE49-F238E27FC236}">
                <a16:creationId xmlns:a16="http://schemas.microsoft.com/office/drawing/2014/main" id="{D1897868-FD64-64D7-7056-6CBAA71C7A39}"/>
              </a:ext>
            </a:extLst>
          </p:cNvPr>
          <p:cNvSpPr txBox="1"/>
          <p:nvPr/>
        </p:nvSpPr>
        <p:spPr>
          <a:xfrm>
            <a:off x="8255000" y="3619500"/>
            <a:ext cx="2159000" cy="135422"/>
          </a:xfrm>
          <a:prstGeom prst="rect">
            <a:avLst/>
          </a:prstGeom>
          <a:noFill/>
        </p:spPr>
        <p:txBody>
          <a:bodyPr vert="horz" lIns="0" tIns="0" rIns="0" bIns="0" rtlCol="0">
            <a:spAutoFit/>
          </a:bodyPr>
          <a:lstStyle/>
          <a:p>
            <a:r>
              <a:rPr lang="en-US" sz="880">
                <a:solidFill>
                  <a:srgbClr val="16201E"/>
                </a:solidFill>
                <a:latin typeface="Aptos" panose="020B0004020202020204" pitchFamily="34" charset="0"/>
              </a:rPr>
              <a:t>Embeddings, summary, keywords, chatbot</a:t>
            </a:r>
          </a:p>
        </p:txBody>
      </p:sp>
      <p:sp>
        <p:nvSpPr>
          <p:cNvPr id="30" name="Rectangle 29">
            <a:extLst>
              <a:ext uri="{FF2B5EF4-FFF2-40B4-BE49-F238E27FC236}">
                <a16:creationId xmlns:a16="http://schemas.microsoft.com/office/drawing/2014/main" id="{B5B5174F-7A82-3568-DCFA-40795C9E9C78}"/>
              </a:ext>
            </a:extLst>
          </p:cNvPr>
          <p:cNvSpPr/>
          <p:nvPr/>
        </p:nvSpPr>
        <p:spPr>
          <a:xfrm>
            <a:off x="8445500" y="4076700"/>
            <a:ext cx="25400" cy="2286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8AD22DD-6C76-2188-2674-3BD854FE88B7}"/>
              </a:ext>
            </a:extLst>
          </p:cNvPr>
          <p:cNvSpPr/>
          <p:nvPr/>
        </p:nvSpPr>
        <p:spPr>
          <a:xfrm>
            <a:off x="6350000" y="4318000"/>
            <a:ext cx="4445000" cy="546100"/>
          </a:xfrm>
          <a:prstGeom prst="rect">
            <a:avLst/>
          </a:prstGeom>
          <a:solidFill>
            <a:srgbClr val="10431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ZoneTexte 31">
            <a:extLst>
              <a:ext uri="{FF2B5EF4-FFF2-40B4-BE49-F238E27FC236}">
                <a16:creationId xmlns:a16="http://schemas.microsoft.com/office/drawing/2014/main" id="{DD2F0863-B210-5BA3-9939-CBE39EB41AAD}"/>
              </a:ext>
            </a:extLst>
          </p:cNvPr>
          <p:cNvSpPr txBox="1"/>
          <p:nvPr/>
        </p:nvSpPr>
        <p:spPr>
          <a:xfrm>
            <a:off x="6604000" y="4432300"/>
            <a:ext cx="1524000" cy="176972"/>
          </a:xfrm>
          <a:prstGeom prst="rect">
            <a:avLst/>
          </a:prstGeom>
          <a:noFill/>
        </p:spPr>
        <p:txBody>
          <a:bodyPr vert="horz" lIns="0" tIns="0" rIns="0" bIns="0" rtlCol="0">
            <a:spAutoFit/>
          </a:bodyPr>
          <a:lstStyle/>
          <a:p>
            <a:r>
              <a:rPr lang="en-US" sz="1150" b="1">
                <a:solidFill>
                  <a:srgbClr val="FFFFFF"/>
                </a:solidFill>
                <a:latin typeface="Aptos" panose="020B0004020202020204" pitchFamily="34" charset="0"/>
              </a:rPr>
              <a:t>PostgreSQL + pgvector</a:t>
            </a:r>
          </a:p>
        </p:txBody>
      </p:sp>
      <p:sp>
        <p:nvSpPr>
          <p:cNvPr id="33" name="ZoneTexte 32">
            <a:extLst>
              <a:ext uri="{FF2B5EF4-FFF2-40B4-BE49-F238E27FC236}">
                <a16:creationId xmlns:a16="http://schemas.microsoft.com/office/drawing/2014/main" id="{CD8EB52D-C2E9-01FC-D6E7-3749BE3C5D18}"/>
              </a:ext>
            </a:extLst>
          </p:cNvPr>
          <p:cNvSpPr txBox="1"/>
          <p:nvPr/>
        </p:nvSpPr>
        <p:spPr>
          <a:xfrm>
            <a:off x="8255000" y="4432300"/>
            <a:ext cx="2159000" cy="135422"/>
          </a:xfrm>
          <a:prstGeom prst="rect">
            <a:avLst/>
          </a:prstGeom>
          <a:noFill/>
        </p:spPr>
        <p:txBody>
          <a:bodyPr vert="horz" lIns="0" tIns="0" rIns="0" bIns="0" rtlCol="0">
            <a:spAutoFit/>
          </a:bodyPr>
          <a:lstStyle/>
          <a:p>
            <a:r>
              <a:rPr lang="en-US" sz="880">
                <a:solidFill>
                  <a:srgbClr val="DDE8E3"/>
                </a:solidFill>
                <a:latin typeface="Aptos" panose="020B0004020202020204" pitchFamily="34" charset="0"/>
              </a:rPr>
              <a:t>Relational data and vectors</a:t>
            </a:r>
          </a:p>
        </p:txBody>
      </p:sp>
      <p:sp>
        <p:nvSpPr>
          <p:cNvPr id="34" name="Rectangle 33">
            <a:extLst>
              <a:ext uri="{FF2B5EF4-FFF2-40B4-BE49-F238E27FC236}">
                <a16:creationId xmlns:a16="http://schemas.microsoft.com/office/drawing/2014/main" id="{66EA6488-2BB4-6DF8-2978-48B137B8417C}"/>
              </a:ext>
            </a:extLst>
          </p:cNvPr>
          <p:cNvSpPr/>
          <p:nvPr/>
        </p:nvSpPr>
        <p:spPr>
          <a:xfrm>
            <a:off x="10985500" y="3111500"/>
            <a:ext cx="787400" cy="762000"/>
          </a:xfrm>
          <a:prstGeom prst="rect">
            <a:avLst/>
          </a:prstGeom>
          <a:solidFill>
            <a:srgbClr val="F1E4D2"/>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ZoneTexte 34">
            <a:extLst>
              <a:ext uri="{FF2B5EF4-FFF2-40B4-BE49-F238E27FC236}">
                <a16:creationId xmlns:a16="http://schemas.microsoft.com/office/drawing/2014/main" id="{4DDAF8F1-0726-76BC-2FB9-2B9211CA3DE4}"/>
              </a:ext>
            </a:extLst>
          </p:cNvPr>
          <p:cNvSpPr txBox="1"/>
          <p:nvPr/>
        </p:nvSpPr>
        <p:spPr>
          <a:xfrm>
            <a:off x="11074400" y="3365500"/>
            <a:ext cx="609600" cy="261610"/>
          </a:xfrm>
          <a:prstGeom prst="rect">
            <a:avLst/>
          </a:prstGeom>
          <a:noFill/>
        </p:spPr>
        <p:txBody>
          <a:bodyPr vert="horz" lIns="0" tIns="0" rIns="0" bIns="0" rtlCol="0">
            <a:spAutoFit/>
          </a:bodyPr>
          <a:lstStyle/>
          <a:p>
            <a:pPr algn="ctr"/>
            <a:r>
              <a:rPr lang="en-US" sz="850">
                <a:solidFill>
                  <a:srgbClr val="16201E"/>
                </a:solidFill>
                <a:latin typeface="Aptos" panose="020B0004020202020204" pitchFamily="34" charset="0"/>
              </a:rPr>
              <a:t>Local PDF</a:t>
            </a:r>
          </a:p>
          <a:p>
            <a:pPr algn="ctr"/>
            <a:r>
              <a:rPr lang="en-US" sz="850">
                <a:solidFill>
                  <a:srgbClr val="16201E"/>
                </a:solidFill>
                <a:latin typeface="Aptos" panose="020B0004020202020204" pitchFamily="34" charset="0"/>
              </a:rPr>
              <a:t>storage</a:t>
            </a:r>
          </a:p>
        </p:txBody>
      </p:sp>
    </p:spTree>
    <p:extLst>
      <p:ext uri="{BB962C8B-B14F-4D97-AF65-F5344CB8AC3E}">
        <p14:creationId xmlns:p14="http://schemas.microsoft.com/office/powerpoint/2010/main" val="2790500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D2A8E1-D7A3-B254-29DB-E40586FBA6D2}"/>
              </a:ext>
            </a:extLst>
          </p:cNvPr>
          <p:cNvSpPr/>
          <p:nvPr/>
        </p:nvSpPr>
        <p:spPr>
          <a:xfrm>
            <a:off x="0" y="0"/>
            <a:ext cx="12192000" cy="50800"/>
          </a:xfrm>
          <a:prstGeom prst="rect">
            <a:avLst/>
          </a:prstGeom>
          <a:solidFill>
            <a:srgbClr val="E1E7E2"/>
          </a:solidFill>
          <a:ln w="9525">
            <a:solidFill>
              <a:srgbClr val="E1E7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8C1F7D8-CD18-549D-79B4-F6856F413232}"/>
              </a:ext>
            </a:extLst>
          </p:cNvPr>
          <p:cNvSpPr/>
          <p:nvPr/>
        </p:nvSpPr>
        <p:spPr>
          <a:xfrm>
            <a:off x="0" y="0"/>
            <a:ext cx="7505700" cy="508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BEB19F3-11BC-9486-3244-14A96640CC73}"/>
              </a:ext>
            </a:extLst>
          </p:cNvPr>
          <p:cNvSpPr/>
          <p:nvPr/>
        </p:nvSpPr>
        <p:spPr>
          <a:xfrm>
            <a:off x="457200" y="317500"/>
            <a:ext cx="76200" cy="762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D537D3E7-5031-F362-144A-D8CDCE2B85B9}"/>
              </a:ext>
            </a:extLst>
          </p:cNvPr>
          <p:cNvSpPr txBox="1"/>
          <p:nvPr/>
        </p:nvSpPr>
        <p:spPr>
          <a:xfrm>
            <a:off x="635000" y="279400"/>
            <a:ext cx="3048000" cy="115416"/>
          </a:xfrm>
          <a:prstGeom prst="rect">
            <a:avLst/>
          </a:prstGeom>
          <a:noFill/>
        </p:spPr>
        <p:txBody>
          <a:bodyPr vert="horz" lIns="0" tIns="0" rIns="0" bIns="0" rtlCol="0">
            <a:spAutoFit/>
          </a:bodyPr>
          <a:lstStyle/>
          <a:p>
            <a:r>
              <a:rPr lang="en-US" sz="750" b="1">
                <a:solidFill>
                  <a:srgbClr val="66536E"/>
                </a:solidFill>
                <a:latin typeface="Aptos" panose="020B0004020202020204" pitchFamily="34" charset="0"/>
              </a:rPr>
              <a:t>IMPLEMENTATION</a:t>
            </a:r>
          </a:p>
        </p:txBody>
      </p:sp>
      <p:sp>
        <p:nvSpPr>
          <p:cNvPr id="6" name="Rectangle 5">
            <a:extLst>
              <a:ext uri="{FF2B5EF4-FFF2-40B4-BE49-F238E27FC236}">
                <a16:creationId xmlns:a16="http://schemas.microsoft.com/office/drawing/2014/main" id="{AD077F23-2186-E76A-A2FE-BFE8EC6AFB8E}"/>
              </a:ext>
            </a:extLst>
          </p:cNvPr>
          <p:cNvSpPr/>
          <p:nvPr/>
        </p:nvSpPr>
        <p:spPr>
          <a:xfrm>
            <a:off x="457200" y="6426200"/>
            <a:ext cx="10287000" cy="12700"/>
          </a:xfrm>
          <a:prstGeom prst="rect">
            <a:avLst/>
          </a:prstGeom>
          <a:solidFill>
            <a:srgbClr val="C0CDC8"/>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C8B85262-2BB0-D966-73CD-9FCC5B220FF6}"/>
              </a:ext>
            </a:extLst>
          </p:cNvPr>
          <p:cNvSpPr txBox="1"/>
          <p:nvPr/>
        </p:nvSpPr>
        <p:spPr>
          <a:xfrm>
            <a:off x="10896600" y="6286500"/>
            <a:ext cx="762000" cy="138499"/>
          </a:xfrm>
          <a:prstGeom prst="rect">
            <a:avLst/>
          </a:prstGeom>
          <a:noFill/>
        </p:spPr>
        <p:txBody>
          <a:bodyPr vert="horz" lIns="0" tIns="0" rIns="0" bIns="0" rtlCol="0">
            <a:spAutoFit/>
          </a:bodyPr>
          <a:lstStyle/>
          <a:p>
            <a:pPr algn="r"/>
            <a:r>
              <a:rPr lang="en-US" sz="900" b="1">
                <a:solidFill>
                  <a:srgbClr val="66536E"/>
                </a:solidFill>
                <a:latin typeface="Aptos" panose="020B0004020202020204" pitchFamily="34" charset="0"/>
              </a:rPr>
              <a:t>8/13</a:t>
            </a:r>
          </a:p>
        </p:txBody>
      </p:sp>
      <p:sp>
        <p:nvSpPr>
          <p:cNvPr id="8" name="ZoneTexte 7">
            <a:extLst>
              <a:ext uri="{FF2B5EF4-FFF2-40B4-BE49-F238E27FC236}">
                <a16:creationId xmlns:a16="http://schemas.microsoft.com/office/drawing/2014/main" id="{A3DEFD91-7D42-EE6A-9DA4-93C94BA01681}"/>
              </a:ext>
            </a:extLst>
          </p:cNvPr>
          <p:cNvSpPr txBox="1"/>
          <p:nvPr/>
        </p:nvSpPr>
        <p:spPr>
          <a:xfrm>
            <a:off x="457200" y="635000"/>
            <a:ext cx="7747000" cy="353943"/>
          </a:xfrm>
          <a:prstGeom prst="rect">
            <a:avLst/>
          </a:prstGeom>
          <a:noFill/>
        </p:spPr>
        <p:txBody>
          <a:bodyPr vert="horz" lIns="0" tIns="0" rIns="0" bIns="0" rtlCol="0">
            <a:spAutoFit/>
          </a:bodyPr>
          <a:lstStyle/>
          <a:p>
            <a:r>
              <a:rPr lang="en-US" sz="2300" b="1">
                <a:solidFill>
                  <a:srgbClr val="16201E"/>
                </a:solidFill>
                <a:latin typeface="Georgia" panose="02040502050405020303" pitchFamily="18" charset="0"/>
              </a:rPr>
              <a:t>Sprint 1 Built the Secure Foundation</a:t>
            </a:r>
          </a:p>
        </p:txBody>
      </p:sp>
      <p:sp>
        <p:nvSpPr>
          <p:cNvPr id="9" name="Rectangle 8">
            <a:extLst>
              <a:ext uri="{FF2B5EF4-FFF2-40B4-BE49-F238E27FC236}">
                <a16:creationId xmlns:a16="http://schemas.microsoft.com/office/drawing/2014/main" id="{A43111AD-9C07-8B6F-3BC3-05959175981A}"/>
              </a:ext>
            </a:extLst>
          </p:cNvPr>
          <p:cNvSpPr/>
          <p:nvPr/>
        </p:nvSpPr>
        <p:spPr>
          <a:xfrm>
            <a:off x="635000" y="19304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D35D0EA2-75D3-A1E4-F7B8-B098173566DA}"/>
              </a:ext>
            </a:extLst>
          </p:cNvPr>
          <p:cNvSpPr txBox="1"/>
          <p:nvPr/>
        </p:nvSpPr>
        <p:spPr>
          <a:xfrm>
            <a:off x="863600" y="18415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JWT authentication and protected routes</a:t>
            </a:r>
          </a:p>
        </p:txBody>
      </p:sp>
      <p:sp>
        <p:nvSpPr>
          <p:cNvPr id="11" name="Rectangle 10">
            <a:extLst>
              <a:ext uri="{FF2B5EF4-FFF2-40B4-BE49-F238E27FC236}">
                <a16:creationId xmlns:a16="http://schemas.microsoft.com/office/drawing/2014/main" id="{EA45CDBC-A7AE-3379-32B5-154F123EDB73}"/>
              </a:ext>
            </a:extLst>
          </p:cNvPr>
          <p:cNvSpPr/>
          <p:nvPr/>
        </p:nvSpPr>
        <p:spPr>
          <a:xfrm>
            <a:off x="635000" y="24003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ZoneTexte 11">
            <a:extLst>
              <a:ext uri="{FF2B5EF4-FFF2-40B4-BE49-F238E27FC236}">
                <a16:creationId xmlns:a16="http://schemas.microsoft.com/office/drawing/2014/main" id="{F84C4F25-942A-5A15-286A-8E172426252E}"/>
              </a:ext>
            </a:extLst>
          </p:cNvPr>
          <p:cNvSpPr txBox="1"/>
          <p:nvPr/>
        </p:nvSpPr>
        <p:spPr>
          <a:xfrm>
            <a:off x="863600" y="23114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Roles: RESEARCHER, CHECKER, ADMIN</a:t>
            </a:r>
          </a:p>
        </p:txBody>
      </p:sp>
      <p:sp>
        <p:nvSpPr>
          <p:cNvPr id="13" name="Rectangle 12">
            <a:extLst>
              <a:ext uri="{FF2B5EF4-FFF2-40B4-BE49-F238E27FC236}">
                <a16:creationId xmlns:a16="http://schemas.microsoft.com/office/drawing/2014/main" id="{AB6243CA-F89B-7F1D-5384-E0778E85AE99}"/>
              </a:ext>
            </a:extLst>
          </p:cNvPr>
          <p:cNvSpPr/>
          <p:nvPr/>
        </p:nvSpPr>
        <p:spPr>
          <a:xfrm>
            <a:off x="635000" y="28702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ZoneTexte 13">
            <a:extLst>
              <a:ext uri="{FF2B5EF4-FFF2-40B4-BE49-F238E27FC236}">
                <a16:creationId xmlns:a16="http://schemas.microsoft.com/office/drawing/2014/main" id="{35DF8D0B-4299-572A-9B50-B590B30B8955}"/>
              </a:ext>
            </a:extLst>
          </p:cNvPr>
          <p:cNvSpPr txBox="1"/>
          <p:nvPr/>
        </p:nvSpPr>
        <p:spPr>
          <a:xfrm>
            <a:off x="863600" y="27813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Profile management and expertise fields</a:t>
            </a:r>
          </a:p>
        </p:txBody>
      </p:sp>
      <p:sp>
        <p:nvSpPr>
          <p:cNvPr id="15" name="Rectangle 14">
            <a:extLst>
              <a:ext uri="{FF2B5EF4-FFF2-40B4-BE49-F238E27FC236}">
                <a16:creationId xmlns:a16="http://schemas.microsoft.com/office/drawing/2014/main" id="{99DDD561-EB70-4C83-AE35-9483720B459F}"/>
              </a:ext>
            </a:extLst>
          </p:cNvPr>
          <p:cNvSpPr/>
          <p:nvPr/>
        </p:nvSpPr>
        <p:spPr>
          <a:xfrm>
            <a:off x="635000" y="33401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ZoneTexte 15">
            <a:extLst>
              <a:ext uri="{FF2B5EF4-FFF2-40B4-BE49-F238E27FC236}">
                <a16:creationId xmlns:a16="http://schemas.microsoft.com/office/drawing/2014/main" id="{A274FB20-F735-4C07-4997-76FD55A0478F}"/>
              </a:ext>
            </a:extLst>
          </p:cNvPr>
          <p:cNvSpPr txBox="1"/>
          <p:nvPr/>
        </p:nvSpPr>
        <p:spPr>
          <a:xfrm>
            <a:off x="863600" y="32512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PDF upload to local storage</a:t>
            </a:r>
          </a:p>
        </p:txBody>
      </p:sp>
      <p:sp>
        <p:nvSpPr>
          <p:cNvPr id="17" name="Rectangle 16">
            <a:extLst>
              <a:ext uri="{FF2B5EF4-FFF2-40B4-BE49-F238E27FC236}">
                <a16:creationId xmlns:a16="http://schemas.microsoft.com/office/drawing/2014/main" id="{BCDC595E-0FAE-9D48-4A7A-418EBFF46A6F}"/>
              </a:ext>
            </a:extLst>
          </p:cNvPr>
          <p:cNvSpPr/>
          <p:nvPr/>
        </p:nvSpPr>
        <p:spPr>
          <a:xfrm>
            <a:off x="635000" y="38100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ZoneTexte 17">
            <a:extLst>
              <a:ext uri="{FF2B5EF4-FFF2-40B4-BE49-F238E27FC236}">
                <a16:creationId xmlns:a16="http://schemas.microsoft.com/office/drawing/2014/main" id="{ADC7A824-4B86-58B9-5BB3-8888628299F9}"/>
              </a:ext>
            </a:extLst>
          </p:cNvPr>
          <p:cNvSpPr txBox="1"/>
          <p:nvPr/>
        </p:nvSpPr>
        <p:spPr>
          <a:xfrm>
            <a:off x="863600" y="37211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Admin user activation and role management</a:t>
            </a:r>
          </a:p>
        </p:txBody>
      </p:sp>
      <p:sp>
        <p:nvSpPr>
          <p:cNvPr id="19" name="Rectangle 18">
            <a:extLst>
              <a:ext uri="{FF2B5EF4-FFF2-40B4-BE49-F238E27FC236}">
                <a16:creationId xmlns:a16="http://schemas.microsoft.com/office/drawing/2014/main" id="{E73BB5FA-73B8-54B8-8655-4B77AFAB72B8}"/>
              </a:ext>
            </a:extLst>
          </p:cNvPr>
          <p:cNvSpPr/>
          <p:nvPr/>
        </p:nvSpPr>
        <p:spPr>
          <a:xfrm>
            <a:off x="5969000" y="2032000"/>
            <a:ext cx="1600200" cy="24130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Image 20">
            <a:extLst>
              <a:ext uri="{FF2B5EF4-FFF2-40B4-BE49-F238E27FC236}">
                <a16:creationId xmlns:a16="http://schemas.microsoft.com/office/drawing/2014/main" id="{AB6405DA-F0BC-43FE-E72C-E201F60FD3A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45200" y="2108200"/>
            <a:ext cx="1447800" cy="2095500"/>
          </a:xfrm>
          <a:prstGeom prst="rect">
            <a:avLst/>
          </a:prstGeom>
        </p:spPr>
      </p:pic>
      <p:sp>
        <p:nvSpPr>
          <p:cNvPr id="22" name="Rectangle 21">
            <a:extLst>
              <a:ext uri="{FF2B5EF4-FFF2-40B4-BE49-F238E27FC236}">
                <a16:creationId xmlns:a16="http://schemas.microsoft.com/office/drawing/2014/main" id="{13F45457-B7F6-18CA-510D-F6186EE3BFB6}"/>
              </a:ext>
            </a:extLst>
          </p:cNvPr>
          <p:cNvSpPr/>
          <p:nvPr/>
        </p:nvSpPr>
        <p:spPr>
          <a:xfrm>
            <a:off x="7810500" y="2032000"/>
            <a:ext cx="1600200" cy="24130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Image 23">
            <a:extLst>
              <a:ext uri="{FF2B5EF4-FFF2-40B4-BE49-F238E27FC236}">
                <a16:creationId xmlns:a16="http://schemas.microsoft.com/office/drawing/2014/main" id="{3C6D0B8A-06A3-7E6F-460A-805AC015C10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886700" y="2108200"/>
            <a:ext cx="1447800" cy="2095500"/>
          </a:xfrm>
          <a:prstGeom prst="rect">
            <a:avLst/>
          </a:prstGeom>
        </p:spPr>
      </p:pic>
      <p:sp>
        <p:nvSpPr>
          <p:cNvPr id="25" name="Rectangle 24">
            <a:extLst>
              <a:ext uri="{FF2B5EF4-FFF2-40B4-BE49-F238E27FC236}">
                <a16:creationId xmlns:a16="http://schemas.microsoft.com/office/drawing/2014/main" id="{5BE6EE39-0B92-A714-E2A6-90AAFA0C9465}"/>
              </a:ext>
            </a:extLst>
          </p:cNvPr>
          <p:cNvSpPr/>
          <p:nvPr/>
        </p:nvSpPr>
        <p:spPr>
          <a:xfrm>
            <a:off x="9652000" y="2032000"/>
            <a:ext cx="1600200" cy="24130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Image 26">
            <a:extLst>
              <a:ext uri="{FF2B5EF4-FFF2-40B4-BE49-F238E27FC236}">
                <a16:creationId xmlns:a16="http://schemas.microsoft.com/office/drawing/2014/main" id="{C02C5368-A0AF-2E85-F108-03EA2267335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9728200" y="2108200"/>
            <a:ext cx="1447800" cy="2095500"/>
          </a:xfrm>
          <a:prstGeom prst="rect">
            <a:avLst/>
          </a:prstGeom>
        </p:spPr>
      </p:pic>
    </p:spTree>
    <p:extLst>
      <p:ext uri="{BB962C8B-B14F-4D97-AF65-F5344CB8AC3E}">
        <p14:creationId xmlns:p14="http://schemas.microsoft.com/office/powerpoint/2010/main" val="2349490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61A420B-4047-8BA3-2C41-8E8D8B33EC93}"/>
              </a:ext>
            </a:extLst>
          </p:cNvPr>
          <p:cNvSpPr/>
          <p:nvPr/>
        </p:nvSpPr>
        <p:spPr>
          <a:xfrm>
            <a:off x="0" y="0"/>
            <a:ext cx="12192000" cy="50800"/>
          </a:xfrm>
          <a:prstGeom prst="rect">
            <a:avLst/>
          </a:prstGeom>
          <a:solidFill>
            <a:srgbClr val="E1E7E2"/>
          </a:solidFill>
          <a:ln w="9525">
            <a:solidFill>
              <a:srgbClr val="E1E7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63A35C1-4B69-6143-8BB3-5825A4044470}"/>
              </a:ext>
            </a:extLst>
          </p:cNvPr>
          <p:cNvSpPr/>
          <p:nvPr/>
        </p:nvSpPr>
        <p:spPr>
          <a:xfrm>
            <a:off x="0" y="0"/>
            <a:ext cx="8445500" cy="508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4469083-5D35-62EA-D909-B105AFB95BE4}"/>
              </a:ext>
            </a:extLst>
          </p:cNvPr>
          <p:cNvSpPr/>
          <p:nvPr/>
        </p:nvSpPr>
        <p:spPr>
          <a:xfrm>
            <a:off x="457200" y="317500"/>
            <a:ext cx="76200" cy="762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D7512A0D-7428-9B2D-A9A4-9579DFB2D2C9}"/>
              </a:ext>
            </a:extLst>
          </p:cNvPr>
          <p:cNvSpPr txBox="1"/>
          <p:nvPr/>
        </p:nvSpPr>
        <p:spPr>
          <a:xfrm>
            <a:off x="635000" y="279400"/>
            <a:ext cx="3048000" cy="115416"/>
          </a:xfrm>
          <a:prstGeom prst="rect">
            <a:avLst/>
          </a:prstGeom>
          <a:noFill/>
        </p:spPr>
        <p:txBody>
          <a:bodyPr vert="horz" lIns="0" tIns="0" rIns="0" bIns="0" rtlCol="0">
            <a:spAutoFit/>
          </a:bodyPr>
          <a:lstStyle/>
          <a:p>
            <a:r>
              <a:rPr lang="en-US" sz="750" b="1">
                <a:solidFill>
                  <a:srgbClr val="66536E"/>
                </a:solidFill>
                <a:latin typeface="Aptos" panose="020B0004020202020204" pitchFamily="34" charset="0"/>
              </a:rPr>
              <a:t>IMPLEMENTATION</a:t>
            </a:r>
          </a:p>
        </p:txBody>
      </p:sp>
      <p:sp>
        <p:nvSpPr>
          <p:cNvPr id="6" name="Rectangle 5">
            <a:extLst>
              <a:ext uri="{FF2B5EF4-FFF2-40B4-BE49-F238E27FC236}">
                <a16:creationId xmlns:a16="http://schemas.microsoft.com/office/drawing/2014/main" id="{740D2DCB-8C6F-5C46-7AE0-C5EC3A685C2C}"/>
              </a:ext>
            </a:extLst>
          </p:cNvPr>
          <p:cNvSpPr/>
          <p:nvPr/>
        </p:nvSpPr>
        <p:spPr>
          <a:xfrm>
            <a:off x="457200" y="6426200"/>
            <a:ext cx="10287000" cy="12700"/>
          </a:xfrm>
          <a:prstGeom prst="rect">
            <a:avLst/>
          </a:prstGeom>
          <a:solidFill>
            <a:srgbClr val="C0CDC8"/>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8038B4F1-7988-CEBC-92F6-B396078AF89F}"/>
              </a:ext>
            </a:extLst>
          </p:cNvPr>
          <p:cNvSpPr txBox="1"/>
          <p:nvPr/>
        </p:nvSpPr>
        <p:spPr>
          <a:xfrm>
            <a:off x="10896600" y="6286500"/>
            <a:ext cx="762000" cy="138499"/>
          </a:xfrm>
          <a:prstGeom prst="rect">
            <a:avLst/>
          </a:prstGeom>
          <a:noFill/>
        </p:spPr>
        <p:txBody>
          <a:bodyPr vert="horz" lIns="0" tIns="0" rIns="0" bIns="0" rtlCol="0">
            <a:spAutoFit/>
          </a:bodyPr>
          <a:lstStyle/>
          <a:p>
            <a:pPr algn="r"/>
            <a:r>
              <a:rPr lang="en-US" sz="900" b="1">
                <a:solidFill>
                  <a:srgbClr val="66536E"/>
                </a:solidFill>
                <a:latin typeface="Aptos" panose="020B0004020202020204" pitchFamily="34" charset="0"/>
              </a:rPr>
              <a:t>9/13</a:t>
            </a:r>
          </a:p>
        </p:txBody>
      </p:sp>
      <p:sp>
        <p:nvSpPr>
          <p:cNvPr id="8" name="ZoneTexte 7">
            <a:extLst>
              <a:ext uri="{FF2B5EF4-FFF2-40B4-BE49-F238E27FC236}">
                <a16:creationId xmlns:a16="http://schemas.microsoft.com/office/drawing/2014/main" id="{56AEDA76-0EFF-024D-5BD5-AC68B7D93621}"/>
              </a:ext>
            </a:extLst>
          </p:cNvPr>
          <p:cNvSpPr txBox="1"/>
          <p:nvPr/>
        </p:nvSpPr>
        <p:spPr>
          <a:xfrm>
            <a:off x="457200" y="635000"/>
            <a:ext cx="7747000" cy="707886"/>
          </a:xfrm>
          <a:prstGeom prst="rect">
            <a:avLst/>
          </a:prstGeom>
          <a:noFill/>
        </p:spPr>
        <p:txBody>
          <a:bodyPr vert="horz" lIns="0" tIns="0" rIns="0" bIns="0" rtlCol="0">
            <a:spAutoFit/>
          </a:bodyPr>
          <a:lstStyle/>
          <a:p>
            <a:r>
              <a:rPr lang="en-US" sz="2300" b="1">
                <a:solidFill>
                  <a:srgbClr val="16201E"/>
                </a:solidFill>
                <a:latin typeface="Georgia" panose="02040502050405020303" pitchFamily="18" charset="0"/>
              </a:rPr>
              <a:t>Sprint 2 Turned a Draft PDF into Structured, Indexed Data</a:t>
            </a:r>
          </a:p>
        </p:txBody>
      </p:sp>
      <p:sp>
        <p:nvSpPr>
          <p:cNvPr id="9" name="Rectangle 8">
            <a:extLst>
              <a:ext uri="{FF2B5EF4-FFF2-40B4-BE49-F238E27FC236}">
                <a16:creationId xmlns:a16="http://schemas.microsoft.com/office/drawing/2014/main" id="{1AC972CD-2656-6283-A375-27F9940F4E77}"/>
              </a:ext>
            </a:extLst>
          </p:cNvPr>
          <p:cNvSpPr/>
          <p:nvPr/>
        </p:nvSpPr>
        <p:spPr>
          <a:xfrm>
            <a:off x="635000" y="19304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254DF836-80E0-50F3-3D7A-3BEB88F42BD6}"/>
              </a:ext>
            </a:extLst>
          </p:cNvPr>
          <p:cNvSpPr txBox="1"/>
          <p:nvPr/>
        </p:nvSpPr>
        <p:spPr>
          <a:xfrm>
            <a:off x="863600" y="18415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GROBID extracts title, authors, abstract, keywords</a:t>
            </a:r>
          </a:p>
        </p:txBody>
      </p:sp>
      <p:sp>
        <p:nvSpPr>
          <p:cNvPr id="11" name="Rectangle 10">
            <a:extLst>
              <a:ext uri="{FF2B5EF4-FFF2-40B4-BE49-F238E27FC236}">
                <a16:creationId xmlns:a16="http://schemas.microsoft.com/office/drawing/2014/main" id="{CC89B530-BBA9-97F4-9E46-51DF95CD980C}"/>
              </a:ext>
            </a:extLst>
          </p:cNvPr>
          <p:cNvSpPr/>
          <p:nvPr/>
        </p:nvSpPr>
        <p:spPr>
          <a:xfrm>
            <a:off x="635000" y="24003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ZoneTexte 11">
            <a:extLst>
              <a:ext uri="{FF2B5EF4-FFF2-40B4-BE49-F238E27FC236}">
                <a16:creationId xmlns:a16="http://schemas.microsoft.com/office/drawing/2014/main" id="{43A0763F-9455-524F-ED7C-C5A6CFBE5094}"/>
              </a:ext>
            </a:extLst>
          </p:cNvPr>
          <p:cNvSpPr txBox="1"/>
          <p:nvPr/>
        </p:nvSpPr>
        <p:spPr>
          <a:xfrm>
            <a:off x="863600" y="23114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Researcher edits metadata before submission</a:t>
            </a:r>
          </a:p>
        </p:txBody>
      </p:sp>
      <p:sp>
        <p:nvSpPr>
          <p:cNvPr id="13" name="Rectangle 12">
            <a:extLst>
              <a:ext uri="{FF2B5EF4-FFF2-40B4-BE49-F238E27FC236}">
                <a16:creationId xmlns:a16="http://schemas.microsoft.com/office/drawing/2014/main" id="{3AD1B53B-D771-6707-49C0-DC3B02C6DA6D}"/>
              </a:ext>
            </a:extLst>
          </p:cNvPr>
          <p:cNvSpPr/>
          <p:nvPr/>
        </p:nvSpPr>
        <p:spPr>
          <a:xfrm>
            <a:off x="635000" y="28702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ZoneTexte 13">
            <a:extLst>
              <a:ext uri="{FF2B5EF4-FFF2-40B4-BE49-F238E27FC236}">
                <a16:creationId xmlns:a16="http://schemas.microsoft.com/office/drawing/2014/main" id="{C8B5E86D-B5EF-08AD-F867-D4AF0550022F}"/>
              </a:ext>
            </a:extLst>
          </p:cNvPr>
          <p:cNvSpPr txBox="1"/>
          <p:nvPr/>
        </p:nvSpPr>
        <p:spPr>
          <a:xfrm>
            <a:off x="863600" y="27813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AI keyword extraction improves metadata</a:t>
            </a:r>
          </a:p>
        </p:txBody>
      </p:sp>
      <p:sp>
        <p:nvSpPr>
          <p:cNvPr id="15" name="Rectangle 14">
            <a:extLst>
              <a:ext uri="{FF2B5EF4-FFF2-40B4-BE49-F238E27FC236}">
                <a16:creationId xmlns:a16="http://schemas.microsoft.com/office/drawing/2014/main" id="{5D4D7E32-60FA-7185-5255-EE0384E2ED39}"/>
              </a:ext>
            </a:extLst>
          </p:cNvPr>
          <p:cNvSpPr/>
          <p:nvPr/>
        </p:nvSpPr>
        <p:spPr>
          <a:xfrm>
            <a:off x="635000" y="33401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ZoneTexte 15">
            <a:extLst>
              <a:ext uri="{FF2B5EF4-FFF2-40B4-BE49-F238E27FC236}">
                <a16:creationId xmlns:a16="http://schemas.microsoft.com/office/drawing/2014/main" id="{6FD325D0-480B-7C05-473A-0874A1043FA2}"/>
              </a:ext>
            </a:extLst>
          </p:cNvPr>
          <p:cNvSpPr txBox="1"/>
          <p:nvPr/>
        </p:nvSpPr>
        <p:spPr>
          <a:xfrm>
            <a:off x="863600" y="32512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Submission triggers asynchronous embedding</a:t>
            </a:r>
          </a:p>
        </p:txBody>
      </p:sp>
      <p:sp>
        <p:nvSpPr>
          <p:cNvPr id="17" name="Rectangle 16">
            <a:extLst>
              <a:ext uri="{FF2B5EF4-FFF2-40B4-BE49-F238E27FC236}">
                <a16:creationId xmlns:a16="http://schemas.microsoft.com/office/drawing/2014/main" id="{7D43AD80-0785-40D0-5E43-D18936F4F47D}"/>
              </a:ext>
            </a:extLst>
          </p:cNvPr>
          <p:cNvSpPr/>
          <p:nvPr/>
        </p:nvSpPr>
        <p:spPr>
          <a:xfrm>
            <a:off x="635000" y="38100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ZoneTexte 17">
            <a:extLst>
              <a:ext uri="{FF2B5EF4-FFF2-40B4-BE49-F238E27FC236}">
                <a16:creationId xmlns:a16="http://schemas.microsoft.com/office/drawing/2014/main" id="{F31C40D6-7C18-3D32-6B31-BD687B646F6E}"/>
              </a:ext>
            </a:extLst>
          </p:cNvPr>
          <p:cNvSpPr txBox="1"/>
          <p:nvPr/>
        </p:nvSpPr>
        <p:spPr>
          <a:xfrm>
            <a:off x="863600" y="37211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pgvector stores embeddings for later retrieval</a:t>
            </a:r>
          </a:p>
        </p:txBody>
      </p:sp>
      <p:sp>
        <p:nvSpPr>
          <p:cNvPr id="19" name="Rectangle 18">
            <a:extLst>
              <a:ext uri="{FF2B5EF4-FFF2-40B4-BE49-F238E27FC236}">
                <a16:creationId xmlns:a16="http://schemas.microsoft.com/office/drawing/2014/main" id="{20DA11FE-3D25-C553-F462-F4307652835A}"/>
              </a:ext>
            </a:extLst>
          </p:cNvPr>
          <p:cNvSpPr/>
          <p:nvPr/>
        </p:nvSpPr>
        <p:spPr>
          <a:xfrm>
            <a:off x="5969000" y="2032000"/>
            <a:ext cx="1600200" cy="24130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Image 20">
            <a:extLst>
              <a:ext uri="{FF2B5EF4-FFF2-40B4-BE49-F238E27FC236}">
                <a16:creationId xmlns:a16="http://schemas.microsoft.com/office/drawing/2014/main" id="{BE3552E0-00A9-7ADF-006C-D3C1B5DC7F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45200" y="2108200"/>
            <a:ext cx="1447800" cy="2095500"/>
          </a:xfrm>
          <a:prstGeom prst="rect">
            <a:avLst/>
          </a:prstGeom>
        </p:spPr>
      </p:pic>
      <p:sp>
        <p:nvSpPr>
          <p:cNvPr id="22" name="Rectangle 21">
            <a:extLst>
              <a:ext uri="{FF2B5EF4-FFF2-40B4-BE49-F238E27FC236}">
                <a16:creationId xmlns:a16="http://schemas.microsoft.com/office/drawing/2014/main" id="{C77C97CB-E0B9-AB36-4619-5B9F28D2E7D1}"/>
              </a:ext>
            </a:extLst>
          </p:cNvPr>
          <p:cNvSpPr/>
          <p:nvPr/>
        </p:nvSpPr>
        <p:spPr>
          <a:xfrm>
            <a:off x="7810500" y="2032000"/>
            <a:ext cx="1600200" cy="24130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Image 23">
            <a:extLst>
              <a:ext uri="{FF2B5EF4-FFF2-40B4-BE49-F238E27FC236}">
                <a16:creationId xmlns:a16="http://schemas.microsoft.com/office/drawing/2014/main" id="{C2D52F36-5092-F804-67AC-5F5D70D62F1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886700" y="2108200"/>
            <a:ext cx="1447800" cy="2095500"/>
          </a:xfrm>
          <a:prstGeom prst="rect">
            <a:avLst/>
          </a:prstGeom>
        </p:spPr>
      </p:pic>
      <p:sp>
        <p:nvSpPr>
          <p:cNvPr id="25" name="Rectangle 24">
            <a:extLst>
              <a:ext uri="{FF2B5EF4-FFF2-40B4-BE49-F238E27FC236}">
                <a16:creationId xmlns:a16="http://schemas.microsoft.com/office/drawing/2014/main" id="{363E43F8-2859-DB98-5407-C18B0BBC1434}"/>
              </a:ext>
            </a:extLst>
          </p:cNvPr>
          <p:cNvSpPr/>
          <p:nvPr/>
        </p:nvSpPr>
        <p:spPr>
          <a:xfrm>
            <a:off x="6286500" y="4991100"/>
            <a:ext cx="831850" cy="635000"/>
          </a:xfrm>
          <a:prstGeom prst="rect">
            <a:avLst/>
          </a:prstGeom>
          <a:solidFill>
            <a:srgbClr val="EAF1EC"/>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ZoneTexte 25">
            <a:extLst>
              <a:ext uri="{FF2B5EF4-FFF2-40B4-BE49-F238E27FC236}">
                <a16:creationId xmlns:a16="http://schemas.microsoft.com/office/drawing/2014/main" id="{72DD85EF-E130-41B0-0F63-A9826A8334B2}"/>
              </a:ext>
            </a:extLst>
          </p:cNvPr>
          <p:cNvSpPr txBox="1"/>
          <p:nvPr/>
        </p:nvSpPr>
        <p:spPr>
          <a:xfrm>
            <a:off x="6388100" y="5092700"/>
            <a:ext cx="355600" cy="130805"/>
          </a:xfrm>
          <a:prstGeom prst="rect">
            <a:avLst/>
          </a:prstGeom>
          <a:noFill/>
        </p:spPr>
        <p:txBody>
          <a:bodyPr vert="horz" lIns="0" tIns="0" rIns="0" bIns="0" rtlCol="0">
            <a:spAutoFit/>
          </a:bodyPr>
          <a:lstStyle/>
          <a:p>
            <a:r>
              <a:rPr lang="en-US" sz="850" b="1">
                <a:solidFill>
                  <a:srgbClr val="147D64"/>
                </a:solidFill>
                <a:latin typeface="Aptos" panose="020B0004020202020204" pitchFamily="34" charset="0"/>
              </a:rPr>
              <a:t>01</a:t>
            </a:r>
          </a:p>
        </p:txBody>
      </p:sp>
      <p:sp>
        <p:nvSpPr>
          <p:cNvPr id="27" name="ZoneTexte 26">
            <a:extLst>
              <a:ext uri="{FF2B5EF4-FFF2-40B4-BE49-F238E27FC236}">
                <a16:creationId xmlns:a16="http://schemas.microsoft.com/office/drawing/2014/main" id="{748AE629-C722-D86A-180E-09B3EB9FBE85}"/>
              </a:ext>
            </a:extLst>
          </p:cNvPr>
          <p:cNvSpPr txBox="1"/>
          <p:nvPr/>
        </p:nvSpPr>
        <p:spPr>
          <a:xfrm>
            <a:off x="6388100" y="5295900"/>
            <a:ext cx="628650"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PDF</a:t>
            </a:r>
          </a:p>
        </p:txBody>
      </p:sp>
      <p:sp>
        <p:nvSpPr>
          <p:cNvPr id="28" name="Rectangle 27">
            <a:extLst>
              <a:ext uri="{FF2B5EF4-FFF2-40B4-BE49-F238E27FC236}">
                <a16:creationId xmlns:a16="http://schemas.microsoft.com/office/drawing/2014/main" id="{07B22ED3-0822-D29C-09A6-15121950863A}"/>
              </a:ext>
            </a:extLst>
          </p:cNvPr>
          <p:cNvSpPr/>
          <p:nvPr/>
        </p:nvSpPr>
        <p:spPr>
          <a:xfrm>
            <a:off x="7118350" y="52959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DD80585-37C7-12F0-5F80-8876BBF8E2A4}"/>
              </a:ext>
            </a:extLst>
          </p:cNvPr>
          <p:cNvSpPr/>
          <p:nvPr/>
        </p:nvSpPr>
        <p:spPr>
          <a:xfrm>
            <a:off x="7270750" y="4991100"/>
            <a:ext cx="831850" cy="635000"/>
          </a:xfrm>
          <a:prstGeom prst="rect">
            <a:avLst/>
          </a:prstGeom>
          <a:solidFill>
            <a:srgbClr val="E7EEF6"/>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ZoneTexte 29">
            <a:extLst>
              <a:ext uri="{FF2B5EF4-FFF2-40B4-BE49-F238E27FC236}">
                <a16:creationId xmlns:a16="http://schemas.microsoft.com/office/drawing/2014/main" id="{F9F59B4A-5034-D6C5-8CF5-69E1BA7ABD2E}"/>
              </a:ext>
            </a:extLst>
          </p:cNvPr>
          <p:cNvSpPr txBox="1"/>
          <p:nvPr/>
        </p:nvSpPr>
        <p:spPr>
          <a:xfrm>
            <a:off x="7372350" y="5092700"/>
            <a:ext cx="355600" cy="130805"/>
          </a:xfrm>
          <a:prstGeom prst="rect">
            <a:avLst/>
          </a:prstGeom>
          <a:noFill/>
        </p:spPr>
        <p:txBody>
          <a:bodyPr vert="horz" lIns="0" tIns="0" rIns="0" bIns="0" rtlCol="0">
            <a:spAutoFit/>
          </a:bodyPr>
          <a:lstStyle/>
          <a:p>
            <a:r>
              <a:rPr lang="en-US" sz="850" b="1">
                <a:solidFill>
                  <a:srgbClr val="315E8A"/>
                </a:solidFill>
                <a:latin typeface="Aptos" panose="020B0004020202020204" pitchFamily="34" charset="0"/>
              </a:rPr>
              <a:t>02</a:t>
            </a:r>
          </a:p>
        </p:txBody>
      </p:sp>
      <p:sp>
        <p:nvSpPr>
          <p:cNvPr id="31" name="ZoneTexte 30">
            <a:extLst>
              <a:ext uri="{FF2B5EF4-FFF2-40B4-BE49-F238E27FC236}">
                <a16:creationId xmlns:a16="http://schemas.microsoft.com/office/drawing/2014/main" id="{F361DEC6-394A-896C-6DB0-8B539C53C0DF}"/>
              </a:ext>
            </a:extLst>
          </p:cNvPr>
          <p:cNvSpPr txBox="1"/>
          <p:nvPr/>
        </p:nvSpPr>
        <p:spPr>
          <a:xfrm>
            <a:off x="7372350" y="5295900"/>
            <a:ext cx="628650"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Metadata</a:t>
            </a:r>
          </a:p>
        </p:txBody>
      </p:sp>
      <p:sp>
        <p:nvSpPr>
          <p:cNvPr id="32" name="Rectangle 31">
            <a:extLst>
              <a:ext uri="{FF2B5EF4-FFF2-40B4-BE49-F238E27FC236}">
                <a16:creationId xmlns:a16="http://schemas.microsoft.com/office/drawing/2014/main" id="{B2203DAF-1640-B936-2ED9-60569750F8B6}"/>
              </a:ext>
            </a:extLst>
          </p:cNvPr>
          <p:cNvSpPr/>
          <p:nvPr/>
        </p:nvSpPr>
        <p:spPr>
          <a:xfrm>
            <a:off x="8102600" y="52959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06DD625-81C5-2D4A-E195-EA8714EAC45B}"/>
              </a:ext>
            </a:extLst>
          </p:cNvPr>
          <p:cNvSpPr/>
          <p:nvPr/>
        </p:nvSpPr>
        <p:spPr>
          <a:xfrm>
            <a:off x="8255000" y="4991100"/>
            <a:ext cx="831850" cy="635000"/>
          </a:xfrm>
          <a:prstGeom prst="rect">
            <a:avLst/>
          </a:prstGeom>
          <a:solidFill>
            <a:srgbClr val="EAF1EC"/>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ZoneTexte 33">
            <a:extLst>
              <a:ext uri="{FF2B5EF4-FFF2-40B4-BE49-F238E27FC236}">
                <a16:creationId xmlns:a16="http://schemas.microsoft.com/office/drawing/2014/main" id="{AD379BFA-DBAA-8467-CD18-95DF0A232578}"/>
              </a:ext>
            </a:extLst>
          </p:cNvPr>
          <p:cNvSpPr txBox="1"/>
          <p:nvPr/>
        </p:nvSpPr>
        <p:spPr>
          <a:xfrm>
            <a:off x="8356600" y="5092700"/>
            <a:ext cx="355600" cy="130805"/>
          </a:xfrm>
          <a:prstGeom prst="rect">
            <a:avLst/>
          </a:prstGeom>
          <a:noFill/>
        </p:spPr>
        <p:txBody>
          <a:bodyPr vert="horz" lIns="0" tIns="0" rIns="0" bIns="0" rtlCol="0">
            <a:spAutoFit/>
          </a:bodyPr>
          <a:lstStyle/>
          <a:p>
            <a:r>
              <a:rPr lang="en-US" sz="850" b="1">
                <a:solidFill>
                  <a:srgbClr val="147D64"/>
                </a:solidFill>
                <a:latin typeface="Aptos" panose="020B0004020202020204" pitchFamily="34" charset="0"/>
              </a:rPr>
              <a:t>03</a:t>
            </a:r>
          </a:p>
        </p:txBody>
      </p:sp>
      <p:sp>
        <p:nvSpPr>
          <p:cNvPr id="35" name="ZoneTexte 34">
            <a:extLst>
              <a:ext uri="{FF2B5EF4-FFF2-40B4-BE49-F238E27FC236}">
                <a16:creationId xmlns:a16="http://schemas.microsoft.com/office/drawing/2014/main" id="{22071D2E-10AD-8985-80B7-BF7023BF8802}"/>
              </a:ext>
            </a:extLst>
          </p:cNvPr>
          <p:cNvSpPr txBox="1"/>
          <p:nvPr/>
        </p:nvSpPr>
        <p:spPr>
          <a:xfrm>
            <a:off x="8356600" y="5295900"/>
            <a:ext cx="628650"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Submit</a:t>
            </a:r>
          </a:p>
        </p:txBody>
      </p:sp>
      <p:sp>
        <p:nvSpPr>
          <p:cNvPr id="36" name="Rectangle 35">
            <a:extLst>
              <a:ext uri="{FF2B5EF4-FFF2-40B4-BE49-F238E27FC236}">
                <a16:creationId xmlns:a16="http://schemas.microsoft.com/office/drawing/2014/main" id="{4C95CC3B-8C90-A73E-987A-99FE5FA516F0}"/>
              </a:ext>
            </a:extLst>
          </p:cNvPr>
          <p:cNvSpPr/>
          <p:nvPr/>
        </p:nvSpPr>
        <p:spPr>
          <a:xfrm>
            <a:off x="9086850" y="52959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34293547-D920-5D01-975A-5E0A9C093132}"/>
              </a:ext>
            </a:extLst>
          </p:cNvPr>
          <p:cNvSpPr/>
          <p:nvPr/>
        </p:nvSpPr>
        <p:spPr>
          <a:xfrm>
            <a:off x="9239250" y="4991100"/>
            <a:ext cx="831850" cy="635000"/>
          </a:xfrm>
          <a:prstGeom prst="rect">
            <a:avLst/>
          </a:prstGeom>
          <a:solidFill>
            <a:srgbClr val="E7EEF6"/>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ZoneTexte 37">
            <a:extLst>
              <a:ext uri="{FF2B5EF4-FFF2-40B4-BE49-F238E27FC236}">
                <a16:creationId xmlns:a16="http://schemas.microsoft.com/office/drawing/2014/main" id="{47EF3A15-C199-6609-D599-2F1F320FF7A5}"/>
              </a:ext>
            </a:extLst>
          </p:cNvPr>
          <p:cNvSpPr txBox="1"/>
          <p:nvPr/>
        </p:nvSpPr>
        <p:spPr>
          <a:xfrm>
            <a:off x="9340850" y="5092700"/>
            <a:ext cx="355600" cy="130805"/>
          </a:xfrm>
          <a:prstGeom prst="rect">
            <a:avLst/>
          </a:prstGeom>
          <a:noFill/>
        </p:spPr>
        <p:txBody>
          <a:bodyPr vert="horz" lIns="0" tIns="0" rIns="0" bIns="0" rtlCol="0">
            <a:spAutoFit/>
          </a:bodyPr>
          <a:lstStyle/>
          <a:p>
            <a:r>
              <a:rPr lang="en-US" sz="850" b="1">
                <a:solidFill>
                  <a:srgbClr val="315E8A"/>
                </a:solidFill>
                <a:latin typeface="Aptos" panose="020B0004020202020204" pitchFamily="34" charset="0"/>
              </a:rPr>
              <a:t>04</a:t>
            </a:r>
          </a:p>
        </p:txBody>
      </p:sp>
      <p:sp>
        <p:nvSpPr>
          <p:cNvPr id="39" name="ZoneTexte 38">
            <a:extLst>
              <a:ext uri="{FF2B5EF4-FFF2-40B4-BE49-F238E27FC236}">
                <a16:creationId xmlns:a16="http://schemas.microsoft.com/office/drawing/2014/main" id="{ADF76BFA-3E27-47DF-7DF3-73AB76DB70DA}"/>
              </a:ext>
            </a:extLst>
          </p:cNvPr>
          <p:cNvSpPr txBox="1"/>
          <p:nvPr/>
        </p:nvSpPr>
        <p:spPr>
          <a:xfrm>
            <a:off x="9340850" y="5295900"/>
            <a:ext cx="628650"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Vector</a:t>
            </a:r>
          </a:p>
        </p:txBody>
      </p:sp>
    </p:spTree>
    <p:extLst>
      <p:ext uri="{BB962C8B-B14F-4D97-AF65-F5344CB8AC3E}">
        <p14:creationId xmlns:p14="http://schemas.microsoft.com/office/powerpoint/2010/main" val="1405612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46E89E-7C11-EFDF-70DB-C719BF03403B}"/>
              </a:ext>
            </a:extLst>
          </p:cNvPr>
          <p:cNvSpPr/>
          <p:nvPr/>
        </p:nvSpPr>
        <p:spPr>
          <a:xfrm>
            <a:off x="0" y="0"/>
            <a:ext cx="12192000" cy="50800"/>
          </a:xfrm>
          <a:prstGeom prst="rect">
            <a:avLst/>
          </a:prstGeom>
          <a:solidFill>
            <a:srgbClr val="E1E7E2"/>
          </a:solidFill>
          <a:ln w="9525">
            <a:solidFill>
              <a:srgbClr val="E1E7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83E9AB1-1AF5-CB03-29F1-368ED6C52CFF}"/>
              </a:ext>
            </a:extLst>
          </p:cNvPr>
          <p:cNvSpPr/>
          <p:nvPr/>
        </p:nvSpPr>
        <p:spPr>
          <a:xfrm>
            <a:off x="0" y="0"/>
            <a:ext cx="9372600" cy="508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63574D5-BB77-396C-7E9A-C9EA08C61121}"/>
              </a:ext>
            </a:extLst>
          </p:cNvPr>
          <p:cNvSpPr/>
          <p:nvPr/>
        </p:nvSpPr>
        <p:spPr>
          <a:xfrm>
            <a:off x="457200" y="317500"/>
            <a:ext cx="76200" cy="762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FC74291E-5E78-E5D5-E32E-7BF761EAACB5}"/>
              </a:ext>
            </a:extLst>
          </p:cNvPr>
          <p:cNvSpPr txBox="1"/>
          <p:nvPr/>
        </p:nvSpPr>
        <p:spPr>
          <a:xfrm>
            <a:off x="635000" y="279400"/>
            <a:ext cx="3048000" cy="115416"/>
          </a:xfrm>
          <a:prstGeom prst="rect">
            <a:avLst/>
          </a:prstGeom>
          <a:noFill/>
        </p:spPr>
        <p:txBody>
          <a:bodyPr vert="horz" lIns="0" tIns="0" rIns="0" bIns="0" rtlCol="0">
            <a:spAutoFit/>
          </a:bodyPr>
          <a:lstStyle/>
          <a:p>
            <a:r>
              <a:rPr lang="en-US" sz="750" b="1">
                <a:solidFill>
                  <a:srgbClr val="66536E"/>
                </a:solidFill>
                <a:latin typeface="Aptos" panose="020B0004020202020204" pitchFamily="34" charset="0"/>
              </a:rPr>
              <a:t>IMPLEMENTATION</a:t>
            </a:r>
          </a:p>
        </p:txBody>
      </p:sp>
      <p:sp>
        <p:nvSpPr>
          <p:cNvPr id="6" name="Rectangle 5">
            <a:extLst>
              <a:ext uri="{FF2B5EF4-FFF2-40B4-BE49-F238E27FC236}">
                <a16:creationId xmlns:a16="http://schemas.microsoft.com/office/drawing/2014/main" id="{A6C29E53-EAEE-B0FC-D9B3-07D755AA1E49}"/>
              </a:ext>
            </a:extLst>
          </p:cNvPr>
          <p:cNvSpPr/>
          <p:nvPr/>
        </p:nvSpPr>
        <p:spPr>
          <a:xfrm>
            <a:off x="457200" y="6426200"/>
            <a:ext cx="10287000" cy="12700"/>
          </a:xfrm>
          <a:prstGeom prst="rect">
            <a:avLst/>
          </a:prstGeom>
          <a:solidFill>
            <a:srgbClr val="C0CDC8"/>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29F7102F-9B17-66CE-0093-1F3215C2DCEB}"/>
              </a:ext>
            </a:extLst>
          </p:cNvPr>
          <p:cNvSpPr txBox="1"/>
          <p:nvPr/>
        </p:nvSpPr>
        <p:spPr>
          <a:xfrm>
            <a:off x="10896600" y="6286500"/>
            <a:ext cx="762000" cy="138499"/>
          </a:xfrm>
          <a:prstGeom prst="rect">
            <a:avLst/>
          </a:prstGeom>
          <a:noFill/>
        </p:spPr>
        <p:txBody>
          <a:bodyPr vert="horz" lIns="0" tIns="0" rIns="0" bIns="0" rtlCol="0">
            <a:spAutoFit/>
          </a:bodyPr>
          <a:lstStyle/>
          <a:p>
            <a:pPr algn="r"/>
            <a:r>
              <a:rPr lang="en-US" sz="900" b="1">
                <a:solidFill>
                  <a:srgbClr val="66536E"/>
                </a:solidFill>
                <a:latin typeface="Aptos" panose="020B0004020202020204" pitchFamily="34" charset="0"/>
              </a:rPr>
              <a:t>10/13</a:t>
            </a:r>
          </a:p>
        </p:txBody>
      </p:sp>
      <p:sp>
        <p:nvSpPr>
          <p:cNvPr id="8" name="ZoneTexte 7">
            <a:extLst>
              <a:ext uri="{FF2B5EF4-FFF2-40B4-BE49-F238E27FC236}">
                <a16:creationId xmlns:a16="http://schemas.microsoft.com/office/drawing/2014/main" id="{091A180F-A2E8-A399-A3FC-989861848934}"/>
              </a:ext>
            </a:extLst>
          </p:cNvPr>
          <p:cNvSpPr txBox="1"/>
          <p:nvPr/>
        </p:nvSpPr>
        <p:spPr>
          <a:xfrm>
            <a:off x="457200" y="635000"/>
            <a:ext cx="7747000" cy="707886"/>
          </a:xfrm>
          <a:prstGeom prst="rect">
            <a:avLst/>
          </a:prstGeom>
          <a:noFill/>
        </p:spPr>
        <p:txBody>
          <a:bodyPr vert="horz" lIns="0" tIns="0" rIns="0" bIns="0" rtlCol="0">
            <a:spAutoFit/>
          </a:bodyPr>
          <a:lstStyle/>
          <a:p>
            <a:r>
              <a:rPr lang="en-US" sz="2300" b="1">
                <a:solidFill>
                  <a:srgbClr val="16201E"/>
                </a:solidFill>
                <a:latin typeface="Georgia" panose="02040502050405020303" pitchFamily="18" charset="0"/>
              </a:rPr>
              <a:t>Sprint 3 Completed Assignment, Review, and Decision Support</a:t>
            </a:r>
          </a:p>
        </p:txBody>
      </p:sp>
      <p:sp>
        <p:nvSpPr>
          <p:cNvPr id="9" name="Rectangle 8">
            <a:extLst>
              <a:ext uri="{FF2B5EF4-FFF2-40B4-BE49-F238E27FC236}">
                <a16:creationId xmlns:a16="http://schemas.microsoft.com/office/drawing/2014/main" id="{BD0E2657-1DDD-3AC5-1F38-102B806F1D44}"/>
              </a:ext>
            </a:extLst>
          </p:cNvPr>
          <p:cNvSpPr/>
          <p:nvPr/>
        </p:nvSpPr>
        <p:spPr>
          <a:xfrm>
            <a:off x="635000" y="19304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373168DB-5649-C3B7-D909-43C9344A0C19}"/>
              </a:ext>
            </a:extLst>
          </p:cNvPr>
          <p:cNvSpPr txBox="1"/>
          <p:nvPr/>
        </p:nvSpPr>
        <p:spPr>
          <a:xfrm>
            <a:off x="863600" y="18415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Admin receives ranked reviewer suggestions</a:t>
            </a:r>
          </a:p>
        </p:txBody>
      </p:sp>
      <p:sp>
        <p:nvSpPr>
          <p:cNvPr id="11" name="Rectangle 10">
            <a:extLst>
              <a:ext uri="{FF2B5EF4-FFF2-40B4-BE49-F238E27FC236}">
                <a16:creationId xmlns:a16="http://schemas.microsoft.com/office/drawing/2014/main" id="{957D691B-FEA2-D917-3080-DDC1FB848B35}"/>
              </a:ext>
            </a:extLst>
          </p:cNvPr>
          <p:cNvSpPr/>
          <p:nvPr/>
        </p:nvSpPr>
        <p:spPr>
          <a:xfrm>
            <a:off x="635000" y="24003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ZoneTexte 11">
            <a:extLst>
              <a:ext uri="{FF2B5EF4-FFF2-40B4-BE49-F238E27FC236}">
                <a16:creationId xmlns:a16="http://schemas.microsoft.com/office/drawing/2014/main" id="{87E2D532-1655-D79F-F1B0-11866226E957}"/>
              </a:ext>
            </a:extLst>
          </p:cNvPr>
          <p:cNvSpPr txBox="1"/>
          <p:nvPr/>
        </p:nvSpPr>
        <p:spPr>
          <a:xfrm>
            <a:off x="863600" y="23114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Assignments are validated by the admin</a:t>
            </a:r>
          </a:p>
        </p:txBody>
      </p:sp>
      <p:sp>
        <p:nvSpPr>
          <p:cNvPr id="13" name="Rectangle 12">
            <a:extLst>
              <a:ext uri="{FF2B5EF4-FFF2-40B4-BE49-F238E27FC236}">
                <a16:creationId xmlns:a16="http://schemas.microsoft.com/office/drawing/2014/main" id="{1F7B04B1-B803-2CC3-2678-B324C5633704}"/>
              </a:ext>
            </a:extLst>
          </p:cNvPr>
          <p:cNvSpPr/>
          <p:nvPr/>
        </p:nvSpPr>
        <p:spPr>
          <a:xfrm>
            <a:off x="635000" y="28702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ZoneTexte 13">
            <a:extLst>
              <a:ext uri="{FF2B5EF4-FFF2-40B4-BE49-F238E27FC236}">
                <a16:creationId xmlns:a16="http://schemas.microsoft.com/office/drawing/2014/main" id="{51A73574-F8C8-355E-D8EF-1D3A9381FCAD}"/>
              </a:ext>
            </a:extLst>
          </p:cNvPr>
          <p:cNvSpPr txBox="1"/>
          <p:nvPr/>
        </p:nvSpPr>
        <p:spPr>
          <a:xfrm>
            <a:off x="863600" y="27813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CHECKER accepts, reviews, scores, and comments</a:t>
            </a:r>
          </a:p>
        </p:txBody>
      </p:sp>
      <p:sp>
        <p:nvSpPr>
          <p:cNvPr id="15" name="Rectangle 14">
            <a:extLst>
              <a:ext uri="{FF2B5EF4-FFF2-40B4-BE49-F238E27FC236}">
                <a16:creationId xmlns:a16="http://schemas.microsoft.com/office/drawing/2014/main" id="{6DC1BEF5-FCA2-1F9D-B7AA-145C95BE6A30}"/>
              </a:ext>
            </a:extLst>
          </p:cNvPr>
          <p:cNvSpPr/>
          <p:nvPr/>
        </p:nvSpPr>
        <p:spPr>
          <a:xfrm>
            <a:off x="635000" y="33401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ZoneTexte 15">
            <a:extLst>
              <a:ext uri="{FF2B5EF4-FFF2-40B4-BE49-F238E27FC236}">
                <a16:creationId xmlns:a16="http://schemas.microsoft.com/office/drawing/2014/main" id="{F227C838-50FE-EAEB-D1B4-7C08787B0AB3}"/>
              </a:ext>
            </a:extLst>
          </p:cNvPr>
          <p:cNvSpPr txBox="1"/>
          <p:nvPr/>
        </p:nvSpPr>
        <p:spPr>
          <a:xfrm>
            <a:off x="863600" y="32512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Summary, similarity report, and chatbot assist review</a:t>
            </a:r>
          </a:p>
        </p:txBody>
      </p:sp>
      <p:sp>
        <p:nvSpPr>
          <p:cNvPr id="17" name="Rectangle 16">
            <a:extLst>
              <a:ext uri="{FF2B5EF4-FFF2-40B4-BE49-F238E27FC236}">
                <a16:creationId xmlns:a16="http://schemas.microsoft.com/office/drawing/2014/main" id="{B5FF36B4-A903-ECE6-D04E-5453BA0384E7}"/>
              </a:ext>
            </a:extLst>
          </p:cNvPr>
          <p:cNvSpPr/>
          <p:nvPr/>
        </p:nvSpPr>
        <p:spPr>
          <a:xfrm>
            <a:off x="635000" y="38100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ZoneTexte 17">
            <a:extLst>
              <a:ext uri="{FF2B5EF4-FFF2-40B4-BE49-F238E27FC236}">
                <a16:creationId xmlns:a16="http://schemas.microsoft.com/office/drawing/2014/main" id="{B90F1DBF-EE8E-10C1-0FEE-D23B0456EC3F}"/>
              </a:ext>
            </a:extLst>
          </p:cNvPr>
          <p:cNvSpPr txBox="1"/>
          <p:nvPr/>
        </p:nvSpPr>
        <p:spPr>
          <a:xfrm>
            <a:off x="863600" y="37211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Admin issues the final decision after reviews</a:t>
            </a:r>
          </a:p>
        </p:txBody>
      </p:sp>
      <p:sp>
        <p:nvSpPr>
          <p:cNvPr id="19" name="Rectangle 18">
            <a:extLst>
              <a:ext uri="{FF2B5EF4-FFF2-40B4-BE49-F238E27FC236}">
                <a16:creationId xmlns:a16="http://schemas.microsoft.com/office/drawing/2014/main" id="{5F20956C-2163-0F34-1502-85E0BA6CA53D}"/>
              </a:ext>
            </a:extLst>
          </p:cNvPr>
          <p:cNvSpPr/>
          <p:nvPr/>
        </p:nvSpPr>
        <p:spPr>
          <a:xfrm>
            <a:off x="5969000" y="2032000"/>
            <a:ext cx="1600200" cy="24130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Image 20">
            <a:extLst>
              <a:ext uri="{FF2B5EF4-FFF2-40B4-BE49-F238E27FC236}">
                <a16:creationId xmlns:a16="http://schemas.microsoft.com/office/drawing/2014/main" id="{61211050-2C84-0465-AEA2-5B16B88FB10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45200" y="2108200"/>
            <a:ext cx="1447800" cy="2095500"/>
          </a:xfrm>
          <a:prstGeom prst="rect">
            <a:avLst/>
          </a:prstGeom>
        </p:spPr>
      </p:pic>
      <p:sp>
        <p:nvSpPr>
          <p:cNvPr id="22" name="Rectangle 21">
            <a:extLst>
              <a:ext uri="{FF2B5EF4-FFF2-40B4-BE49-F238E27FC236}">
                <a16:creationId xmlns:a16="http://schemas.microsoft.com/office/drawing/2014/main" id="{35A94A24-5CC9-CE71-626B-D4E6B3417B57}"/>
              </a:ext>
            </a:extLst>
          </p:cNvPr>
          <p:cNvSpPr/>
          <p:nvPr/>
        </p:nvSpPr>
        <p:spPr>
          <a:xfrm>
            <a:off x="7810500" y="2032000"/>
            <a:ext cx="1600200" cy="24130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Image 23">
            <a:extLst>
              <a:ext uri="{FF2B5EF4-FFF2-40B4-BE49-F238E27FC236}">
                <a16:creationId xmlns:a16="http://schemas.microsoft.com/office/drawing/2014/main" id="{6ADF03E2-3537-F535-E9E0-3785A7DDA30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886700" y="2108200"/>
            <a:ext cx="1447800" cy="2095500"/>
          </a:xfrm>
          <a:prstGeom prst="rect">
            <a:avLst/>
          </a:prstGeom>
        </p:spPr>
      </p:pic>
      <p:sp>
        <p:nvSpPr>
          <p:cNvPr id="25" name="Rectangle 24">
            <a:extLst>
              <a:ext uri="{FF2B5EF4-FFF2-40B4-BE49-F238E27FC236}">
                <a16:creationId xmlns:a16="http://schemas.microsoft.com/office/drawing/2014/main" id="{B008AD40-6C7B-9B86-E93E-C25918A37024}"/>
              </a:ext>
            </a:extLst>
          </p:cNvPr>
          <p:cNvSpPr/>
          <p:nvPr/>
        </p:nvSpPr>
        <p:spPr>
          <a:xfrm>
            <a:off x="9652000" y="2032000"/>
            <a:ext cx="1600200" cy="24130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Image 26">
            <a:extLst>
              <a:ext uri="{FF2B5EF4-FFF2-40B4-BE49-F238E27FC236}">
                <a16:creationId xmlns:a16="http://schemas.microsoft.com/office/drawing/2014/main" id="{0F5E3E3A-A925-2FEF-243E-8D3AE9ABB6A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9728200" y="2108200"/>
            <a:ext cx="1447800" cy="2095500"/>
          </a:xfrm>
          <a:prstGeom prst="rect">
            <a:avLst/>
          </a:prstGeom>
        </p:spPr>
      </p:pic>
      <p:sp>
        <p:nvSpPr>
          <p:cNvPr id="28" name="Rectangle 27">
            <a:extLst>
              <a:ext uri="{FF2B5EF4-FFF2-40B4-BE49-F238E27FC236}">
                <a16:creationId xmlns:a16="http://schemas.microsoft.com/office/drawing/2014/main" id="{3D787034-68AA-92C7-E830-DD1551BFA341}"/>
              </a:ext>
            </a:extLst>
          </p:cNvPr>
          <p:cNvSpPr/>
          <p:nvPr/>
        </p:nvSpPr>
        <p:spPr>
          <a:xfrm>
            <a:off x="6032500" y="4991100"/>
            <a:ext cx="762000" cy="635000"/>
          </a:xfrm>
          <a:prstGeom prst="rect">
            <a:avLst/>
          </a:prstGeom>
          <a:solidFill>
            <a:srgbClr val="EAF1EC"/>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ZoneTexte 28">
            <a:extLst>
              <a:ext uri="{FF2B5EF4-FFF2-40B4-BE49-F238E27FC236}">
                <a16:creationId xmlns:a16="http://schemas.microsoft.com/office/drawing/2014/main" id="{C59ABC52-7F05-7C85-A82B-852B7D058B11}"/>
              </a:ext>
            </a:extLst>
          </p:cNvPr>
          <p:cNvSpPr txBox="1"/>
          <p:nvPr/>
        </p:nvSpPr>
        <p:spPr>
          <a:xfrm>
            <a:off x="6134100" y="5092700"/>
            <a:ext cx="355600" cy="130805"/>
          </a:xfrm>
          <a:prstGeom prst="rect">
            <a:avLst/>
          </a:prstGeom>
          <a:noFill/>
        </p:spPr>
        <p:txBody>
          <a:bodyPr vert="horz" lIns="0" tIns="0" rIns="0" bIns="0" rtlCol="0">
            <a:spAutoFit/>
          </a:bodyPr>
          <a:lstStyle/>
          <a:p>
            <a:r>
              <a:rPr lang="en-US" sz="850" b="1">
                <a:solidFill>
                  <a:srgbClr val="147D64"/>
                </a:solidFill>
                <a:latin typeface="Aptos" panose="020B0004020202020204" pitchFamily="34" charset="0"/>
              </a:rPr>
              <a:t>01</a:t>
            </a:r>
          </a:p>
        </p:txBody>
      </p:sp>
      <p:sp>
        <p:nvSpPr>
          <p:cNvPr id="30" name="ZoneTexte 29">
            <a:extLst>
              <a:ext uri="{FF2B5EF4-FFF2-40B4-BE49-F238E27FC236}">
                <a16:creationId xmlns:a16="http://schemas.microsoft.com/office/drawing/2014/main" id="{6DAAA458-0C91-3E44-1F19-392D1B7E19B7}"/>
              </a:ext>
            </a:extLst>
          </p:cNvPr>
          <p:cNvSpPr txBox="1"/>
          <p:nvPr/>
        </p:nvSpPr>
        <p:spPr>
          <a:xfrm>
            <a:off x="6134100" y="5295900"/>
            <a:ext cx="558800"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Suggest</a:t>
            </a:r>
          </a:p>
        </p:txBody>
      </p:sp>
      <p:sp>
        <p:nvSpPr>
          <p:cNvPr id="31" name="Rectangle 30">
            <a:extLst>
              <a:ext uri="{FF2B5EF4-FFF2-40B4-BE49-F238E27FC236}">
                <a16:creationId xmlns:a16="http://schemas.microsoft.com/office/drawing/2014/main" id="{2D71D036-7364-8481-F300-3EE12BBB565C}"/>
              </a:ext>
            </a:extLst>
          </p:cNvPr>
          <p:cNvSpPr/>
          <p:nvPr/>
        </p:nvSpPr>
        <p:spPr>
          <a:xfrm>
            <a:off x="6794500" y="52959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EDDA888-DB38-4B71-38E3-8EF57B35B193}"/>
              </a:ext>
            </a:extLst>
          </p:cNvPr>
          <p:cNvSpPr/>
          <p:nvPr/>
        </p:nvSpPr>
        <p:spPr>
          <a:xfrm>
            <a:off x="6946900" y="4991100"/>
            <a:ext cx="762000" cy="635000"/>
          </a:xfrm>
          <a:prstGeom prst="rect">
            <a:avLst/>
          </a:prstGeom>
          <a:solidFill>
            <a:srgbClr val="E7EEF6"/>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ZoneTexte 32">
            <a:extLst>
              <a:ext uri="{FF2B5EF4-FFF2-40B4-BE49-F238E27FC236}">
                <a16:creationId xmlns:a16="http://schemas.microsoft.com/office/drawing/2014/main" id="{1F4A38D2-5F40-002E-E924-9B2F57E36C26}"/>
              </a:ext>
            </a:extLst>
          </p:cNvPr>
          <p:cNvSpPr txBox="1"/>
          <p:nvPr/>
        </p:nvSpPr>
        <p:spPr>
          <a:xfrm>
            <a:off x="7048500" y="5092700"/>
            <a:ext cx="355600" cy="130805"/>
          </a:xfrm>
          <a:prstGeom prst="rect">
            <a:avLst/>
          </a:prstGeom>
          <a:noFill/>
        </p:spPr>
        <p:txBody>
          <a:bodyPr vert="horz" lIns="0" tIns="0" rIns="0" bIns="0" rtlCol="0">
            <a:spAutoFit/>
          </a:bodyPr>
          <a:lstStyle/>
          <a:p>
            <a:r>
              <a:rPr lang="en-US" sz="850" b="1">
                <a:solidFill>
                  <a:srgbClr val="315E8A"/>
                </a:solidFill>
                <a:latin typeface="Aptos" panose="020B0004020202020204" pitchFamily="34" charset="0"/>
              </a:rPr>
              <a:t>02</a:t>
            </a:r>
          </a:p>
        </p:txBody>
      </p:sp>
      <p:sp>
        <p:nvSpPr>
          <p:cNvPr id="34" name="ZoneTexte 33">
            <a:extLst>
              <a:ext uri="{FF2B5EF4-FFF2-40B4-BE49-F238E27FC236}">
                <a16:creationId xmlns:a16="http://schemas.microsoft.com/office/drawing/2014/main" id="{B0EDA05A-3625-437F-101D-6BA84B39FD7D}"/>
              </a:ext>
            </a:extLst>
          </p:cNvPr>
          <p:cNvSpPr txBox="1"/>
          <p:nvPr/>
        </p:nvSpPr>
        <p:spPr>
          <a:xfrm>
            <a:off x="7048500" y="5295900"/>
            <a:ext cx="558800"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Assign</a:t>
            </a:r>
          </a:p>
        </p:txBody>
      </p:sp>
      <p:sp>
        <p:nvSpPr>
          <p:cNvPr id="35" name="Rectangle 34">
            <a:extLst>
              <a:ext uri="{FF2B5EF4-FFF2-40B4-BE49-F238E27FC236}">
                <a16:creationId xmlns:a16="http://schemas.microsoft.com/office/drawing/2014/main" id="{D7D3A5CF-A0E2-F0CB-4B2D-13F7ADB48873}"/>
              </a:ext>
            </a:extLst>
          </p:cNvPr>
          <p:cNvSpPr/>
          <p:nvPr/>
        </p:nvSpPr>
        <p:spPr>
          <a:xfrm>
            <a:off x="7708900" y="52959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FCFC1D9D-9E00-B393-C2D3-CA3E97C619BB}"/>
              </a:ext>
            </a:extLst>
          </p:cNvPr>
          <p:cNvSpPr/>
          <p:nvPr/>
        </p:nvSpPr>
        <p:spPr>
          <a:xfrm>
            <a:off x="7861300" y="4991100"/>
            <a:ext cx="762000" cy="635000"/>
          </a:xfrm>
          <a:prstGeom prst="rect">
            <a:avLst/>
          </a:prstGeom>
          <a:solidFill>
            <a:srgbClr val="EAF1EC"/>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ZoneTexte 36">
            <a:extLst>
              <a:ext uri="{FF2B5EF4-FFF2-40B4-BE49-F238E27FC236}">
                <a16:creationId xmlns:a16="http://schemas.microsoft.com/office/drawing/2014/main" id="{63C5B0A7-0367-23FF-D76D-82C5B3B9D339}"/>
              </a:ext>
            </a:extLst>
          </p:cNvPr>
          <p:cNvSpPr txBox="1"/>
          <p:nvPr/>
        </p:nvSpPr>
        <p:spPr>
          <a:xfrm>
            <a:off x="7962900" y="5092700"/>
            <a:ext cx="355600" cy="130805"/>
          </a:xfrm>
          <a:prstGeom prst="rect">
            <a:avLst/>
          </a:prstGeom>
          <a:noFill/>
        </p:spPr>
        <p:txBody>
          <a:bodyPr vert="horz" lIns="0" tIns="0" rIns="0" bIns="0" rtlCol="0">
            <a:spAutoFit/>
          </a:bodyPr>
          <a:lstStyle/>
          <a:p>
            <a:r>
              <a:rPr lang="en-US" sz="850" b="1">
                <a:solidFill>
                  <a:srgbClr val="147D64"/>
                </a:solidFill>
                <a:latin typeface="Aptos" panose="020B0004020202020204" pitchFamily="34" charset="0"/>
              </a:rPr>
              <a:t>03</a:t>
            </a:r>
          </a:p>
        </p:txBody>
      </p:sp>
      <p:sp>
        <p:nvSpPr>
          <p:cNvPr id="38" name="ZoneTexte 37">
            <a:extLst>
              <a:ext uri="{FF2B5EF4-FFF2-40B4-BE49-F238E27FC236}">
                <a16:creationId xmlns:a16="http://schemas.microsoft.com/office/drawing/2014/main" id="{F907BC6D-F15E-94CC-16F5-759CB7666688}"/>
              </a:ext>
            </a:extLst>
          </p:cNvPr>
          <p:cNvSpPr txBox="1"/>
          <p:nvPr/>
        </p:nvSpPr>
        <p:spPr>
          <a:xfrm>
            <a:off x="7962900" y="5295900"/>
            <a:ext cx="558800"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Assist</a:t>
            </a:r>
          </a:p>
        </p:txBody>
      </p:sp>
      <p:sp>
        <p:nvSpPr>
          <p:cNvPr id="39" name="Rectangle 38">
            <a:extLst>
              <a:ext uri="{FF2B5EF4-FFF2-40B4-BE49-F238E27FC236}">
                <a16:creationId xmlns:a16="http://schemas.microsoft.com/office/drawing/2014/main" id="{B5CA89CC-F40D-850A-874E-8D2E606EAE5C}"/>
              </a:ext>
            </a:extLst>
          </p:cNvPr>
          <p:cNvSpPr/>
          <p:nvPr/>
        </p:nvSpPr>
        <p:spPr>
          <a:xfrm>
            <a:off x="8623300" y="52959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9B7C8ABD-9E56-213F-3364-C64399C07009}"/>
              </a:ext>
            </a:extLst>
          </p:cNvPr>
          <p:cNvSpPr/>
          <p:nvPr/>
        </p:nvSpPr>
        <p:spPr>
          <a:xfrm>
            <a:off x="8775700" y="4991100"/>
            <a:ext cx="762000" cy="635000"/>
          </a:xfrm>
          <a:prstGeom prst="rect">
            <a:avLst/>
          </a:prstGeom>
          <a:solidFill>
            <a:srgbClr val="E7EEF6"/>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ZoneTexte 40">
            <a:extLst>
              <a:ext uri="{FF2B5EF4-FFF2-40B4-BE49-F238E27FC236}">
                <a16:creationId xmlns:a16="http://schemas.microsoft.com/office/drawing/2014/main" id="{1C14CE92-D25C-4167-A8CB-A09E135EE5DA}"/>
              </a:ext>
            </a:extLst>
          </p:cNvPr>
          <p:cNvSpPr txBox="1"/>
          <p:nvPr/>
        </p:nvSpPr>
        <p:spPr>
          <a:xfrm>
            <a:off x="8877300" y="5092700"/>
            <a:ext cx="355600" cy="130805"/>
          </a:xfrm>
          <a:prstGeom prst="rect">
            <a:avLst/>
          </a:prstGeom>
          <a:noFill/>
        </p:spPr>
        <p:txBody>
          <a:bodyPr vert="horz" lIns="0" tIns="0" rIns="0" bIns="0" rtlCol="0">
            <a:spAutoFit/>
          </a:bodyPr>
          <a:lstStyle/>
          <a:p>
            <a:r>
              <a:rPr lang="en-US" sz="850" b="1">
                <a:solidFill>
                  <a:srgbClr val="315E8A"/>
                </a:solidFill>
                <a:latin typeface="Aptos" panose="020B0004020202020204" pitchFamily="34" charset="0"/>
              </a:rPr>
              <a:t>04</a:t>
            </a:r>
          </a:p>
        </p:txBody>
      </p:sp>
      <p:sp>
        <p:nvSpPr>
          <p:cNvPr id="42" name="ZoneTexte 41">
            <a:extLst>
              <a:ext uri="{FF2B5EF4-FFF2-40B4-BE49-F238E27FC236}">
                <a16:creationId xmlns:a16="http://schemas.microsoft.com/office/drawing/2014/main" id="{935AC320-4EA5-81CF-29AD-F465637AAB51}"/>
              </a:ext>
            </a:extLst>
          </p:cNvPr>
          <p:cNvSpPr txBox="1"/>
          <p:nvPr/>
        </p:nvSpPr>
        <p:spPr>
          <a:xfrm>
            <a:off x="8877300" y="5295900"/>
            <a:ext cx="558800"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Review</a:t>
            </a:r>
          </a:p>
        </p:txBody>
      </p:sp>
      <p:sp>
        <p:nvSpPr>
          <p:cNvPr id="43" name="Rectangle 42">
            <a:extLst>
              <a:ext uri="{FF2B5EF4-FFF2-40B4-BE49-F238E27FC236}">
                <a16:creationId xmlns:a16="http://schemas.microsoft.com/office/drawing/2014/main" id="{B37E7B43-D84B-04F0-A736-1027758DAD1F}"/>
              </a:ext>
            </a:extLst>
          </p:cNvPr>
          <p:cNvSpPr/>
          <p:nvPr/>
        </p:nvSpPr>
        <p:spPr>
          <a:xfrm>
            <a:off x="9537700" y="52959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6327A66-6FE1-23CB-9EF6-D27C6E1C3620}"/>
              </a:ext>
            </a:extLst>
          </p:cNvPr>
          <p:cNvSpPr/>
          <p:nvPr/>
        </p:nvSpPr>
        <p:spPr>
          <a:xfrm>
            <a:off x="9690100" y="4991100"/>
            <a:ext cx="762000" cy="635000"/>
          </a:xfrm>
          <a:prstGeom prst="rect">
            <a:avLst/>
          </a:prstGeom>
          <a:solidFill>
            <a:srgbClr val="EAF1EC"/>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ZoneTexte 44">
            <a:extLst>
              <a:ext uri="{FF2B5EF4-FFF2-40B4-BE49-F238E27FC236}">
                <a16:creationId xmlns:a16="http://schemas.microsoft.com/office/drawing/2014/main" id="{CBBBE0F4-4956-48ED-7965-8C2853416D22}"/>
              </a:ext>
            </a:extLst>
          </p:cNvPr>
          <p:cNvSpPr txBox="1"/>
          <p:nvPr/>
        </p:nvSpPr>
        <p:spPr>
          <a:xfrm>
            <a:off x="9791700" y="5092700"/>
            <a:ext cx="355600" cy="130805"/>
          </a:xfrm>
          <a:prstGeom prst="rect">
            <a:avLst/>
          </a:prstGeom>
          <a:noFill/>
        </p:spPr>
        <p:txBody>
          <a:bodyPr vert="horz" lIns="0" tIns="0" rIns="0" bIns="0" rtlCol="0">
            <a:spAutoFit/>
          </a:bodyPr>
          <a:lstStyle/>
          <a:p>
            <a:r>
              <a:rPr lang="en-US" sz="850" b="1">
                <a:solidFill>
                  <a:srgbClr val="147D64"/>
                </a:solidFill>
                <a:latin typeface="Aptos" panose="020B0004020202020204" pitchFamily="34" charset="0"/>
              </a:rPr>
              <a:t>05</a:t>
            </a:r>
          </a:p>
        </p:txBody>
      </p:sp>
      <p:sp>
        <p:nvSpPr>
          <p:cNvPr id="46" name="ZoneTexte 45">
            <a:extLst>
              <a:ext uri="{FF2B5EF4-FFF2-40B4-BE49-F238E27FC236}">
                <a16:creationId xmlns:a16="http://schemas.microsoft.com/office/drawing/2014/main" id="{66B2FD47-65D9-9E28-B819-AD5EC75FF34F}"/>
              </a:ext>
            </a:extLst>
          </p:cNvPr>
          <p:cNvSpPr txBox="1"/>
          <p:nvPr/>
        </p:nvSpPr>
        <p:spPr>
          <a:xfrm>
            <a:off x="9791700" y="5295900"/>
            <a:ext cx="558800"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Decide</a:t>
            </a:r>
          </a:p>
        </p:txBody>
      </p:sp>
    </p:spTree>
    <p:extLst>
      <p:ext uri="{BB962C8B-B14F-4D97-AF65-F5344CB8AC3E}">
        <p14:creationId xmlns:p14="http://schemas.microsoft.com/office/powerpoint/2010/main" val="3738770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DA6542-2824-33E6-DE06-2E3EB1E2A5EC}"/>
              </a:ext>
            </a:extLst>
          </p:cNvPr>
          <p:cNvSpPr/>
          <p:nvPr/>
        </p:nvSpPr>
        <p:spPr>
          <a:xfrm>
            <a:off x="0" y="0"/>
            <a:ext cx="12192000" cy="50800"/>
          </a:xfrm>
          <a:prstGeom prst="rect">
            <a:avLst/>
          </a:prstGeom>
          <a:solidFill>
            <a:srgbClr val="E1E7E2"/>
          </a:solidFill>
          <a:ln w="9525">
            <a:solidFill>
              <a:srgbClr val="E1E7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F2F981F-4D0D-F98F-59D1-E5F104FD2958}"/>
              </a:ext>
            </a:extLst>
          </p:cNvPr>
          <p:cNvSpPr/>
          <p:nvPr/>
        </p:nvSpPr>
        <p:spPr>
          <a:xfrm>
            <a:off x="0" y="0"/>
            <a:ext cx="10312400" cy="508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3F9CB38-1A4F-AEAB-E3BE-45FC836E227A}"/>
              </a:ext>
            </a:extLst>
          </p:cNvPr>
          <p:cNvSpPr/>
          <p:nvPr/>
        </p:nvSpPr>
        <p:spPr>
          <a:xfrm>
            <a:off x="457200" y="317500"/>
            <a:ext cx="76200" cy="762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83A12410-1DA2-B61C-2553-BC673C3B1120}"/>
              </a:ext>
            </a:extLst>
          </p:cNvPr>
          <p:cNvSpPr txBox="1"/>
          <p:nvPr/>
        </p:nvSpPr>
        <p:spPr>
          <a:xfrm>
            <a:off x="635000" y="279400"/>
            <a:ext cx="3048000" cy="115416"/>
          </a:xfrm>
          <a:prstGeom prst="rect">
            <a:avLst/>
          </a:prstGeom>
          <a:noFill/>
        </p:spPr>
        <p:txBody>
          <a:bodyPr vert="horz" lIns="0" tIns="0" rIns="0" bIns="0" rtlCol="0">
            <a:spAutoFit/>
          </a:bodyPr>
          <a:lstStyle/>
          <a:p>
            <a:r>
              <a:rPr lang="en-US" sz="750" b="1">
                <a:solidFill>
                  <a:srgbClr val="66536E"/>
                </a:solidFill>
                <a:latin typeface="Aptos" panose="020B0004020202020204" pitchFamily="34" charset="0"/>
              </a:rPr>
              <a:t>DEMONSTRATION</a:t>
            </a:r>
          </a:p>
        </p:txBody>
      </p:sp>
      <p:sp>
        <p:nvSpPr>
          <p:cNvPr id="6" name="Rectangle 5">
            <a:extLst>
              <a:ext uri="{FF2B5EF4-FFF2-40B4-BE49-F238E27FC236}">
                <a16:creationId xmlns:a16="http://schemas.microsoft.com/office/drawing/2014/main" id="{EA2A6C4C-F360-A6C8-D248-CE7F9F327637}"/>
              </a:ext>
            </a:extLst>
          </p:cNvPr>
          <p:cNvSpPr/>
          <p:nvPr/>
        </p:nvSpPr>
        <p:spPr>
          <a:xfrm>
            <a:off x="457200" y="6426200"/>
            <a:ext cx="10287000" cy="12700"/>
          </a:xfrm>
          <a:prstGeom prst="rect">
            <a:avLst/>
          </a:prstGeom>
          <a:solidFill>
            <a:srgbClr val="C0CDC8"/>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B68BBF27-A277-6C75-83D4-252291695CC7}"/>
              </a:ext>
            </a:extLst>
          </p:cNvPr>
          <p:cNvSpPr txBox="1"/>
          <p:nvPr/>
        </p:nvSpPr>
        <p:spPr>
          <a:xfrm>
            <a:off x="10896600" y="6286500"/>
            <a:ext cx="762000" cy="138499"/>
          </a:xfrm>
          <a:prstGeom prst="rect">
            <a:avLst/>
          </a:prstGeom>
          <a:noFill/>
        </p:spPr>
        <p:txBody>
          <a:bodyPr vert="horz" lIns="0" tIns="0" rIns="0" bIns="0" rtlCol="0">
            <a:spAutoFit/>
          </a:bodyPr>
          <a:lstStyle/>
          <a:p>
            <a:pPr algn="r"/>
            <a:r>
              <a:rPr lang="en-US" sz="900" b="1">
                <a:solidFill>
                  <a:srgbClr val="66536E"/>
                </a:solidFill>
                <a:latin typeface="Aptos" panose="020B0004020202020204" pitchFamily="34" charset="0"/>
              </a:rPr>
              <a:t>11/13</a:t>
            </a:r>
          </a:p>
        </p:txBody>
      </p:sp>
      <p:sp>
        <p:nvSpPr>
          <p:cNvPr id="8" name="ZoneTexte 7">
            <a:extLst>
              <a:ext uri="{FF2B5EF4-FFF2-40B4-BE49-F238E27FC236}">
                <a16:creationId xmlns:a16="http://schemas.microsoft.com/office/drawing/2014/main" id="{3A34BCE6-E67A-4ED7-0748-AB2ACE282568}"/>
              </a:ext>
            </a:extLst>
          </p:cNvPr>
          <p:cNvSpPr txBox="1"/>
          <p:nvPr/>
        </p:nvSpPr>
        <p:spPr>
          <a:xfrm>
            <a:off x="457200" y="635000"/>
            <a:ext cx="7747000" cy="707886"/>
          </a:xfrm>
          <a:prstGeom prst="rect">
            <a:avLst/>
          </a:prstGeom>
          <a:noFill/>
        </p:spPr>
        <p:txBody>
          <a:bodyPr vert="horz" lIns="0" tIns="0" rIns="0" bIns="0" rtlCol="0">
            <a:spAutoFit/>
          </a:bodyPr>
          <a:lstStyle/>
          <a:p>
            <a:r>
              <a:rPr lang="en-US" sz="2300" b="1">
                <a:solidFill>
                  <a:srgbClr val="16201E"/>
                </a:solidFill>
                <a:latin typeface="Georgia" panose="02040502050405020303" pitchFamily="18" charset="0"/>
              </a:rPr>
              <a:t>The Demonstration Follows One Complete Paper Lifecycle</a:t>
            </a:r>
          </a:p>
        </p:txBody>
      </p:sp>
      <p:sp>
        <p:nvSpPr>
          <p:cNvPr id="9" name="Rectangle 8">
            <a:extLst>
              <a:ext uri="{FF2B5EF4-FFF2-40B4-BE49-F238E27FC236}">
                <a16:creationId xmlns:a16="http://schemas.microsoft.com/office/drawing/2014/main" id="{9F751299-F63A-8188-C24B-46A049870420}"/>
              </a:ext>
            </a:extLst>
          </p:cNvPr>
          <p:cNvSpPr/>
          <p:nvPr/>
        </p:nvSpPr>
        <p:spPr>
          <a:xfrm>
            <a:off x="635000" y="19304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CDDCDB9F-EB37-41DA-5D01-EC27C738682A}"/>
              </a:ext>
            </a:extLst>
          </p:cNvPr>
          <p:cNvSpPr txBox="1"/>
          <p:nvPr/>
        </p:nvSpPr>
        <p:spPr>
          <a:xfrm>
            <a:off x="863600" y="18415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Researcher uploads and corrects metadata</a:t>
            </a:r>
          </a:p>
        </p:txBody>
      </p:sp>
      <p:sp>
        <p:nvSpPr>
          <p:cNvPr id="11" name="Rectangle 10">
            <a:extLst>
              <a:ext uri="{FF2B5EF4-FFF2-40B4-BE49-F238E27FC236}">
                <a16:creationId xmlns:a16="http://schemas.microsoft.com/office/drawing/2014/main" id="{BB365A46-D491-A463-72F3-163270CD3122}"/>
              </a:ext>
            </a:extLst>
          </p:cNvPr>
          <p:cNvSpPr/>
          <p:nvPr/>
        </p:nvSpPr>
        <p:spPr>
          <a:xfrm>
            <a:off x="635000" y="24003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ZoneTexte 11">
            <a:extLst>
              <a:ext uri="{FF2B5EF4-FFF2-40B4-BE49-F238E27FC236}">
                <a16:creationId xmlns:a16="http://schemas.microsoft.com/office/drawing/2014/main" id="{784D2E4F-1FD0-2840-E54E-D6372E3A0E4C}"/>
              </a:ext>
            </a:extLst>
          </p:cNvPr>
          <p:cNvSpPr txBox="1"/>
          <p:nvPr/>
        </p:nvSpPr>
        <p:spPr>
          <a:xfrm>
            <a:off x="863600" y="23114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Paper is submitted and indexed locally</a:t>
            </a:r>
          </a:p>
        </p:txBody>
      </p:sp>
      <p:sp>
        <p:nvSpPr>
          <p:cNvPr id="13" name="Rectangle 12">
            <a:extLst>
              <a:ext uri="{FF2B5EF4-FFF2-40B4-BE49-F238E27FC236}">
                <a16:creationId xmlns:a16="http://schemas.microsoft.com/office/drawing/2014/main" id="{AA8B18C0-D425-DB9F-6A15-4F90094AD6A7}"/>
              </a:ext>
            </a:extLst>
          </p:cNvPr>
          <p:cNvSpPr/>
          <p:nvPr/>
        </p:nvSpPr>
        <p:spPr>
          <a:xfrm>
            <a:off x="635000" y="28702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ZoneTexte 13">
            <a:extLst>
              <a:ext uri="{FF2B5EF4-FFF2-40B4-BE49-F238E27FC236}">
                <a16:creationId xmlns:a16="http://schemas.microsoft.com/office/drawing/2014/main" id="{6E6ACBCD-20B6-611F-F3CE-4B04412758BA}"/>
              </a:ext>
            </a:extLst>
          </p:cNvPr>
          <p:cNvSpPr txBox="1"/>
          <p:nvPr/>
        </p:nvSpPr>
        <p:spPr>
          <a:xfrm>
            <a:off x="863600" y="27813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Admin reviews suggestions and assigns CHECKERs</a:t>
            </a:r>
          </a:p>
        </p:txBody>
      </p:sp>
      <p:sp>
        <p:nvSpPr>
          <p:cNvPr id="15" name="Rectangle 14">
            <a:extLst>
              <a:ext uri="{FF2B5EF4-FFF2-40B4-BE49-F238E27FC236}">
                <a16:creationId xmlns:a16="http://schemas.microsoft.com/office/drawing/2014/main" id="{DEC52BA0-DE95-BA9A-79C8-7ACAE9FD9FB1}"/>
              </a:ext>
            </a:extLst>
          </p:cNvPr>
          <p:cNvSpPr/>
          <p:nvPr/>
        </p:nvSpPr>
        <p:spPr>
          <a:xfrm>
            <a:off x="635000" y="33401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ZoneTexte 15">
            <a:extLst>
              <a:ext uri="{FF2B5EF4-FFF2-40B4-BE49-F238E27FC236}">
                <a16:creationId xmlns:a16="http://schemas.microsoft.com/office/drawing/2014/main" id="{E98A4AAC-E880-CDC1-A8FC-8972E45D79D3}"/>
              </a:ext>
            </a:extLst>
          </p:cNvPr>
          <p:cNvSpPr txBox="1"/>
          <p:nvPr/>
        </p:nvSpPr>
        <p:spPr>
          <a:xfrm>
            <a:off x="863600" y="32512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Reviewer uses summary, similarity, chatbot</a:t>
            </a:r>
          </a:p>
        </p:txBody>
      </p:sp>
      <p:sp>
        <p:nvSpPr>
          <p:cNvPr id="17" name="Rectangle 16">
            <a:extLst>
              <a:ext uri="{FF2B5EF4-FFF2-40B4-BE49-F238E27FC236}">
                <a16:creationId xmlns:a16="http://schemas.microsoft.com/office/drawing/2014/main" id="{4D9FFA13-2439-7339-4ABE-CD73B7DA1119}"/>
              </a:ext>
            </a:extLst>
          </p:cNvPr>
          <p:cNvSpPr/>
          <p:nvPr/>
        </p:nvSpPr>
        <p:spPr>
          <a:xfrm>
            <a:off x="635000" y="38100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ZoneTexte 17">
            <a:extLst>
              <a:ext uri="{FF2B5EF4-FFF2-40B4-BE49-F238E27FC236}">
                <a16:creationId xmlns:a16="http://schemas.microsoft.com/office/drawing/2014/main" id="{B3794B7C-1B61-CB4A-CE61-0B66C6E57227}"/>
              </a:ext>
            </a:extLst>
          </p:cNvPr>
          <p:cNvSpPr txBox="1"/>
          <p:nvPr/>
        </p:nvSpPr>
        <p:spPr>
          <a:xfrm>
            <a:off x="863600" y="37211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Review and final decision close the loop</a:t>
            </a:r>
          </a:p>
        </p:txBody>
      </p:sp>
      <p:sp>
        <p:nvSpPr>
          <p:cNvPr id="19" name="Rectangle 18">
            <a:extLst>
              <a:ext uri="{FF2B5EF4-FFF2-40B4-BE49-F238E27FC236}">
                <a16:creationId xmlns:a16="http://schemas.microsoft.com/office/drawing/2014/main" id="{B7DD6345-844A-85AB-1F8A-2046F4B11433}"/>
              </a:ext>
            </a:extLst>
          </p:cNvPr>
          <p:cNvSpPr/>
          <p:nvPr/>
        </p:nvSpPr>
        <p:spPr>
          <a:xfrm>
            <a:off x="6350000" y="1841500"/>
            <a:ext cx="3810000" cy="4318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ZoneTexte 19">
            <a:extLst>
              <a:ext uri="{FF2B5EF4-FFF2-40B4-BE49-F238E27FC236}">
                <a16:creationId xmlns:a16="http://schemas.microsoft.com/office/drawing/2014/main" id="{C759F1B5-7402-BF5A-8C21-B7492A73EF9B}"/>
              </a:ext>
            </a:extLst>
          </p:cNvPr>
          <p:cNvSpPr txBox="1"/>
          <p:nvPr/>
        </p:nvSpPr>
        <p:spPr>
          <a:xfrm>
            <a:off x="6578600" y="1955800"/>
            <a:ext cx="228600" cy="153888"/>
          </a:xfrm>
          <a:prstGeom prst="rect">
            <a:avLst/>
          </a:prstGeom>
          <a:noFill/>
        </p:spPr>
        <p:txBody>
          <a:bodyPr vert="horz" lIns="0" tIns="0" rIns="0" bIns="0" rtlCol="0">
            <a:spAutoFit/>
          </a:bodyPr>
          <a:lstStyle/>
          <a:p>
            <a:r>
              <a:rPr lang="en-US" sz="1000" b="1">
                <a:solidFill>
                  <a:srgbClr val="147D64"/>
                </a:solidFill>
                <a:latin typeface="Aptos" panose="020B0004020202020204" pitchFamily="34" charset="0"/>
              </a:rPr>
              <a:t>1</a:t>
            </a:r>
          </a:p>
        </p:txBody>
      </p:sp>
      <p:sp>
        <p:nvSpPr>
          <p:cNvPr id="21" name="ZoneTexte 20">
            <a:extLst>
              <a:ext uri="{FF2B5EF4-FFF2-40B4-BE49-F238E27FC236}">
                <a16:creationId xmlns:a16="http://schemas.microsoft.com/office/drawing/2014/main" id="{F85E7343-D118-24F7-84C5-22A964DD6EAE}"/>
              </a:ext>
            </a:extLst>
          </p:cNvPr>
          <p:cNvSpPr txBox="1"/>
          <p:nvPr/>
        </p:nvSpPr>
        <p:spPr>
          <a:xfrm>
            <a:off x="7010400" y="1930400"/>
            <a:ext cx="1016000" cy="161583"/>
          </a:xfrm>
          <a:prstGeom prst="rect">
            <a:avLst/>
          </a:prstGeom>
          <a:noFill/>
        </p:spPr>
        <p:txBody>
          <a:bodyPr vert="horz" lIns="0" tIns="0" rIns="0" bIns="0" rtlCol="0">
            <a:spAutoFit/>
          </a:bodyPr>
          <a:lstStyle/>
          <a:p>
            <a:r>
              <a:rPr lang="en-US" sz="1050" b="1">
                <a:solidFill>
                  <a:srgbClr val="16201E"/>
                </a:solidFill>
                <a:latin typeface="Aptos" panose="020B0004020202020204" pitchFamily="34" charset="0"/>
              </a:rPr>
              <a:t>Researcher</a:t>
            </a:r>
          </a:p>
        </p:txBody>
      </p:sp>
      <p:sp>
        <p:nvSpPr>
          <p:cNvPr id="22" name="ZoneTexte 21">
            <a:extLst>
              <a:ext uri="{FF2B5EF4-FFF2-40B4-BE49-F238E27FC236}">
                <a16:creationId xmlns:a16="http://schemas.microsoft.com/office/drawing/2014/main" id="{DF06063E-0977-8E73-C579-8F1FFAABB04D}"/>
              </a:ext>
            </a:extLst>
          </p:cNvPr>
          <p:cNvSpPr txBox="1"/>
          <p:nvPr/>
        </p:nvSpPr>
        <p:spPr>
          <a:xfrm>
            <a:off x="8191500" y="1943100"/>
            <a:ext cx="1524000" cy="133883"/>
          </a:xfrm>
          <a:prstGeom prst="rect">
            <a:avLst/>
          </a:prstGeom>
          <a:noFill/>
        </p:spPr>
        <p:txBody>
          <a:bodyPr vert="horz" lIns="0" tIns="0" rIns="0" bIns="0" rtlCol="0">
            <a:spAutoFit/>
          </a:bodyPr>
          <a:lstStyle/>
          <a:p>
            <a:r>
              <a:rPr lang="en-US" sz="870">
                <a:solidFill>
                  <a:srgbClr val="66536E"/>
                </a:solidFill>
                <a:latin typeface="Aptos" panose="020B0004020202020204" pitchFamily="34" charset="0"/>
              </a:rPr>
              <a:t>Upload + correction</a:t>
            </a:r>
          </a:p>
        </p:txBody>
      </p:sp>
      <p:sp>
        <p:nvSpPr>
          <p:cNvPr id="23" name="Rectangle 22">
            <a:extLst>
              <a:ext uri="{FF2B5EF4-FFF2-40B4-BE49-F238E27FC236}">
                <a16:creationId xmlns:a16="http://schemas.microsoft.com/office/drawing/2014/main" id="{EBB2FE20-2B55-A359-7B0B-987795EB4C8F}"/>
              </a:ext>
            </a:extLst>
          </p:cNvPr>
          <p:cNvSpPr/>
          <p:nvPr/>
        </p:nvSpPr>
        <p:spPr>
          <a:xfrm>
            <a:off x="6350000" y="2527300"/>
            <a:ext cx="3810000" cy="4318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ZoneTexte 23">
            <a:extLst>
              <a:ext uri="{FF2B5EF4-FFF2-40B4-BE49-F238E27FC236}">
                <a16:creationId xmlns:a16="http://schemas.microsoft.com/office/drawing/2014/main" id="{E47EB915-958A-3B7E-C84A-84BD45264784}"/>
              </a:ext>
            </a:extLst>
          </p:cNvPr>
          <p:cNvSpPr txBox="1"/>
          <p:nvPr/>
        </p:nvSpPr>
        <p:spPr>
          <a:xfrm>
            <a:off x="6578600" y="2641600"/>
            <a:ext cx="228600" cy="153888"/>
          </a:xfrm>
          <a:prstGeom prst="rect">
            <a:avLst/>
          </a:prstGeom>
          <a:noFill/>
        </p:spPr>
        <p:txBody>
          <a:bodyPr vert="horz" lIns="0" tIns="0" rIns="0" bIns="0" rtlCol="0">
            <a:spAutoFit/>
          </a:bodyPr>
          <a:lstStyle/>
          <a:p>
            <a:r>
              <a:rPr lang="en-US" sz="1000" b="1">
                <a:solidFill>
                  <a:srgbClr val="147D64"/>
                </a:solidFill>
                <a:latin typeface="Aptos" panose="020B0004020202020204" pitchFamily="34" charset="0"/>
              </a:rPr>
              <a:t>2</a:t>
            </a:r>
          </a:p>
        </p:txBody>
      </p:sp>
      <p:sp>
        <p:nvSpPr>
          <p:cNvPr id="25" name="ZoneTexte 24">
            <a:extLst>
              <a:ext uri="{FF2B5EF4-FFF2-40B4-BE49-F238E27FC236}">
                <a16:creationId xmlns:a16="http://schemas.microsoft.com/office/drawing/2014/main" id="{14B815F4-548F-7D48-8335-089FF78896A7}"/>
              </a:ext>
            </a:extLst>
          </p:cNvPr>
          <p:cNvSpPr txBox="1"/>
          <p:nvPr/>
        </p:nvSpPr>
        <p:spPr>
          <a:xfrm>
            <a:off x="7010400" y="2616200"/>
            <a:ext cx="1016000" cy="161583"/>
          </a:xfrm>
          <a:prstGeom prst="rect">
            <a:avLst/>
          </a:prstGeom>
          <a:noFill/>
        </p:spPr>
        <p:txBody>
          <a:bodyPr vert="horz" lIns="0" tIns="0" rIns="0" bIns="0" rtlCol="0">
            <a:spAutoFit/>
          </a:bodyPr>
          <a:lstStyle/>
          <a:p>
            <a:r>
              <a:rPr lang="en-US" sz="1050" b="1">
                <a:solidFill>
                  <a:srgbClr val="16201E"/>
                </a:solidFill>
                <a:latin typeface="Aptos" panose="020B0004020202020204" pitchFamily="34" charset="0"/>
              </a:rPr>
              <a:t>System</a:t>
            </a:r>
          </a:p>
        </p:txBody>
      </p:sp>
      <p:sp>
        <p:nvSpPr>
          <p:cNvPr id="26" name="ZoneTexte 25">
            <a:extLst>
              <a:ext uri="{FF2B5EF4-FFF2-40B4-BE49-F238E27FC236}">
                <a16:creationId xmlns:a16="http://schemas.microsoft.com/office/drawing/2014/main" id="{7A0AD494-79F8-F558-3BA8-2860848A601B}"/>
              </a:ext>
            </a:extLst>
          </p:cNvPr>
          <p:cNvSpPr txBox="1"/>
          <p:nvPr/>
        </p:nvSpPr>
        <p:spPr>
          <a:xfrm>
            <a:off x="8191500" y="2628900"/>
            <a:ext cx="1524000" cy="133883"/>
          </a:xfrm>
          <a:prstGeom prst="rect">
            <a:avLst/>
          </a:prstGeom>
          <a:noFill/>
        </p:spPr>
        <p:txBody>
          <a:bodyPr vert="horz" lIns="0" tIns="0" rIns="0" bIns="0" rtlCol="0">
            <a:spAutoFit/>
          </a:bodyPr>
          <a:lstStyle/>
          <a:p>
            <a:r>
              <a:rPr lang="en-US" sz="870">
                <a:solidFill>
                  <a:srgbClr val="66536E"/>
                </a:solidFill>
                <a:latin typeface="Aptos" panose="020B0004020202020204" pitchFamily="34" charset="0"/>
              </a:rPr>
              <a:t>Index locally</a:t>
            </a:r>
          </a:p>
        </p:txBody>
      </p:sp>
      <p:sp>
        <p:nvSpPr>
          <p:cNvPr id="27" name="Rectangle 26">
            <a:extLst>
              <a:ext uri="{FF2B5EF4-FFF2-40B4-BE49-F238E27FC236}">
                <a16:creationId xmlns:a16="http://schemas.microsoft.com/office/drawing/2014/main" id="{2ABEED8C-B211-94CF-7B4D-0372EB458648}"/>
              </a:ext>
            </a:extLst>
          </p:cNvPr>
          <p:cNvSpPr/>
          <p:nvPr/>
        </p:nvSpPr>
        <p:spPr>
          <a:xfrm>
            <a:off x="6350000" y="3213100"/>
            <a:ext cx="3810000" cy="4318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ZoneTexte 27">
            <a:extLst>
              <a:ext uri="{FF2B5EF4-FFF2-40B4-BE49-F238E27FC236}">
                <a16:creationId xmlns:a16="http://schemas.microsoft.com/office/drawing/2014/main" id="{97A1E851-70DE-324E-3992-19E7480A4C75}"/>
              </a:ext>
            </a:extLst>
          </p:cNvPr>
          <p:cNvSpPr txBox="1"/>
          <p:nvPr/>
        </p:nvSpPr>
        <p:spPr>
          <a:xfrm>
            <a:off x="6578600" y="3327400"/>
            <a:ext cx="228600" cy="153888"/>
          </a:xfrm>
          <a:prstGeom prst="rect">
            <a:avLst/>
          </a:prstGeom>
          <a:noFill/>
        </p:spPr>
        <p:txBody>
          <a:bodyPr vert="horz" lIns="0" tIns="0" rIns="0" bIns="0" rtlCol="0">
            <a:spAutoFit/>
          </a:bodyPr>
          <a:lstStyle/>
          <a:p>
            <a:r>
              <a:rPr lang="en-US" sz="1000" b="1">
                <a:solidFill>
                  <a:srgbClr val="147D64"/>
                </a:solidFill>
                <a:latin typeface="Aptos" panose="020B0004020202020204" pitchFamily="34" charset="0"/>
              </a:rPr>
              <a:t>3</a:t>
            </a:r>
          </a:p>
        </p:txBody>
      </p:sp>
      <p:sp>
        <p:nvSpPr>
          <p:cNvPr id="29" name="ZoneTexte 28">
            <a:extLst>
              <a:ext uri="{FF2B5EF4-FFF2-40B4-BE49-F238E27FC236}">
                <a16:creationId xmlns:a16="http://schemas.microsoft.com/office/drawing/2014/main" id="{7E28EDCC-5070-A162-ACE4-B1E8E19F625C}"/>
              </a:ext>
            </a:extLst>
          </p:cNvPr>
          <p:cNvSpPr txBox="1"/>
          <p:nvPr/>
        </p:nvSpPr>
        <p:spPr>
          <a:xfrm>
            <a:off x="7010400" y="3302000"/>
            <a:ext cx="1016000" cy="161583"/>
          </a:xfrm>
          <a:prstGeom prst="rect">
            <a:avLst/>
          </a:prstGeom>
          <a:noFill/>
        </p:spPr>
        <p:txBody>
          <a:bodyPr vert="horz" lIns="0" tIns="0" rIns="0" bIns="0" rtlCol="0">
            <a:spAutoFit/>
          </a:bodyPr>
          <a:lstStyle/>
          <a:p>
            <a:r>
              <a:rPr lang="en-US" sz="1050" b="1">
                <a:solidFill>
                  <a:srgbClr val="16201E"/>
                </a:solidFill>
                <a:latin typeface="Aptos" panose="020B0004020202020204" pitchFamily="34" charset="0"/>
              </a:rPr>
              <a:t>Admin</a:t>
            </a:r>
          </a:p>
        </p:txBody>
      </p:sp>
      <p:sp>
        <p:nvSpPr>
          <p:cNvPr id="30" name="ZoneTexte 29">
            <a:extLst>
              <a:ext uri="{FF2B5EF4-FFF2-40B4-BE49-F238E27FC236}">
                <a16:creationId xmlns:a16="http://schemas.microsoft.com/office/drawing/2014/main" id="{3F34B8E2-C226-1124-D78A-FF5F50D75066}"/>
              </a:ext>
            </a:extLst>
          </p:cNvPr>
          <p:cNvSpPr txBox="1"/>
          <p:nvPr/>
        </p:nvSpPr>
        <p:spPr>
          <a:xfrm>
            <a:off x="8191500" y="3314700"/>
            <a:ext cx="1524000" cy="133883"/>
          </a:xfrm>
          <a:prstGeom prst="rect">
            <a:avLst/>
          </a:prstGeom>
          <a:noFill/>
        </p:spPr>
        <p:txBody>
          <a:bodyPr vert="horz" lIns="0" tIns="0" rIns="0" bIns="0" rtlCol="0">
            <a:spAutoFit/>
          </a:bodyPr>
          <a:lstStyle/>
          <a:p>
            <a:r>
              <a:rPr lang="en-US" sz="870">
                <a:solidFill>
                  <a:srgbClr val="66536E"/>
                </a:solidFill>
                <a:latin typeface="Aptos" panose="020B0004020202020204" pitchFamily="34" charset="0"/>
              </a:rPr>
              <a:t>Assign reviewers</a:t>
            </a:r>
          </a:p>
        </p:txBody>
      </p:sp>
      <p:sp>
        <p:nvSpPr>
          <p:cNvPr id="31" name="Rectangle 30">
            <a:extLst>
              <a:ext uri="{FF2B5EF4-FFF2-40B4-BE49-F238E27FC236}">
                <a16:creationId xmlns:a16="http://schemas.microsoft.com/office/drawing/2014/main" id="{4AB98A82-6578-CF04-FA3A-BD0649333960}"/>
              </a:ext>
            </a:extLst>
          </p:cNvPr>
          <p:cNvSpPr/>
          <p:nvPr/>
        </p:nvSpPr>
        <p:spPr>
          <a:xfrm>
            <a:off x="6350000" y="3898900"/>
            <a:ext cx="3810000" cy="4318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ZoneTexte 31">
            <a:extLst>
              <a:ext uri="{FF2B5EF4-FFF2-40B4-BE49-F238E27FC236}">
                <a16:creationId xmlns:a16="http://schemas.microsoft.com/office/drawing/2014/main" id="{A0E2AB1D-CF9F-6ABD-0ECB-3C1AEF77D1E5}"/>
              </a:ext>
            </a:extLst>
          </p:cNvPr>
          <p:cNvSpPr txBox="1"/>
          <p:nvPr/>
        </p:nvSpPr>
        <p:spPr>
          <a:xfrm>
            <a:off x="6578600" y="4013200"/>
            <a:ext cx="228600" cy="153888"/>
          </a:xfrm>
          <a:prstGeom prst="rect">
            <a:avLst/>
          </a:prstGeom>
          <a:noFill/>
        </p:spPr>
        <p:txBody>
          <a:bodyPr vert="horz" lIns="0" tIns="0" rIns="0" bIns="0" rtlCol="0">
            <a:spAutoFit/>
          </a:bodyPr>
          <a:lstStyle/>
          <a:p>
            <a:r>
              <a:rPr lang="en-US" sz="1000" b="1">
                <a:solidFill>
                  <a:srgbClr val="147D64"/>
                </a:solidFill>
                <a:latin typeface="Aptos" panose="020B0004020202020204" pitchFamily="34" charset="0"/>
              </a:rPr>
              <a:t>4</a:t>
            </a:r>
          </a:p>
        </p:txBody>
      </p:sp>
      <p:sp>
        <p:nvSpPr>
          <p:cNvPr id="33" name="ZoneTexte 32">
            <a:extLst>
              <a:ext uri="{FF2B5EF4-FFF2-40B4-BE49-F238E27FC236}">
                <a16:creationId xmlns:a16="http://schemas.microsoft.com/office/drawing/2014/main" id="{B68F87A8-3B7F-5A12-2B52-2C7138D3C192}"/>
              </a:ext>
            </a:extLst>
          </p:cNvPr>
          <p:cNvSpPr txBox="1"/>
          <p:nvPr/>
        </p:nvSpPr>
        <p:spPr>
          <a:xfrm>
            <a:off x="7010400" y="3987800"/>
            <a:ext cx="1016000" cy="161583"/>
          </a:xfrm>
          <a:prstGeom prst="rect">
            <a:avLst/>
          </a:prstGeom>
          <a:noFill/>
        </p:spPr>
        <p:txBody>
          <a:bodyPr vert="horz" lIns="0" tIns="0" rIns="0" bIns="0" rtlCol="0">
            <a:spAutoFit/>
          </a:bodyPr>
          <a:lstStyle/>
          <a:p>
            <a:r>
              <a:rPr lang="en-US" sz="1050" b="1">
                <a:solidFill>
                  <a:srgbClr val="16201E"/>
                </a:solidFill>
                <a:latin typeface="Aptos" panose="020B0004020202020204" pitchFamily="34" charset="0"/>
              </a:rPr>
              <a:t>CHECKER</a:t>
            </a:r>
          </a:p>
        </p:txBody>
      </p:sp>
      <p:sp>
        <p:nvSpPr>
          <p:cNvPr id="34" name="ZoneTexte 33">
            <a:extLst>
              <a:ext uri="{FF2B5EF4-FFF2-40B4-BE49-F238E27FC236}">
                <a16:creationId xmlns:a16="http://schemas.microsoft.com/office/drawing/2014/main" id="{96329635-F00D-C931-6A34-FD7AB365F297}"/>
              </a:ext>
            </a:extLst>
          </p:cNvPr>
          <p:cNvSpPr txBox="1"/>
          <p:nvPr/>
        </p:nvSpPr>
        <p:spPr>
          <a:xfrm>
            <a:off x="8191500" y="4000500"/>
            <a:ext cx="1524000" cy="133883"/>
          </a:xfrm>
          <a:prstGeom prst="rect">
            <a:avLst/>
          </a:prstGeom>
          <a:noFill/>
        </p:spPr>
        <p:txBody>
          <a:bodyPr vert="horz" lIns="0" tIns="0" rIns="0" bIns="0" rtlCol="0">
            <a:spAutoFit/>
          </a:bodyPr>
          <a:lstStyle/>
          <a:p>
            <a:r>
              <a:rPr lang="en-US" sz="870">
                <a:solidFill>
                  <a:srgbClr val="66536E"/>
                </a:solidFill>
                <a:latin typeface="Aptos" panose="020B0004020202020204" pitchFamily="34" charset="0"/>
              </a:rPr>
              <a:t>Use review toolkit</a:t>
            </a:r>
          </a:p>
        </p:txBody>
      </p:sp>
      <p:sp>
        <p:nvSpPr>
          <p:cNvPr id="35" name="Rectangle 34">
            <a:extLst>
              <a:ext uri="{FF2B5EF4-FFF2-40B4-BE49-F238E27FC236}">
                <a16:creationId xmlns:a16="http://schemas.microsoft.com/office/drawing/2014/main" id="{3576D337-D79E-33B6-1EA7-EB97C4083EC2}"/>
              </a:ext>
            </a:extLst>
          </p:cNvPr>
          <p:cNvSpPr/>
          <p:nvPr/>
        </p:nvSpPr>
        <p:spPr>
          <a:xfrm>
            <a:off x="6350000" y="4584700"/>
            <a:ext cx="3810000" cy="4318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ZoneTexte 35">
            <a:extLst>
              <a:ext uri="{FF2B5EF4-FFF2-40B4-BE49-F238E27FC236}">
                <a16:creationId xmlns:a16="http://schemas.microsoft.com/office/drawing/2014/main" id="{32048C83-1B0B-A1BD-0D52-E86086DEFFB9}"/>
              </a:ext>
            </a:extLst>
          </p:cNvPr>
          <p:cNvSpPr txBox="1"/>
          <p:nvPr/>
        </p:nvSpPr>
        <p:spPr>
          <a:xfrm>
            <a:off x="6578600" y="4699000"/>
            <a:ext cx="228600" cy="153888"/>
          </a:xfrm>
          <a:prstGeom prst="rect">
            <a:avLst/>
          </a:prstGeom>
          <a:noFill/>
        </p:spPr>
        <p:txBody>
          <a:bodyPr vert="horz" lIns="0" tIns="0" rIns="0" bIns="0" rtlCol="0">
            <a:spAutoFit/>
          </a:bodyPr>
          <a:lstStyle/>
          <a:p>
            <a:r>
              <a:rPr lang="en-US" sz="1000" b="1">
                <a:solidFill>
                  <a:srgbClr val="147D64"/>
                </a:solidFill>
                <a:latin typeface="Aptos" panose="020B0004020202020204" pitchFamily="34" charset="0"/>
              </a:rPr>
              <a:t>5</a:t>
            </a:r>
          </a:p>
        </p:txBody>
      </p:sp>
      <p:sp>
        <p:nvSpPr>
          <p:cNvPr id="37" name="ZoneTexte 36">
            <a:extLst>
              <a:ext uri="{FF2B5EF4-FFF2-40B4-BE49-F238E27FC236}">
                <a16:creationId xmlns:a16="http://schemas.microsoft.com/office/drawing/2014/main" id="{1FA22A15-6372-D466-AAF4-1A89269188DD}"/>
              </a:ext>
            </a:extLst>
          </p:cNvPr>
          <p:cNvSpPr txBox="1"/>
          <p:nvPr/>
        </p:nvSpPr>
        <p:spPr>
          <a:xfrm>
            <a:off x="7010400" y="4673600"/>
            <a:ext cx="1016000" cy="161583"/>
          </a:xfrm>
          <a:prstGeom prst="rect">
            <a:avLst/>
          </a:prstGeom>
          <a:noFill/>
        </p:spPr>
        <p:txBody>
          <a:bodyPr vert="horz" lIns="0" tIns="0" rIns="0" bIns="0" rtlCol="0">
            <a:spAutoFit/>
          </a:bodyPr>
          <a:lstStyle/>
          <a:p>
            <a:r>
              <a:rPr lang="en-US" sz="1050" b="1">
                <a:solidFill>
                  <a:srgbClr val="16201E"/>
                </a:solidFill>
                <a:latin typeface="Aptos" panose="020B0004020202020204" pitchFamily="34" charset="0"/>
              </a:rPr>
              <a:t>Admin</a:t>
            </a:r>
          </a:p>
        </p:txBody>
      </p:sp>
      <p:sp>
        <p:nvSpPr>
          <p:cNvPr id="38" name="ZoneTexte 37">
            <a:extLst>
              <a:ext uri="{FF2B5EF4-FFF2-40B4-BE49-F238E27FC236}">
                <a16:creationId xmlns:a16="http://schemas.microsoft.com/office/drawing/2014/main" id="{78732CBA-8B61-EF70-F2C2-68DD62F53E58}"/>
              </a:ext>
            </a:extLst>
          </p:cNvPr>
          <p:cNvSpPr txBox="1"/>
          <p:nvPr/>
        </p:nvSpPr>
        <p:spPr>
          <a:xfrm>
            <a:off x="8191500" y="4686300"/>
            <a:ext cx="1524000" cy="133883"/>
          </a:xfrm>
          <a:prstGeom prst="rect">
            <a:avLst/>
          </a:prstGeom>
          <a:noFill/>
        </p:spPr>
        <p:txBody>
          <a:bodyPr vert="horz" lIns="0" tIns="0" rIns="0" bIns="0" rtlCol="0">
            <a:spAutoFit/>
          </a:bodyPr>
          <a:lstStyle/>
          <a:p>
            <a:r>
              <a:rPr lang="en-US" sz="870">
                <a:solidFill>
                  <a:srgbClr val="66536E"/>
                </a:solidFill>
                <a:latin typeface="Aptos" panose="020B0004020202020204" pitchFamily="34" charset="0"/>
              </a:rPr>
              <a:t>Final decision</a:t>
            </a:r>
          </a:p>
        </p:txBody>
      </p:sp>
    </p:spTree>
    <p:extLst>
      <p:ext uri="{BB962C8B-B14F-4D97-AF65-F5344CB8AC3E}">
        <p14:creationId xmlns:p14="http://schemas.microsoft.com/office/powerpoint/2010/main" val="1476095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0C7248-A491-1D44-D51E-F64DCBB86CCA}"/>
              </a:ext>
            </a:extLst>
          </p:cNvPr>
          <p:cNvSpPr/>
          <p:nvPr/>
        </p:nvSpPr>
        <p:spPr>
          <a:xfrm>
            <a:off x="0" y="0"/>
            <a:ext cx="12192000" cy="50800"/>
          </a:xfrm>
          <a:prstGeom prst="rect">
            <a:avLst/>
          </a:prstGeom>
          <a:solidFill>
            <a:srgbClr val="E1E7E2"/>
          </a:solidFill>
          <a:ln w="9525">
            <a:solidFill>
              <a:srgbClr val="E1E7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6054007-1A86-A58D-58E2-5F19609AA3B0}"/>
              </a:ext>
            </a:extLst>
          </p:cNvPr>
          <p:cNvSpPr/>
          <p:nvPr/>
        </p:nvSpPr>
        <p:spPr>
          <a:xfrm>
            <a:off x="0" y="0"/>
            <a:ext cx="11252200" cy="508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9998EED-AACE-C142-F022-6BD75016AAC7}"/>
              </a:ext>
            </a:extLst>
          </p:cNvPr>
          <p:cNvSpPr/>
          <p:nvPr/>
        </p:nvSpPr>
        <p:spPr>
          <a:xfrm>
            <a:off x="457200" y="317500"/>
            <a:ext cx="76200" cy="762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2999B507-242A-773B-0281-8A40142A8679}"/>
              </a:ext>
            </a:extLst>
          </p:cNvPr>
          <p:cNvSpPr txBox="1"/>
          <p:nvPr/>
        </p:nvSpPr>
        <p:spPr>
          <a:xfrm>
            <a:off x="635000" y="279400"/>
            <a:ext cx="3048000" cy="115416"/>
          </a:xfrm>
          <a:prstGeom prst="rect">
            <a:avLst/>
          </a:prstGeom>
          <a:noFill/>
        </p:spPr>
        <p:txBody>
          <a:bodyPr vert="horz" lIns="0" tIns="0" rIns="0" bIns="0" rtlCol="0">
            <a:spAutoFit/>
          </a:bodyPr>
          <a:lstStyle/>
          <a:p>
            <a:r>
              <a:rPr lang="en-US" sz="750" b="1">
                <a:solidFill>
                  <a:srgbClr val="66536E"/>
                </a:solidFill>
                <a:latin typeface="Aptos" panose="020B0004020202020204" pitchFamily="34" charset="0"/>
              </a:rPr>
              <a:t>CLOSING</a:t>
            </a:r>
          </a:p>
        </p:txBody>
      </p:sp>
      <p:sp>
        <p:nvSpPr>
          <p:cNvPr id="6" name="Rectangle 5">
            <a:extLst>
              <a:ext uri="{FF2B5EF4-FFF2-40B4-BE49-F238E27FC236}">
                <a16:creationId xmlns:a16="http://schemas.microsoft.com/office/drawing/2014/main" id="{6145BED7-BA25-6413-AB82-BC4897FDBCDC}"/>
              </a:ext>
            </a:extLst>
          </p:cNvPr>
          <p:cNvSpPr/>
          <p:nvPr/>
        </p:nvSpPr>
        <p:spPr>
          <a:xfrm>
            <a:off x="457200" y="6426200"/>
            <a:ext cx="10287000" cy="12700"/>
          </a:xfrm>
          <a:prstGeom prst="rect">
            <a:avLst/>
          </a:prstGeom>
          <a:solidFill>
            <a:srgbClr val="C0CDC8"/>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284B7F4E-CF34-6627-4A95-9255C307DB54}"/>
              </a:ext>
            </a:extLst>
          </p:cNvPr>
          <p:cNvSpPr txBox="1"/>
          <p:nvPr/>
        </p:nvSpPr>
        <p:spPr>
          <a:xfrm>
            <a:off x="10896600" y="6286500"/>
            <a:ext cx="762000" cy="138499"/>
          </a:xfrm>
          <a:prstGeom prst="rect">
            <a:avLst/>
          </a:prstGeom>
          <a:noFill/>
        </p:spPr>
        <p:txBody>
          <a:bodyPr vert="horz" lIns="0" tIns="0" rIns="0" bIns="0" rtlCol="0">
            <a:spAutoFit/>
          </a:bodyPr>
          <a:lstStyle/>
          <a:p>
            <a:pPr algn="r"/>
            <a:r>
              <a:rPr lang="en-US" sz="900" b="1">
                <a:solidFill>
                  <a:srgbClr val="66536E"/>
                </a:solidFill>
                <a:latin typeface="Aptos" panose="020B0004020202020204" pitchFamily="34" charset="0"/>
              </a:rPr>
              <a:t>12/13</a:t>
            </a:r>
          </a:p>
        </p:txBody>
      </p:sp>
      <p:sp>
        <p:nvSpPr>
          <p:cNvPr id="8" name="ZoneTexte 7">
            <a:extLst>
              <a:ext uri="{FF2B5EF4-FFF2-40B4-BE49-F238E27FC236}">
                <a16:creationId xmlns:a16="http://schemas.microsoft.com/office/drawing/2014/main" id="{311C96F9-1EB3-198B-5C01-302B33A276E1}"/>
              </a:ext>
            </a:extLst>
          </p:cNvPr>
          <p:cNvSpPr txBox="1"/>
          <p:nvPr/>
        </p:nvSpPr>
        <p:spPr>
          <a:xfrm>
            <a:off x="457200" y="635000"/>
            <a:ext cx="7747000" cy="707886"/>
          </a:xfrm>
          <a:prstGeom prst="rect">
            <a:avLst/>
          </a:prstGeom>
          <a:noFill/>
        </p:spPr>
        <p:txBody>
          <a:bodyPr vert="horz" lIns="0" tIns="0" rIns="0" bIns="0" rtlCol="0">
            <a:spAutoFit/>
          </a:bodyPr>
          <a:lstStyle/>
          <a:p>
            <a:r>
              <a:rPr lang="en-US" sz="2300" b="1">
                <a:solidFill>
                  <a:srgbClr val="16201E"/>
                </a:solidFill>
                <a:latin typeface="Georgia" panose="02040502050405020303" pitchFamily="18" charset="0"/>
              </a:rPr>
              <a:t>Perspectives Focus on Production-Grade Review Quality</a:t>
            </a:r>
          </a:p>
        </p:txBody>
      </p:sp>
      <p:sp>
        <p:nvSpPr>
          <p:cNvPr id="9" name="Rectangle 8">
            <a:extLst>
              <a:ext uri="{FF2B5EF4-FFF2-40B4-BE49-F238E27FC236}">
                <a16:creationId xmlns:a16="http://schemas.microsoft.com/office/drawing/2014/main" id="{ED27A8A7-7E77-C9C5-CB52-ABAD52BBD995}"/>
              </a:ext>
            </a:extLst>
          </p:cNvPr>
          <p:cNvSpPr/>
          <p:nvPr/>
        </p:nvSpPr>
        <p:spPr>
          <a:xfrm>
            <a:off x="635000" y="19304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082D22A1-CB49-5086-17CF-0E0F3F52E3F9}"/>
              </a:ext>
            </a:extLst>
          </p:cNvPr>
          <p:cNvSpPr txBox="1"/>
          <p:nvPr/>
        </p:nvSpPr>
        <p:spPr>
          <a:xfrm>
            <a:off x="863600" y="18415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Improve reviewer matching with direct vector comparison</a:t>
            </a:r>
          </a:p>
        </p:txBody>
      </p:sp>
      <p:sp>
        <p:nvSpPr>
          <p:cNvPr id="11" name="Rectangle 10">
            <a:extLst>
              <a:ext uri="{FF2B5EF4-FFF2-40B4-BE49-F238E27FC236}">
                <a16:creationId xmlns:a16="http://schemas.microsoft.com/office/drawing/2014/main" id="{3F6CF822-E490-1A61-6306-B835A44D5275}"/>
              </a:ext>
            </a:extLst>
          </p:cNvPr>
          <p:cNvSpPr/>
          <p:nvPr/>
        </p:nvSpPr>
        <p:spPr>
          <a:xfrm>
            <a:off x="635000" y="24003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ZoneTexte 11">
            <a:extLst>
              <a:ext uri="{FF2B5EF4-FFF2-40B4-BE49-F238E27FC236}">
                <a16:creationId xmlns:a16="http://schemas.microsoft.com/office/drawing/2014/main" id="{99C7A6FF-DF07-2988-966A-14187200E8DB}"/>
              </a:ext>
            </a:extLst>
          </p:cNvPr>
          <p:cNvSpPr txBox="1"/>
          <p:nvPr/>
        </p:nvSpPr>
        <p:spPr>
          <a:xfrm>
            <a:off x="863600" y="23114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Index full paper chunks for stronger RAG answers</a:t>
            </a:r>
          </a:p>
        </p:txBody>
      </p:sp>
      <p:sp>
        <p:nvSpPr>
          <p:cNvPr id="13" name="Rectangle 12">
            <a:extLst>
              <a:ext uri="{FF2B5EF4-FFF2-40B4-BE49-F238E27FC236}">
                <a16:creationId xmlns:a16="http://schemas.microsoft.com/office/drawing/2014/main" id="{DB3BD9D1-CB73-D856-5DDB-4C1CBEEF596B}"/>
              </a:ext>
            </a:extLst>
          </p:cNvPr>
          <p:cNvSpPr/>
          <p:nvPr/>
        </p:nvSpPr>
        <p:spPr>
          <a:xfrm>
            <a:off x="635000" y="28702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ZoneTexte 13">
            <a:extLst>
              <a:ext uri="{FF2B5EF4-FFF2-40B4-BE49-F238E27FC236}">
                <a16:creationId xmlns:a16="http://schemas.microsoft.com/office/drawing/2014/main" id="{72334597-B533-CD68-891F-9E7C0A6B55B3}"/>
              </a:ext>
            </a:extLst>
          </p:cNvPr>
          <p:cNvSpPr txBox="1"/>
          <p:nvPr/>
        </p:nvSpPr>
        <p:spPr>
          <a:xfrm>
            <a:off x="863600" y="27813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Add reviewer conflict-of-interest checks</a:t>
            </a:r>
          </a:p>
        </p:txBody>
      </p:sp>
      <p:sp>
        <p:nvSpPr>
          <p:cNvPr id="15" name="Rectangle 14">
            <a:extLst>
              <a:ext uri="{FF2B5EF4-FFF2-40B4-BE49-F238E27FC236}">
                <a16:creationId xmlns:a16="http://schemas.microsoft.com/office/drawing/2014/main" id="{C06CB98B-E19E-2252-E9F2-DB643225BCC5}"/>
              </a:ext>
            </a:extLst>
          </p:cNvPr>
          <p:cNvSpPr/>
          <p:nvPr/>
        </p:nvSpPr>
        <p:spPr>
          <a:xfrm>
            <a:off x="635000" y="33401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ZoneTexte 15">
            <a:extLst>
              <a:ext uri="{FF2B5EF4-FFF2-40B4-BE49-F238E27FC236}">
                <a16:creationId xmlns:a16="http://schemas.microsoft.com/office/drawing/2014/main" id="{3AA0A98A-E7E7-AADF-D19E-2FBBDA41693C}"/>
              </a:ext>
            </a:extLst>
          </p:cNvPr>
          <p:cNvSpPr txBox="1"/>
          <p:nvPr/>
        </p:nvSpPr>
        <p:spPr>
          <a:xfrm>
            <a:off x="863600" y="32512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Dockerize deployment and monitoring</a:t>
            </a:r>
          </a:p>
        </p:txBody>
      </p:sp>
      <p:sp>
        <p:nvSpPr>
          <p:cNvPr id="17" name="Rectangle 16">
            <a:extLst>
              <a:ext uri="{FF2B5EF4-FFF2-40B4-BE49-F238E27FC236}">
                <a16:creationId xmlns:a16="http://schemas.microsoft.com/office/drawing/2014/main" id="{E2D0E160-335B-EB72-55D8-967373F43CA6}"/>
              </a:ext>
            </a:extLst>
          </p:cNvPr>
          <p:cNvSpPr/>
          <p:nvPr/>
        </p:nvSpPr>
        <p:spPr>
          <a:xfrm>
            <a:off x="635000" y="38100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ZoneTexte 17">
            <a:extLst>
              <a:ext uri="{FF2B5EF4-FFF2-40B4-BE49-F238E27FC236}">
                <a16:creationId xmlns:a16="http://schemas.microsoft.com/office/drawing/2014/main" id="{801C6F79-0219-0C41-DEB2-13009B83976E}"/>
              </a:ext>
            </a:extLst>
          </p:cNvPr>
          <p:cNvSpPr txBox="1"/>
          <p:nvPr/>
        </p:nvSpPr>
        <p:spPr>
          <a:xfrm>
            <a:off x="863600" y="37211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Extend analytics for admin decision support</a:t>
            </a:r>
          </a:p>
        </p:txBody>
      </p:sp>
      <p:sp>
        <p:nvSpPr>
          <p:cNvPr id="19" name="Rectangle 18">
            <a:extLst>
              <a:ext uri="{FF2B5EF4-FFF2-40B4-BE49-F238E27FC236}">
                <a16:creationId xmlns:a16="http://schemas.microsoft.com/office/drawing/2014/main" id="{07E3F456-54D2-7089-FE42-E77CD743FBD6}"/>
              </a:ext>
            </a:extLst>
          </p:cNvPr>
          <p:cNvSpPr/>
          <p:nvPr/>
        </p:nvSpPr>
        <p:spPr>
          <a:xfrm>
            <a:off x="6350000" y="2095500"/>
            <a:ext cx="1778000" cy="825500"/>
          </a:xfrm>
          <a:prstGeom prst="rect">
            <a:avLst/>
          </a:prstGeom>
          <a:solidFill>
            <a:srgbClr val="10431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ZoneTexte 19">
            <a:extLst>
              <a:ext uri="{FF2B5EF4-FFF2-40B4-BE49-F238E27FC236}">
                <a16:creationId xmlns:a16="http://schemas.microsoft.com/office/drawing/2014/main" id="{1609769E-AAB6-1A04-71DF-6281FD7B415E}"/>
              </a:ext>
            </a:extLst>
          </p:cNvPr>
          <p:cNvSpPr txBox="1"/>
          <p:nvPr/>
        </p:nvSpPr>
        <p:spPr>
          <a:xfrm>
            <a:off x="6502400" y="2247900"/>
            <a:ext cx="1397000" cy="184666"/>
          </a:xfrm>
          <a:prstGeom prst="rect">
            <a:avLst/>
          </a:prstGeom>
          <a:noFill/>
        </p:spPr>
        <p:txBody>
          <a:bodyPr vert="horz" lIns="0" tIns="0" rIns="0" bIns="0" rtlCol="0">
            <a:spAutoFit/>
          </a:bodyPr>
          <a:lstStyle/>
          <a:p>
            <a:r>
              <a:rPr lang="en-US" sz="1200" b="1">
                <a:solidFill>
                  <a:srgbClr val="FFFFFF"/>
                </a:solidFill>
                <a:latin typeface="Georgia" panose="02040502050405020303" pitchFamily="18" charset="0"/>
              </a:rPr>
              <a:t>AI quality</a:t>
            </a:r>
          </a:p>
        </p:txBody>
      </p:sp>
      <p:sp>
        <p:nvSpPr>
          <p:cNvPr id="21" name="ZoneTexte 20">
            <a:extLst>
              <a:ext uri="{FF2B5EF4-FFF2-40B4-BE49-F238E27FC236}">
                <a16:creationId xmlns:a16="http://schemas.microsoft.com/office/drawing/2014/main" id="{4E919BA1-5A23-10B1-C6BD-0E277BDBDE23}"/>
              </a:ext>
            </a:extLst>
          </p:cNvPr>
          <p:cNvSpPr txBox="1"/>
          <p:nvPr/>
        </p:nvSpPr>
        <p:spPr>
          <a:xfrm>
            <a:off x="6502400" y="2552700"/>
            <a:ext cx="1397000" cy="252377"/>
          </a:xfrm>
          <a:prstGeom prst="rect">
            <a:avLst/>
          </a:prstGeom>
          <a:noFill/>
        </p:spPr>
        <p:txBody>
          <a:bodyPr vert="horz" lIns="0" tIns="0" rIns="0" bIns="0" rtlCol="0">
            <a:spAutoFit/>
          </a:bodyPr>
          <a:lstStyle/>
          <a:p>
            <a:r>
              <a:rPr lang="en-US" sz="820">
                <a:solidFill>
                  <a:srgbClr val="DDE8E3"/>
                </a:solidFill>
                <a:latin typeface="Aptos" panose="020B0004020202020204" pitchFamily="34" charset="0"/>
              </a:rPr>
              <a:t>Full vector matching and chunked RAG</a:t>
            </a:r>
          </a:p>
        </p:txBody>
      </p:sp>
      <p:sp>
        <p:nvSpPr>
          <p:cNvPr id="22" name="Rectangle 21">
            <a:extLst>
              <a:ext uri="{FF2B5EF4-FFF2-40B4-BE49-F238E27FC236}">
                <a16:creationId xmlns:a16="http://schemas.microsoft.com/office/drawing/2014/main" id="{F2B905BE-F78C-8D4A-0F40-61FF2CF362CA}"/>
              </a:ext>
            </a:extLst>
          </p:cNvPr>
          <p:cNvSpPr/>
          <p:nvPr/>
        </p:nvSpPr>
        <p:spPr>
          <a:xfrm>
            <a:off x="8509000" y="2095500"/>
            <a:ext cx="1778000" cy="8255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ZoneTexte 22">
            <a:extLst>
              <a:ext uri="{FF2B5EF4-FFF2-40B4-BE49-F238E27FC236}">
                <a16:creationId xmlns:a16="http://schemas.microsoft.com/office/drawing/2014/main" id="{45EF8B57-8E15-1930-4027-2B9DBC6E897E}"/>
              </a:ext>
            </a:extLst>
          </p:cNvPr>
          <p:cNvSpPr txBox="1"/>
          <p:nvPr/>
        </p:nvSpPr>
        <p:spPr>
          <a:xfrm>
            <a:off x="8661400" y="2247900"/>
            <a:ext cx="1397000" cy="184666"/>
          </a:xfrm>
          <a:prstGeom prst="rect">
            <a:avLst/>
          </a:prstGeom>
          <a:noFill/>
        </p:spPr>
        <p:txBody>
          <a:bodyPr vert="horz" lIns="0" tIns="0" rIns="0" bIns="0" rtlCol="0">
            <a:spAutoFit/>
          </a:bodyPr>
          <a:lstStyle/>
          <a:p>
            <a:r>
              <a:rPr lang="en-US" sz="1200" b="1">
                <a:solidFill>
                  <a:srgbClr val="16201E"/>
                </a:solidFill>
                <a:latin typeface="Georgia" panose="02040502050405020303" pitchFamily="18" charset="0"/>
              </a:rPr>
              <a:t>Governance</a:t>
            </a:r>
          </a:p>
        </p:txBody>
      </p:sp>
      <p:sp>
        <p:nvSpPr>
          <p:cNvPr id="24" name="ZoneTexte 23">
            <a:extLst>
              <a:ext uri="{FF2B5EF4-FFF2-40B4-BE49-F238E27FC236}">
                <a16:creationId xmlns:a16="http://schemas.microsoft.com/office/drawing/2014/main" id="{C4F834FA-0417-22C8-F23F-2813C1FC7038}"/>
              </a:ext>
            </a:extLst>
          </p:cNvPr>
          <p:cNvSpPr txBox="1"/>
          <p:nvPr/>
        </p:nvSpPr>
        <p:spPr>
          <a:xfrm>
            <a:off x="8661400" y="2552700"/>
            <a:ext cx="1397000" cy="126188"/>
          </a:xfrm>
          <a:prstGeom prst="rect">
            <a:avLst/>
          </a:prstGeom>
          <a:noFill/>
        </p:spPr>
        <p:txBody>
          <a:bodyPr vert="horz" lIns="0" tIns="0" rIns="0" bIns="0" rtlCol="0">
            <a:spAutoFit/>
          </a:bodyPr>
          <a:lstStyle/>
          <a:p>
            <a:r>
              <a:rPr lang="en-US" sz="820">
                <a:solidFill>
                  <a:srgbClr val="66536E"/>
                </a:solidFill>
                <a:latin typeface="Aptos" panose="020B0004020202020204" pitchFamily="34" charset="0"/>
              </a:rPr>
              <a:t>Conflict-of-interest controls</a:t>
            </a:r>
          </a:p>
        </p:txBody>
      </p:sp>
      <p:sp>
        <p:nvSpPr>
          <p:cNvPr id="25" name="Rectangle 24">
            <a:extLst>
              <a:ext uri="{FF2B5EF4-FFF2-40B4-BE49-F238E27FC236}">
                <a16:creationId xmlns:a16="http://schemas.microsoft.com/office/drawing/2014/main" id="{DA6763F2-1A11-884F-D03D-B8F378DCF058}"/>
              </a:ext>
            </a:extLst>
          </p:cNvPr>
          <p:cNvSpPr/>
          <p:nvPr/>
        </p:nvSpPr>
        <p:spPr>
          <a:xfrm>
            <a:off x="6350000" y="3365500"/>
            <a:ext cx="1778000" cy="8255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ZoneTexte 25">
            <a:extLst>
              <a:ext uri="{FF2B5EF4-FFF2-40B4-BE49-F238E27FC236}">
                <a16:creationId xmlns:a16="http://schemas.microsoft.com/office/drawing/2014/main" id="{6FFAE4DD-621B-4412-EDC3-3953826C1610}"/>
              </a:ext>
            </a:extLst>
          </p:cNvPr>
          <p:cNvSpPr txBox="1"/>
          <p:nvPr/>
        </p:nvSpPr>
        <p:spPr>
          <a:xfrm>
            <a:off x="6502400" y="3517900"/>
            <a:ext cx="1397000" cy="184666"/>
          </a:xfrm>
          <a:prstGeom prst="rect">
            <a:avLst/>
          </a:prstGeom>
          <a:noFill/>
        </p:spPr>
        <p:txBody>
          <a:bodyPr vert="horz" lIns="0" tIns="0" rIns="0" bIns="0" rtlCol="0">
            <a:spAutoFit/>
          </a:bodyPr>
          <a:lstStyle/>
          <a:p>
            <a:r>
              <a:rPr lang="en-US" sz="1200" b="1">
                <a:solidFill>
                  <a:srgbClr val="16201E"/>
                </a:solidFill>
                <a:latin typeface="Georgia" panose="02040502050405020303" pitchFamily="18" charset="0"/>
              </a:rPr>
              <a:t>Deployment</a:t>
            </a:r>
          </a:p>
        </p:txBody>
      </p:sp>
      <p:sp>
        <p:nvSpPr>
          <p:cNvPr id="27" name="ZoneTexte 26">
            <a:extLst>
              <a:ext uri="{FF2B5EF4-FFF2-40B4-BE49-F238E27FC236}">
                <a16:creationId xmlns:a16="http://schemas.microsoft.com/office/drawing/2014/main" id="{4FDCD557-B5BA-B522-2741-0D2F80EDBEF6}"/>
              </a:ext>
            </a:extLst>
          </p:cNvPr>
          <p:cNvSpPr txBox="1"/>
          <p:nvPr/>
        </p:nvSpPr>
        <p:spPr>
          <a:xfrm>
            <a:off x="6502400" y="3822700"/>
            <a:ext cx="1397000" cy="252377"/>
          </a:xfrm>
          <a:prstGeom prst="rect">
            <a:avLst/>
          </a:prstGeom>
          <a:noFill/>
        </p:spPr>
        <p:txBody>
          <a:bodyPr vert="horz" lIns="0" tIns="0" rIns="0" bIns="0" rtlCol="0">
            <a:spAutoFit/>
          </a:bodyPr>
          <a:lstStyle/>
          <a:p>
            <a:r>
              <a:rPr lang="en-US" sz="820">
                <a:solidFill>
                  <a:srgbClr val="66536E"/>
                </a:solidFill>
                <a:latin typeface="Aptos" panose="020B0004020202020204" pitchFamily="34" charset="0"/>
              </a:rPr>
              <a:t>Containerization and monitoring</a:t>
            </a:r>
          </a:p>
        </p:txBody>
      </p:sp>
      <p:sp>
        <p:nvSpPr>
          <p:cNvPr id="28" name="Rectangle 27">
            <a:extLst>
              <a:ext uri="{FF2B5EF4-FFF2-40B4-BE49-F238E27FC236}">
                <a16:creationId xmlns:a16="http://schemas.microsoft.com/office/drawing/2014/main" id="{07EC6361-5A44-A94B-4441-D68C3BAC0C7B}"/>
              </a:ext>
            </a:extLst>
          </p:cNvPr>
          <p:cNvSpPr/>
          <p:nvPr/>
        </p:nvSpPr>
        <p:spPr>
          <a:xfrm>
            <a:off x="8509000" y="3365500"/>
            <a:ext cx="1778000" cy="825500"/>
          </a:xfrm>
          <a:prstGeom prst="rect">
            <a:avLst/>
          </a:prstGeom>
          <a:solidFill>
            <a:srgbClr val="FFFFFF"/>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ZoneTexte 28">
            <a:extLst>
              <a:ext uri="{FF2B5EF4-FFF2-40B4-BE49-F238E27FC236}">
                <a16:creationId xmlns:a16="http://schemas.microsoft.com/office/drawing/2014/main" id="{1AED9CE0-0358-2272-BC26-DAB22598A0F8}"/>
              </a:ext>
            </a:extLst>
          </p:cNvPr>
          <p:cNvSpPr txBox="1"/>
          <p:nvPr/>
        </p:nvSpPr>
        <p:spPr>
          <a:xfrm>
            <a:off x="8661400" y="3517900"/>
            <a:ext cx="1397000" cy="184666"/>
          </a:xfrm>
          <a:prstGeom prst="rect">
            <a:avLst/>
          </a:prstGeom>
          <a:noFill/>
        </p:spPr>
        <p:txBody>
          <a:bodyPr vert="horz" lIns="0" tIns="0" rIns="0" bIns="0" rtlCol="0">
            <a:spAutoFit/>
          </a:bodyPr>
          <a:lstStyle/>
          <a:p>
            <a:r>
              <a:rPr lang="en-US" sz="1200" b="1">
                <a:solidFill>
                  <a:srgbClr val="16201E"/>
                </a:solidFill>
                <a:latin typeface="Georgia" panose="02040502050405020303" pitchFamily="18" charset="0"/>
              </a:rPr>
              <a:t>Analytics</a:t>
            </a:r>
          </a:p>
        </p:txBody>
      </p:sp>
      <p:sp>
        <p:nvSpPr>
          <p:cNvPr id="30" name="ZoneTexte 29">
            <a:extLst>
              <a:ext uri="{FF2B5EF4-FFF2-40B4-BE49-F238E27FC236}">
                <a16:creationId xmlns:a16="http://schemas.microsoft.com/office/drawing/2014/main" id="{2498C494-F406-934A-A847-D93D10A87DE3}"/>
              </a:ext>
            </a:extLst>
          </p:cNvPr>
          <p:cNvSpPr txBox="1"/>
          <p:nvPr/>
        </p:nvSpPr>
        <p:spPr>
          <a:xfrm>
            <a:off x="8661400" y="3822700"/>
            <a:ext cx="1397000" cy="126188"/>
          </a:xfrm>
          <a:prstGeom prst="rect">
            <a:avLst/>
          </a:prstGeom>
          <a:noFill/>
        </p:spPr>
        <p:txBody>
          <a:bodyPr vert="horz" lIns="0" tIns="0" rIns="0" bIns="0" rtlCol="0">
            <a:spAutoFit/>
          </a:bodyPr>
          <a:lstStyle/>
          <a:p>
            <a:r>
              <a:rPr lang="en-US" sz="820">
                <a:solidFill>
                  <a:srgbClr val="66536E"/>
                </a:solidFill>
                <a:latin typeface="Aptos" panose="020B0004020202020204" pitchFamily="34" charset="0"/>
              </a:rPr>
              <a:t>Decision-support dashboards</a:t>
            </a:r>
          </a:p>
        </p:txBody>
      </p:sp>
    </p:spTree>
    <p:extLst>
      <p:ext uri="{BB962C8B-B14F-4D97-AF65-F5344CB8AC3E}">
        <p14:creationId xmlns:p14="http://schemas.microsoft.com/office/powerpoint/2010/main" val="4051282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0C1F81-84A9-C407-4BA3-6855D6AEDF50}"/>
              </a:ext>
            </a:extLst>
          </p:cNvPr>
          <p:cNvSpPr/>
          <p:nvPr/>
        </p:nvSpPr>
        <p:spPr>
          <a:xfrm>
            <a:off x="0" y="0"/>
            <a:ext cx="12192000" cy="50800"/>
          </a:xfrm>
          <a:prstGeom prst="rect">
            <a:avLst/>
          </a:prstGeom>
          <a:solidFill>
            <a:srgbClr val="E1E7E2"/>
          </a:solidFill>
          <a:ln w="9525">
            <a:solidFill>
              <a:srgbClr val="E1E7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B732090-2CE5-360B-44A2-3FBDDCBDD234}"/>
              </a:ext>
            </a:extLst>
          </p:cNvPr>
          <p:cNvSpPr/>
          <p:nvPr/>
        </p:nvSpPr>
        <p:spPr>
          <a:xfrm>
            <a:off x="0" y="0"/>
            <a:ext cx="12192000" cy="508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04F6D8F-0644-4E62-52D5-9F732ED0F0A7}"/>
              </a:ext>
            </a:extLst>
          </p:cNvPr>
          <p:cNvSpPr/>
          <p:nvPr/>
        </p:nvSpPr>
        <p:spPr>
          <a:xfrm>
            <a:off x="457200" y="317500"/>
            <a:ext cx="76200" cy="762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F2428E26-4444-3B27-8417-8EFAAFCE7782}"/>
              </a:ext>
            </a:extLst>
          </p:cNvPr>
          <p:cNvSpPr txBox="1"/>
          <p:nvPr/>
        </p:nvSpPr>
        <p:spPr>
          <a:xfrm>
            <a:off x="635000" y="279400"/>
            <a:ext cx="3048000" cy="115416"/>
          </a:xfrm>
          <a:prstGeom prst="rect">
            <a:avLst/>
          </a:prstGeom>
          <a:noFill/>
        </p:spPr>
        <p:txBody>
          <a:bodyPr vert="horz" lIns="0" tIns="0" rIns="0" bIns="0" rtlCol="0">
            <a:spAutoFit/>
          </a:bodyPr>
          <a:lstStyle/>
          <a:p>
            <a:r>
              <a:rPr lang="en-US" sz="750" b="1">
                <a:solidFill>
                  <a:srgbClr val="66536E"/>
                </a:solidFill>
                <a:latin typeface="Aptos" panose="020B0004020202020204" pitchFamily="34" charset="0"/>
              </a:rPr>
              <a:t>CLOSING</a:t>
            </a:r>
          </a:p>
        </p:txBody>
      </p:sp>
      <p:sp>
        <p:nvSpPr>
          <p:cNvPr id="6" name="Rectangle 5">
            <a:extLst>
              <a:ext uri="{FF2B5EF4-FFF2-40B4-BE49-F238E27FC236}">
                <a16:creationId xmlns:a16="http://schemas.microsoft.com/office/drawing/2014/main" id="{280B80FC-D109-0516-F568-A0CC22706EAB}"/>
              </a:ext>
            </a:extLst>
          </p:cNvPr>
          <p:cNvSpPr/>
          <p:nvPr/>
        </p:nvSpPr>
        <p:spPr>
          <a:xfrm>
            <a:off x="457200" y="6426200"/>
            <a:ext cx="10287000" cy="12700"/>
          </a:xfrm>
          <a:prstGeom prst="rect">
            <a:avLst/>
          </a:prstGeom>
          <a:solidFill>
            <a:srgbClr val="C0CDC8"/>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D7A09793-47AD-E033-41DA-F54C371FBE24}"/>
              </a:ext>
            </a:extLst>
          </p:cNvPr>
          <p:cNvSpPr txBox="1"/>
          <p:nvPr/>
        </p:nvSpPr>
        <p:spPr>
          <a:xfrm>
            <a:off x="10896600" y="6286500"/>
            <a:ext cx="762000" cy="138499"/>
          </a:xfrm>
          <a:prstGeom prst="rect">
            <a:avLst/>
          </a:prstGeom>
          <a:noFill/>
        </p:spPr>
        <p:txBody>
          <a:bodyPr vert="horz" lIns="0" tIns="0" rIns="0" bIns="0" rtlCol="0">
            <a:spAutoFit/>
          </a:bodyPr>
          <a:lstStyle/>
          <a:p>
            <a:pPr algn="r"/>
            <a:r>
              <a:rPr lang="en-US" sz="900" b="1">
                <a:solidFill>
                  <a:srgbClr val="66536E"/>
                </a:solidFill>
                <a:latin typeface="Aptos" panose="020B0004020202020204" pitchFamily="34" charset="0"/>
              </a:rPr>
              <a:t>13/13</a:t>
            </a:r>
          </a:p>
        </p:txBody>
      </p:sp>
      <p:sp>
        <p:nvSpPr>
          <p:cNvPr id="8" name="ZoneTexte 7">
            <a:extLst>
              <a:ext uri="{FF2B5EF4-FFF2-40B4-BE49-F238E27FC236}">
                <a16:creationId xmlns:a16="http://schemas.microsoft.com/office/drawing/2014/main" id="{520FA4E4-D1FF-B4B5-3F7F-64CB191D278B}"/>
              </a:ext>
            </a:extLst>
          </p:cNvPr>
          <p:cNvSpPr txBox="1"/>
          <p:nvPr/>
        </p:nvSpPr>
        <p:spPr>
          <a:xfrm>
            <a:off x="457200" y="635000"/>
            <a:ext cx="7747000" cy="353943"/>
          </a:xfrm>
          <a:prstGeom prst="rect">
            <a:avLst/>
          </a:prstGeom>
          <a:noFill/>
        </p:spPr>
        <p:txBody>
          <a:bodyPr vert="horz" lIns="0" tIns="0" rIns="0" bIns="0" rtlCol="0">
            <a:spAutoFit/>
          </a:bodyPr>
          <a:lstStyle/>
          <a:p>
            <a:r>
              <a:rPr lang="en-US" sz="2300" b="1">
                <a:solidFill>
                  <a:srgbClr val="16201E"/>
                </a:solidFill>
                <a:latin typeface="Georgia" panose="02040502050405020303" pitchFamily="18" charset="0"/>
              </a:rPr>
              <a:t>Thank You. I Am Ready for Your Questions.</a:t>
            </a:r>
          </a:p>
        </p:txBody>
      </p:sp>
      <p:sp>
        <p:nvSpPr>
          <p:cNvPr id="9" name="Rectangle 8">
            <a:extLst>
              <a:ext uri="{FF2B5EF4-FFF2-40B4-BE49-F238E27FC236}">
                <a16:creationId xmlns:a16="http://schemas.microsoft.com/office/drawing/2014/main" id="{A9C8B969-D9EA-35A1-EF66-F86C9B9495BB}"/>
              </a:ext>
            </a:extLst>
          </p:cNvPr>
          <p:cNvSpPr/>
          <p:nvPr/>
        </p:nvSpPr>
        <p:spPr>
          <a:xfrm>
            <a:off x="635000" y="19304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E32137C8-2ED9-650B-2836-E781C96F3252}"/>
              </a:ext>
            </a:extLst>
          </p:cNvPr>
          <p:cNvSpPr txBox="1"/>
          <p:nvPr/>
        </p:nvSpPr>
        <p:spPr>
          <a:xfrm>
            <a:off x="863600" y="18415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Structured lifecycle from upload to final decision</a:t>
            </a:r>
          </a:p>
        </p:txBody>
      </p:sp>
      <p:sp>
        <p:nvSpPr>
          <p:cNvPr id="11" name="Rectangle 10">
            <a:extLst>
              <a:ext uri="{FF2B5EF4-FFF2-40B4-BE49-F238E27FC236}">
                <a16:creationId xmlns:a16="http://schemas.microsoft.com/office/drawing/2014/main" id="{ECBDD176-A623-ABB4-FD07-0B1708223BA2}"/>
              </a:ext>
            </a:extLst>
          </p:cNvPr>
          <p:cNvSpPr/>
          <p:nvPr/>
        </p:nvSpPr>
        <p:spPr>
          <a:xfrm>
            <a:off x="635000" y="24003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ZoneTexte 11">
            <a:extLst>
              <a:ext uri="{FF2B5EF4-FFF2-40B4-BE49-F238E27FC236}">
                <a16:creationId xmlns:a16="http://schemas.microsoft.com/office/drawing/2014/main" id="{45C50D8A-7C41-66AE-A50F-E2E6DADA5308}"/>
              </a:ext>
            </a:extLst>
          </p:cNvPr>
          <p:cNvSpPr txBox="1"/>
          <p:nvPr/>
        </p:nvSpPr>
        <p:spPr>
          <a:xfrm>
            <a:off x="863600" y="23114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Local AI preserves confidentiality</a:t>
            </a:r>
          </a:p>
        </p:txBody>
      </p:sp>
      <p:sp>
        <p:nvSpPr>
          <p:cNvPr id="13" name="Rectangle 12">
            <a:extLst>
              <a:ext uri="{FF2B5EF4-FFF2-40B4-BE49-F238E27FC236}">
                <a16:creationId xmlns:a16="http://schemas.microsoft.com/office/drawing/2014/main" id="{092C5DA0-9BB5-A0F4-46E8-947C4A55E9CA}"/>
              </a:ext>
            </a:extLst>
          </p:cNvPr>
          <p:cNvSpPr/>
          <p:nvPr/>
        </p:nvSpPr>
        <p:spPr>
          <a:xfrm>
            <a:off x="635000" y="28702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ZoneTexte 13">
            <a:extLst>
              <a:ext uri="{FF2B5EF4-FFF2-40B4-BE49-F238E27FC236}">
                <a16:creationId xmlns:a16="http://schemas.microsoft.com/office/drawing/2014/main" id="{79965F7D-21C5-7F67-3E7A-0108DFE5BFB5}"/>
              </a:ext>
            </a:extLst>
          </p:cNvPr>
          <p:cNvSpPr txBox="1"/>
          <p:nvPr/>
        </p:nvSpPr>
        <p:spPr>
          <a:xfrm>
            <a:off x="863600" y="27813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Scrum increments align with architecture</a:t>
            </a:r>
          </a:p>
        </p:txBody>
      </p:sp>
      <p:sp>
        <p:nvSpPr>
          <p:cNvPr id="15" name="Rectangle 14">
            <a:extLst>
              <a:ext uri="{FF2B5EF4-FFF2-40B4-BE49-F238E27FC236}">
                <a16:creationId xmlns:a16="http://schemas.microsoft.com/office/drawing/2014/main" id="{56017ECC-274F-AC3D-F6AC-2BC369B82EE4}"/>
              </a:ext>
            </a:extLst>
          </p:cNvPr>
          <p:cNvSpPr/>
          <p:nvPr/>
        </p:nvSpPr>
        <p:spPr>
          <a:xfrm>
            <a:off x="635000" y="33401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ZoneTexte 15">
            <a:extLst>
              <a:ext uri="{FF2B5EF4-FFF2-40B4-BE49-F238E27FC236}">
                <a16:creationId xmlns:a16="http://schemas.microsoft.com/office/drawing/2014/main" id="{38A3D7EA-A1F5-8C97-3B2F-C2A6E36CAECA}"/>
              </a:ext>
            </a:extLst>
          </p:cNvPr>
          <p:cNvSpPr txBox="1"/>
          <p:nvPr/>
        </p:nvSpPr>
        <p:spPr>
          <a:xfrm>
            <a:off x="863600" y="3251200"/>
            <a:ext cx="4953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Human validation remains central</a:t>
            </a:r>
          </a:p>
        </p:txBody>
      </p:sp>
      <p:sp>
        <p:nvSpPr>
          <p:cNvPr id="17" name="Rectangle 16">
            <a:extLst>
              <a:ext uri="{FF2B5EF4-FFF2-40B4-BE49-F238E27FC236}">
                <a16:creationId xmlns:a16="http://schemas.microsoft.com/office/drawing/2014/main" id="{8073C42C-90E0-C3D0-BFBA-7950CADC47D4}"/>
              </a:ext>
            </a:extLst>
          </p:cNvPr>
          <p:cNvSpPr/>
          <p:nvPr/>
        </p:nvSpPr>
        <p:spPr>
          <a:xfrm>
            <a:off x="0" y="0"/>
            <a:ext cx="12192000" cy="6858000"/>
          </a:xfrm>
          <a:prstGeom prst="rect">
            <a:avLst/>
          </a:prstGeom>
          <a:solidFill>
            <a:srgbClr val="10431F"/>
          </a:solidFill>
          <a:ln w="9525">
            <a:solidFill>
              <a:srgbClr val="1043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B2DD6A6-8B46-C575-FA59-802085407E0A}"/>
              </a:ext>
            </a:extLst>
          </p:cNvPr>
          <p:cNvSpPr/>
          <p:nvPr/>
        </p:nvSpPr>
        <p:spPr>
          <a:xfrm>
            <a:off x="0" y="0"/>
            <a:ext cx="12192000" cy="508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ZoneTexte 18">
            <a:extLst>
              <a:ext uri="{FF2B5EF4-FFF2-40B4-BE49-F238E27FC236}">
                <a16:creationId xmlns:a16="http://schemas.microsoft.com/office/drawing/2014/main" id="{B7F2CCF2-19C5-8696-5589-89B120979EBA}"/>
              </a:ext>
            </a:extLst>
          </p:cNvPr>
          <p:cNvSpPr txBox="1"/>
          <p:nvPr/>
        </p:nvSpPr>
        <p:spPr>
          <a:xfrm>
            <a:off x="558800" y="508000"/>
            <a:ext cx="3048000" cy="123111"/>
          </a:xfrm>
          <a:prstGeom prst="rect">
            <a:avLst/>
          </a:prstGeom>
          <a:noFill/>
        </p:spPr>
        <p:txBody>
          <a:bodyPr vert="horz" lIns="0" tIns="0" rIns="0" bIns="0" rtlCol="0">
            <a:spAutoFit/>
          </a:bodyPr>
          <a:lstStyle/>
          <a:p>
            <a:r>
              <a:rPr lang="en-US" sz="800" b="1">
                <a:solidFill>
                  <a:srgbClr val="AFC2BA"/>
                </a:solidFill>
                <a:latin typeface="Aptos" panose="020B0004020202020204" pitchFamily="34" charset="0"/>
              </a:rPr>
              <a:t>CONCLUSION</a:t>
            </a:r>
          </a:p>
        </p:txBody>
      </p:sp>
      <p:sp>
        <p:nvSpPr>
          <p:cNvPr id="20" name="ZoneTexte 19">
            <a:extLst>
              <a:ext uri="{FF2B5EF4-FFF2-40B4-BE49-F238E27FC236}">
                <a16:creationId xmlns:a16="http://schemas.microsoft.com/office/drawing/2014/main" id="{F00A427E-68E2-69D3-AFE5-ADB993397ED3}"/>
              </a:ext>
            </a:extLst>
          </p:cNvPr>
          <p:cNvSpPr txBox="1"/>
          <p:nvPr/>
        </p:nvSpPr>
        <p:spPr>
          <a:xfrm>
            <a:off x="558800" y="1333500"/>
            <a:ext cx="7239000" cy="984885"/>
          </a:xfrm>
          <a:prstGeom prst="rect">
            <a:avLst/>
          </a:prstGeom>
          <a:noFill/>
        </p:spPr>
        <p:txBody>
          <a:bodyPr vert="horz" lIns="0" tIns="0" rIns="0" bIns="0" rtlCol="0">
            <a:spAutoFit/>
          </a:bodyPr>
          <a:lstStyle/>
          <a:p>
            <a:r>
              <a:rPr lang="en-US" sz="3200" b="1">
                <a:solidFill>
                  <a:srgbClr val="FFFFFF"/>
                </a:solidFill>
                <a:latin typeface="Georgia" panose="02040502050405020303" pitchFamily="18" charset="0"/>
              </a:rPr>
              <a:t>Thank You. I Am Ready for Your Questions.</a:t>
            </a:r>
          </a:p>
        </p:txBody>
      </p:sp>
      <p:sp>
        <p:nvSpPr>
          <p:cNvPr id="21" name="Rectangle 20">
            <a:extLst>
              <a:ext uri="{FF2B5EF4-FFF2-40B4-BE49-F238E27FC236}">
                <a16:creationId xmlns:a16="http://schemas.microsoft.com/office/drawing/2014/main" id="{8A8F2C0C-CF4A-2E5F-F74D-7ECE850162D4}"/>
              </a:ext>
            </a:extLst>
          </p:cNvPr>
          <p:cNvSpPr/>
          <p:nvPr/>
        </p:nvSpPr>
        <p:spPr>
          <a:xfrm>
            <a:off x="825500" y="30099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ZoneTexte 21">
            <a:extLst>
              <a:ext uri="{FF2B5EF4-FFF2-40B4-BE49-F238E27FC236}">
                <a16:creationId xmlns:a16="http://schemas.microsoft.com/office/drawing/2014/main" id="{772DFC0B-80F2-4EAB-9A84-B32DA46DED06}"/>
              </a:ext>
            </a:extLst>
          </p:cNvPr>
          <p:cNvSpPr txBox="1"/>
          <p:nvPr/>
        </p:nvSpPr>
        <p:spPr>
          <a:xfrm>
            <a:off x="1054100" y="2921000"/>
            <a:ext cx="5334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Structured lifecycle from upload to final decision</a:t>
            </a:r>
          </a:p>
        </p:txBody>
      </p:sp>
      <p:sp>
        <p:nvSpPr>
          <p:cNvPr id="23" name="Rectangle 22">
            <a:extLst>
              <a:ext uri="{FF2B5EF4-FFF2-40B4-BE49-F238E27FC236}">
                <a16:creationId xmlns:a16="http://schemas.microsoft.com/office/drawing/2014/main" id="{4048912A-8074-3E53-084B-0B33539A50EB}"/>
              </a:ext>
            </a:extLst>
          </p:cNvPr>
          <p:cNvSpPr/>
          <p:nvPr/>
        </p:nvSpPr>
        <p:spPr>
          <a:xfrm>
            <a:off x="825500" y="34798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ZoneTexte 23">
            <a:extLst>
              <a:ext uri="{FF2B5EF4-FFF2-40B4-BE49-F238E27FC236}">
                <a16:creationId xmlns:a16="http://schemas.microsoft.com/office/drawing/2014/main" id="{1CADB44F-3AA3-5127-A217-1F5CFFAA3A2F}"/>
              </a:ext>
            </a:extLst>
          </p:cNvPr>
          <p:cNvSpPr txBox="1"/>
          <p:nvPr/>
        </p:nvSpPr>
        <p:spPr>
          <a:xfrm>
            <a:off x="1054100" y="3390900"/>
            <a:ext cx="5334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Local AI preserves confidentiality</a:t>
            </a:r>
          </a:p>
        </p:txBody>
      </p:sp>
      <p:sp>
        <p:nvSpPr>
          <p:cNvPr id="25" name="Rectangle 24">
            <a:extLst>
              <a:ext uri="{FF2B5EF4-FFF2-40B4-BE49-F238E27FC236}">
                <a16:creationId xmlns:a16="http://schemas.microsoft.com/office/drawing/2014/main" id="{68FE11C0-0A67-C25F-345B-E5C81C06DC27}"/>
              </a:ext>
            </a:extLst>
          </p:cNvPr>
          <p:cNvSpPr/>
          <p:nvPr/>
        </p:nvSpPr>
        <p:spPr>
          <a:xfrm>
            <a:off x="825500" y="3949700"/>
            <a:ext cx="63500" cy="63500"/>
          </a:xfrm>
          <a:prstGeom prst="rect">
            <a:avLst/>
          </a:prstGeom>
          <a:solidFill>
            <a:srgbClr val="147D64"/>
          </a:solidFill>
          <a:ln w="9525">
            <a:solidFill>
              <a:srgbClr val="147D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ZoneTexte 25">
            <a:extLst>
              <a:ext uri="{FF2B5EF4-FFF2-40B4-BE49-F238E27FC236}">
                <a16:creationId xmlns:a16="http://schemas.microsoft.com/office/drawing/2014/main" id="{B82DA850-72C3-532B-665F-9090AB73EEA2}"/>
              </a:ext>
            </a:extLst>
          </p:cNvPr>
          <p:cNvSpPr txBox="1"/>
          <p:nvPr/>
        </p:nvSpPr>
        <p:spPr>
          <a:xfrm>
            <a:off x="1054100" y="3860800"/>
            <a:ext cx="5334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Scrum increments align with architecture</a:t>
            </a:r>
          </a:p>
        </p:txBody>
      </p:sp>
      <p:sp>
        <p:nvSpPr>
          <p:cNvPr id="27" name="Rectangle 26">
            <a:extLst>
              <a:ext uri="{FF2B5EF4-FFF2-40B4-BE49-F238E27FC236}">
                <a16:creationId xmlns:a16="http://schemas.microsoft.com/office/drawing/2014/main" id="{90F3C0AD-DBBE-FA31-DD84-8AD839306A97}"/>
              </a:ext>
            </a:extLst>
          </p:cNvPr>
          <p:cNvSpPr/>
          <p:nvPr/>
        </p:nvSpPr>
        <p:spPr>
          <a:xfrm>
            <a:off x="825500" y="4419600"/>
            <a:ext cx="63500" cy="63500"/>
          </a:xfrm>
          <a:prstGeom prst="rect">
            <a:avLst/>
          </a:prstGeom>
          <a:solidFill>
            <a:srgbClr val="315E8A"/>
          </a:solidFill>
          <a:ln w="9525">
            <a:solidFill>
              <a:srgbClr val="315E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ZoneTexte 27">
            <a:extLst>
              <a:ext uri="{FF2B5EF4-FFF2-40B4-BE49-F238E27FC236}">
                <a16:creationId xmlns:a16="http://schemas.microsoft.com/office/drawing/2014/main" id="{54639A57-5B36-B2AD-9F65-F3B70109CFE7}"/>
              </a:ext>
            </a:extLst>
          </p:cNvPr>
          <p:cNvSpPr txBox="1"/>
          <p:nvPr/>
        </p:nvSpPr>
        <p:spPr>
          <a:xfrm>
            <a:off x="1054100" y="4330700"/>
            <a:ext cx="5334000" cy="192360"/>
          </a:xfrm>
          <a:prstGeom prst="rect">
            <a:avLst/>
          </a:prstGeom>
          <a:noFill/>
        </p:spPr>
        <p:txBody>
          <a:bodyPr vert="horz" lIns="0" tIns="0" rIns="0" bIns="0" rtlCol="0">
            <a:spAutoFit/>
          </a:bodyPr>
          <a:lstStyle/>
          <a:p>
            <a:r>
              <a:rPr lang="en-US" sz="1250">
                <a:solidFill>
                  <a:srgbClr val="16201E"/>
                </a:solidFill>
                <a:latin typeface="Aptos" panose="020B0004020202020204" pitchFamily="34" charset="0"/>
              </a:rPr>
              <a:t>Human validation remains central</a:t>
            </a:r>
          </a:p>
        </p:txBody>
      </p:sp>
      <p:sp>
        <p:nvSpPr>
          <p:cNvPr id="29" name="Rectangle 28">
            <a:extLst>
              <a:ext uri="{FF2B5EF4-FFF2-40B4-BE49-F238E27FC236}">
                <a16:creationId xmlns:a16="http://schemas.microsoft.com/office/drawing/2014/main" id="{BB4F547A-82C2-8AF4-5C65-D92E8971072D}"/>
              </a:ext>
            </a:extLst>
          </p:cNvPr>
          <p:cNvSpPr/>
          <p:nvPr/>
        </p:nvSpPr>
        <p:spPr>
          <a:xfrm>
            <a:off x="1016000" y="5207000"/>
            <a:ext cx="899886" cy="635000"/>
          </a:xfrm>
          <a:prstGeom prst="rect">
            <a:avLst/>
          </a:prstGeom>
          <a:solidFill>
            <a:srgbClr val="EAF1EC"/>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ZoneTexte 29">
            <a:extLst>
              <a:ext uri="{FF2B5EF4-FFF2-40B4-BE49-F238E27FC236}">
                <a16:creationId xmlns:a16="http://schemas.microsoft.com/office/drawing/2014/main" id="{948DC2AA-0096-8908-5D0C-FCB848D02EED}"/>
              </a:ext>
            </a:extLst>
          </p:cNvPr>
          <p:cNvSpPr txBox="1"/>
          <p:nvPr/>
        </p:nvSpPr>
        <p:spPr>
          <a:xfrm>
            <a:off x="1117600" y="5308600"/>
            <a:ext cx="355600" cy="130805"/>
          </a:xfrm>
          <a:prstGeom prst="rect">
            <a:avLst/>
          </a:prstGeom>
          <a:noFill/>
        </p:spPr>
        <p:txBody>
          <a:bodyPr vert="horz" lIns="0" tIns="0" rIns="0" bIns="0" rtlCol="0">
            <a:spAutoFit/>
          </a:bodyPr>
          <a:lstStyle/>
          <a:p>
            <a:r>
              <a:rPr lang="en-US" sz="850" b="1">
                <a:solidFill>
                  <a:srgbClr val="147D64"/>
                </a:solidFill>
                <a:latin typeface="Aptos" panose="020B0004020202020204" pitchFamily="34" charset="0"/>
              </a:rPr>
              <a:t>01</a:t>
            </a:r>
          </a:p>
        </p:txBody>
      </p:sp>
      <p:sp>
        <p:nvSpPr>
          <p:cNvPr id="31" name="ZoneTexte 30">
            <a:extLst>
              <a:ext uri="{FF2B5EF4-FFF2-40B4-BE49-F238E27FC236}">
                <a16:creationId xmlns:a16="http://schemas.microsoft.com/office/drawing/2014/main" id="{FCA100D4-EEA2-36CE-7DEF-B5DE4C0990C6}"/>
              </a:ext>
            </a:extLst>
          </p:cNvPr>
          <p:cNvSpPr txBox="1"/>
          <p:nvPr/>
        </p:nvSpPr>
        <p:spPr>
          <a:xfrm>
            <a:off x="1117600" y="5511800"/>
            <a:ext cx="696686"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Upload</a:t>
            </a:r>
          </a:p>
        </p:txBody>
      </p:sp>
      <p:sp>
        <p:nvSpPr>
          <p:cNvPr id="32" name="Rectangle 31">
            <a:extLst>
              <a:ext uri="{FF2B5EF4-FFF2-40B4-BE49-F238E27FC236}">
                <a16:creationId xmlns:a16="http://schemas.microsoft.com/office/drawing/2014/main" id="{ECAEA03D-398F-AC9B-F79A-74CD948C5DC8}"/>
              </a:ext>
            </a:extLst>
          </p:cNvPr>
          <p:cNvSpPr/>
          <p:nvPr/>
        </p:nvSpPr>
        <p:spPr>
          <a:xfrm>
            <a:off x="1915886" y="55118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4DCEA85C-D98D-0C50-B6EA-BC1BE98873FD}"/>
              </a:ext>
            </a:extLst>
          </p:cNvPr>
          <p:cNvSpPr/>
          <p:nvPr/>
        </p:nvSpPr>
        <p:spPr>
          <a:xfrm>
            <a:off x="2068286" y="5207000"/>
            <a:ext cx="899886" cy="635000"/>
          </a:xfrm>
          <a:prstGeom prst="rect">
            <a:avLst/>
          </a:prstGeom>
          <a:solidFill>
            <a:srgbClr val="E7EEF6"/>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ZoneTexte 33">
            <a:extLst>
              <a:ext uri="{FF2B5EF4-FFF2-40B4-BE49-F238E27FC236}">
                <a16:creationId xmlns:a16="http://schemas.microsoft.com/office/drawing/2014/main" id="{EC64A599-6E78-143F-367F-FB7758FC038E}"/>
              </a:ext>
            </a:extLst>
          </p:cNvPr>
          <p:cNvSpPr txBox="1"/>
          <p:nvPr/>
        </p:nvSpPr>
        <p:spPr>
          <a:xfrm>
            <a:off x="2169886" y="5308600"/>
            <a:ext cx="355600" cy="130805"/>
          </a:xfrm>
          <a:prstGeom prst="rect">
            <a:avLst/>
          </a:prstGeom>
          <a:noFill/>
        </p:spPr>
        <p:txBody>
          <a:bodyPr vert="horz" lIns="0" tIns="0" rIns="0" bIns="0" rtlCol="0">
            <a:spAutoFit/>
          </a:bodyPr>
          <a:lstStyle/>
          <a:p>
            <a:r>
              <a:rPr lang="en-US" sz="850" b="1">
                <a:solidFill>
                  <a:srgbClr val="315E8A"/>
                </a:solidFill>
                <a:latin typeface="Aptos" panose="020B0004020202020204" pitchFamily="34" charset="0"/>
              </a:rPr>
              <a:t>02</a:t>
            </a:r>
          </a:p>
        </p:txBody>
      </p:sp>
      <p:sp>
        <p:nvSpPr>
          <p:cNvPr id="35" name="ZoneTexte 34">
            <a:extLst>
              <a:ext uri="{FF2B5EF4-FFF2-40B4-BE49-F238E27FC236}">
                <a16:creationId xmlns:a16="http://schemas.microsoft.com/office/drawing/2014/main" id="{4C05F05C-BB08-5427-63CD-7B96238BE57C}"/>
              </a:ext>
            </a:extLst>
          </p:cNvPr>
          <p:cNvSpPr txBox="1"/>
          <p:nvPr/>
        </p:nvSpPr>
        <p:spPr>
          <a:xfrm>
            <a:off x="2169886" y="5511800"/>
            <a:ext cx="696686"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Extract</a:t>
            </a:r>
          </a:p>
        </p:txBody>
      </p:sp>
      <p:sp>
        <p:nvSpPr>
          <p:cNvPr id="36" name="Rectangle 35">
            <a:extLst>
              <a:ext uri="{FF2B5EF4-FFF2-40B4-BE49-F238E27FC236}">
                <a16:creationId xmlns:a16="http://schemas.microsoft.com/office/drawing/2014/main" id="{C15D32BF-3E5B-4E3B-387F-D4B7C0D1D6CE}"/>
              </a:ext>
            </a:extLst>
          </p:cNvPr>
          <p:cNvSpPr/>
          <p:nvPr/>
        </p:nvSpPr>
        <p:spPr>
          <a:xfrm>
            <a:off x="2968171" y="55118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C12C6B1B-C6A9-408B-8E9A-8DE71A58C52E}"/>
              </a:ext>
            </a:extLst>
          </p:cNvPr>
          <p:cNvSpPr/>
          <p:nvPr/>
        </p:nvSpPr>
        <p:spPr>
          <a:xfrm>
            <a:off x="3120571" y="5207000"/>
            <a:ext cx="899886" cy="635000"/>
          </a:xfrm>
          <a:prstGeom prst="rect">
            <a:avLst/>
          </a:prstGeom>
          <a:solidFill>
            <a:srgbClr val="EAF1EC"/>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ZoneTexte 37">
            <a:extLst>
              <a:ext uri="{FF2B5EF4-FFF2-40B4-BE49-F238E27FC236}">
                <a16:creationId xmlns:a16="http://schemas.microsoft.com/office/drawing/2014/main" id="{AFF43AE5-B654-CCFF-BFE5-39F89F464233}"/>
              </a:ext>
            </a:extLst>
          </p:cNvPr>
          <p:cNvSpPr txBox="1"/>
          <p:nvPr/>
        </p:nvSpPr>
        <p:spPr>
          <a:xfrm>
            <a:off x="3222171" y="5308600"/>
            <a:ext cx="355600" cy="130805"/>
          </a:xfrm>
          <a:prstGeom prst="rect">
            <a:avLst/>
          </a:prstGeom>
          <a:noFill/>
        </p:spPr>
        <p:txBody>
          <a:bodyPr vert="horz" lIns="0" tIns="0" rIns="0" bIns="0" rtlCol="0">
            <a:spAutoFit/>
          </a:bodyPr>
          <a:lstStyle/>
          <a:p>
            <a:r>
              <a:rPr lang="en-US" sz="850" b="1">
                <a:solidFill>
                  <a:srgbClr val="147D64"/>
                </a:solidFill>
                <a:latin typeface="Aptos" panose="020B0004020202020204" pitchFamily="34" charset="0"/>
              </a:rPr>
              <a:t>03</a:t>
            </a:r>
          </a:p>
        </p:txBody>
      </p:sp>
      <p:sp>
        <p:nvSpPr>
          <p:cNvPr id="39" name="ZoneTexte 38">
            <a:extLst>
              <a:ext uri="{FF2B5EF4-FFF2-40B4-BE49-F238E27FC236}">
                <a16:creationId xmlns:a16="http://schemas.microsoft.com/office/drawing/2014/main" id="{33E77649-0A69-8445-78D7-86CDEA29B433}"/>
              </a:ext>
            </a:extLst>
          </p:cNvPr>
          <p:cNvSpPr txBox="1"/>
          <p:nvPr/>
        </p:nvSpPr>
        <p:spPr>
          <a:xfrm>
            <a:off x="3222171" y="5511800"/>
            <a:ext cx="696686"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Correct</a:t>
            </a:r>
          </a:p>
        </p:txBody>
      </p:sp>
      <p:sp>
        <p:nvSpPr>
          <p:cNvPr id="40" name="Rectangle 39">
            <a:extLst>
              <a:ext uri="{FF2B5EF4-FFF2-40B4-BE49-F238E27FC236}">
                <a16:creationId xmlns:a16="http://schemas.microsoft.com/office/drawing/2014/main" id="{706B055D-80D3-5DED-D07D-350FB28A4C57}"/>
              </a:ext>
            </a:extLst>
          </p:cNvPr>
          <p:cNvSpPr/>
          <p:nvPr/>
        </p:nvSpPr>
        <p:spPr>
          <a:xfrm>
            <a:off x="4020457" y="55118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E2B4BAD-B0A5-06D5-3280-DD4378F89BEE}"/>
              </a:ext>
            </a:extLst>
          </p:cNvPr>
          <p:cNvSpPr/>
          <p:nvPr/>
        </p:nvSpPr>
        <p:spPr>
          <a:xfrm>
            <a:off x="4172857" y="5207000"/>
            <a:ext cx="899886" cy="635000"/>
          </a:xfrm>
          <a:prstGeom prst="rect">
            <a:avLst/>
          </a:prstGeom>
          <a:solidFill>
            <a:srgbClr val="E7EEF6"/>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ZoneTexte 41">
            <a:extLst>
              <a:ext uri="{FF2B5EF4-FFF2-40B4-BE49-F238E27FC236}">
                <a16:creationId xmlns:a16="http://schemas.microsoft.com/office/drawing/2014/main" id="{86DF3423-EDDC-4C81-6410-43E36DDF65BD}"/>
              </a:ext>
            </a:extLst>
          </p:cNvPr>
          <p:cNvSpPr txBox="1"/>
          <p:nvPr/>
        </p:nvSpPr>
        <p:spPr>
          <a:xfrm>
            <a:off x="4274457" y="5308600"/>
            <a:ext cx="355600" cy="130805"/>
          </a:xfrm>
          <a:prstGeom prst="rect">
            <a:avLst/>
          </a:prstGeom>
          <a:noFill/>
        </p:spPr>
        <p:txBody>
          <a:bodyPr vert="horz" lIns="0" tIns="0" rIns="0" bIns="0" rtlCol="0">
            <a:spAutoFit/>
          </a:bodyPr>
          <a:lstStyle/>
          <a:p>
            <a:r>
              <a:rPr lang="en-US" sz="850" b="1">
                <a:solidFill>
                  <a:srgbClr val="315E8A"/>
                </a:solidFill>
                <a:latin typeface="Aptos" panose="020B0004020202020204" pitchFamily="34" charset="0"/>
              </a:rPr>
              <a:t>04</a:t>
            </a:r>
          </a:p>
        </p:txBody>
      </p:sp>
      <p:sp>
        <p:nvSpPr>
          <p:cNvPr id="43" name="ZoneTexte 42">
            <a:extLst>
              <a:ext uri="{FF2B5EF4-FFF2-40B4-BE49-F238E27FC236}">
                <a16:creationId xmlns:a16="http://schemas.microsoft.com/office/drawing/2014/main" id="{0CB0A3DD-2F79-4784-E48E-1E61AA4880AF}"/>
              </a:ext>
            </a:extLst>
          </p:cNvPr>
          <p:cNvSpPr txBox="1"/>
          <p:nvPr/>
        </p:nvSpPr>
        <p:spPr>
          <a:xfrm>
            <a:off x="4274457" y="5511800"/>
            <a:ext cx="696686"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Index</a:t>
            </a:r>
          </a:p>
        </p:txBody>
      </p:sp>
      <p:sp>
        <p:nvSpPr>
          <p:cNvPr id="44" name="Rectangle 43">
            <a:extLst>
              <a:ext uri="{FF2B5EF4-FFF2-40B4-BE49-F238E27FC236}">
                <a16:creationId xmlns:a16="http://schemas.microsoft.com/office/drawing/2014/main" id="{3E422A30-5E1A-0DF5-41AA-4DB3BBA2D295}"/>
              </a:ext>
            </a:extLst>
          </p:cNvPr>
          <p:cNvSpPr/>
          <p:nvPr/>
        </p:nvSpPr>
        <p:spPr>
          <a:xfrm>
            <a:off x="5072743" y="55118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137372EE-00E3-9126-7C86-A3F57BD21E5A}"/>
              </a:ext>
            </a:extLst>
          </p:cNvPr>
          <p:cNvSpPr/>
          <p:nvPr/>
        </p:nvSpPr>
        <p:spPr>
          <a:xfrm>
            <a:off x="5225143" y="5207000"/>
            <a:ext cx="899885" cy="635000"/>
          </a:xfrm>
          <a:prstGeom prst="rect">
            <a:avLst/>
          </a:prstGeom>
          <a:solidFill>
            <a:srgbClr val="EAF1EC"/>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ZoneTexte 45">
            <a:extLst>
              <a:ext uri="{FF2B5EF4-FFF2-40B4-BE49-F238E27FC236}">
                <a16:creationId xmlns:a16="http://schemas.microsoft.com/office/drawing/2014/main" id="{0423A1F8-0D64-1224-29F2-B31BC73B1C58}"/>
              </a:ext>
            </a:extLst>
          </p:cNvPr>
          <p:cNvSpPr txBox="1"/>
          <p:nvPr/>
        </p:nvSpPr>
        <p:spPr>
          <a:xfrm>
            <a:off x="5326743" y="5308600"/>
            <a:ext cx="355600" cy="130805"/>
          </a:xfrm>
          <a:prstGeom prst="rect">
            <a:avLst/>
          </a:prstGeom>
          <a:noFill/>
        </p:spPr>
        <p:txBody>
          <a:bodyPr vert="horz" lIns="0" tIns="0" rIns="0" bIns="0" rtlCol="0">
            <a:spAutoFit/>
          </a:bodyPr>
          <a:lstStyle/>
          <a:p>
            <a:r>
              <a:rPr lang="en-US" sz="850" b="1">
                <a:solidFill>
                  <a:srgbClr val="147D64"/>
                </a:solidFill>
                <a:latin typeface="Aptos" panose="020B0004020202020204" pitchFamily="34" charset="0"/>
              </a:rPr>
              <a:t>05</a:t>
            </a:r>
          </a:p>
        </p:txBody>
      </p:sp>
      <p:sp>
        <p:nvSpPr>
          <p:cNvPr id="47" name="ZoneTexte 46">
            <a:extLst>
              <a:ext uri="{FF2B5EF4-FFF2-40B4-BE49-F238E27FC236}">
                <a16:creationId xmlns:a16="http://schemas.microsoft.com/office/drawing/2014/main" id="{420B63CC-9DBB-6395-AA93-A86EA55391D2}"/>
              </a:ext>
            </a:extLst>
          </p:cNvPr>
          <p:cNvSpPr txBox="1"/>
          <p:nvPr/>
        </p:nvSpPr>
        <p:spPr>
          <a:xfrm>
            <a:off x="5326743" y="5511800"/>
            <a:ext cx="696686"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Assign</a:t>
            </a:r>
          </a:p>
        </p:txBody>
      </p:sp>
      <p:sp>
        <p:nvSpPr>
          <p:cNvPr id="48" name="Rectangle 47">
            <a:extLst>
              <a:ext uri="{FF2B5EF4-FFF2-40B4-BE49-F238E27FC236}">
                <a16:creationId xmlns:a16="http://schemas.microsoft.com/office/drawing/2014/main" id="{1AD73815-B164-26F3-6EE5-0E47EB988D9E}"/>
              </a:ext>
            </a:extLst>
          </p:cNvPr>
          <p:cNvSpPr/>
          <p:nvPr/>
        </p:nvSpPr>
        <p:spPr>
          <a:xfrm>
            <a:off x="6125028" y="55118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5123A78-7B9B-2C40-2C71-47451FB2EEFC}"/>
              </a:ext>
            </a:extLst>
          </p:cNvPr>
          <p:cNvSpPr/>
          <p:nvPr/>
        </p:nvSpPr>
        <p:spPr>
          <a:xfrm>
            <a:off x="6277428" y="5207000"/>
            <a:ext cx="899886" cy="635000"/>
          </a:xfrm>
          <a:prstGeom prst="rect">
            <a:avLst/>
          </a:prstGeom>
          <a:solidFill>
            <a:srgbClr val="E7EEF6"/>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ZoneTexte 49">
            <a:extLst>
              <a:ext uri="{FF2B5EF4-FFF2-40B4-BE49-F238E27FC236}">
                <a16:creationId xmlns:a16="http://schemas.microsoft.com/office/drawing/2014/main" id="{9799B205-E6C6-DCE2-869C-658EC0F5D995}"/>
              </a:ext>
            </a:extLst>
          </p:cNvPr>
          <p:cNvSpPr txBox="1"/>
          <p:nvPr/>
        </p:nvSpPr>
        <p:spPr>
          <a:xfrm>
            <a:off x="6379028" y="5308600"/>
            <a:ext cx="355600" cy="130805"/>
          </a:xfrm>
          <a:prstGeom prst="rect">
            <a:avLst/>
          </a:prstGeom>
          <a:noFill/>
        </p:spPr>
        <p:txBody>
          <a:bodyPr vert="horz" lIns="0" tIns="0" rIns="0" bIns="0" rtlCol="0">
            <a:spAutoFit/>
          </a:bodyPr>
          <a:lstStyle/>
          <a:p>
            <a:r>
              <a:rPr lang="en-US" sz="850" b="1">
                <a:solidFill>
                  <a:srgbClr val="315E8A"/>
                </a:solidFill>
                <a:latin typeface="Aptos" panose="020B0004020202020204" pitchFamily="34" charset="0"/>
              </a:rPr>
              <a:t>06</a:t>
            </a:r>
          </a:p>
        </p:txBody>
      </p:sp>
      <p:sp>
        <p:nvSpPr>
          <p:cNvPr id="51" name="ZoneTexte 50">
            <a:extLst>
              <a:ext uri="{FF2B5EF4-FFF2-40B4-BE49-F238E27FC236}">
                <a16:creationId xmlns:a16="http://schemas.microsoft.com/office/drawing/2014/main" id="{3D3DFD9E-2EE5-1F30-5B11-16DF1F8F978C}"/>
              </a:ext>
            </a:extLst>
          </p:cNvPr>
          <p:cNvSpPr txBox="1"/>
          <p:nvPr/>
        </p:nvSpPr>
        <p:spPr>
          <a:xfrm>
            <a:off x="6379028" y="5511800"/>
            <a:ext cx="696686"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Review</a:t>
            </a:r>
          </a:p>
        </p:txBody>
      </p:sp>
      <p:sp>
        <p:nvSpPr>
          <p:cNvPr id="52" name="Rectangle 51">
            <a:extLst>
              <a:ext uri="{FF2B5EF4-FFF2-40B4-BE49-F238E27FC236}">
                <a16:creationId xmlns:a16="http://schemas.microsoft.com/office/drawing/2014/main" id="{1DD4F4BC-2BE1-30DA-EAF4-ED05C382DA2F}"/>
              </a:ext>
            </a:extLst>
          </p:cNvPr>
          <p:cNvSpPr/>
          <p:nvPr/>
        </p:nvSpPr>
        <p:spPr>
          <a:xfrm>
            <a:off x="7177315" y="5511800"/>
            <a:ext cx="152400" cy="25400"/>
          </a:xfrm>
          <a:prstGeom prst="rect">
            <a:avLst/>
          </a:prstGeom>
          <a:solidFill>
            <a:srgbClr val="C2802A"/>
          </a:solidFill>
          <a:ln w="9525">
            <a:solidFill>
              <a:srgbClr val="C280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688EB5F6-B879-4355-978E-BF53C04733E0}"/>
              </a:ext>
            </a:extLst>
          </p:cNvPr>
          <p:cNvSpPr/>
          <p:nvPr/>
        </p:nvSpPr>
        <p:spPr>
          <a:xfrm>
            <a:off x="7329715" y="5207000"/>
            <a:ext cx="899885" cy="635000"/>
          </a:xfrm>
          <a:prstGeom prst="rect">
            <a:avLst/>
          </a:prstGeom>
          <a:solidFill>
            <a:srgbClr val="EAF1EC"/>
          </a:solidFill>
          <a:ln w="9525">
            <a:solidFill>
              <a:srgbClr val="C0C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ZoneTexte 53">
            <a:extLst>
              <a:ext uri="{FF2B5EF4-FFF2-40B4-BE49-F238E27FC236}">
                <a16:creationId xmlns:a16="http://schemas.microsoft.com/office/drawing/2014/main" id="{1B1632B7-F709-EB29-CE51-D3BADAB11E66}"/>
              </a:ext>
            </a:extLst>
          </p:cNvPr>
          <p:cNvSpPr txBox="1"/>
          <p:nvPr/>
        </p:nvSpPr>
        <p:spPr>
          <a:xfrm>
            <a:off x="7431315" y="5308600"/>
            <a:ext cx="355600" cy="130805"/>
          </a:xfrm>
          <a:prstGeom prst="rect">
            <a:avLst/>
          </a:prstGeom>
          <a:noFill/>
        </p:spPr>
        <p:txBody>
          <a:bodyPr vert="horz" lIns="0" tIns="0" rIns="0" bIns="0" rtlCol="0">
            <a:spAutoFit/>
          </a:bodyPr>
          <a:lstStyle/>
          <a:p>
            <a:r>
              <a:rPr lang="en-US" sz="850" b="1">
                <a:solidFill>
                  <a:srgbClr val="147D64"/>
                </a:solidFill>
                <a:latin typeface="Aptos" panose="020B0004020202020204" pitchFamily="34" charset="0"/>
              </a:rPr>
              <a:t>07</a:t>
            </a:r>
          </a:p>
        </p:txBody>
      </p:sp>
      <p:sp>
        <p:nvSpPr>
          <p:cNvPr id="55" name="ZoneTexte 54">
            <a:extLst>
              <a:ext uri="{FF2B5EF4-FFF2-40B4-BE49-F238E27FC236}">
                <a16:creationId xmlns:a16="http://schemas.microsoft.com/office/drawing/2014/main" id="{FE606BDA-E8E4-DAC9-F54D-5716EAB44CF1}"/>
              </a:ext>
            </a:extLst>
          </p:cNvPr>
          <p:cNvSpPr txBox="1"/>
          <p:nvPr/>
        </p:nvSpPr>
        <p:spPr>
          <a:xfrm>
            <a:off x="7431315" y="5511800"/>
            <a:ext cx="696686" cy="118494"/>
          </a:xfrm>
          <a:prstGeom prst="rect">
            <a:avLst/>
          </a:prstGeom>
          <a:noFill/>
        </p:spPr>
        <p:txBody>
          <a:bodyPr vert="horz" lIns="0" tIns="0" rIns="0" bIns="0" rtlCol="0">
            <a:spAutoFit/>
          </a:bodyPr>
          <a:lstStyle/>
          <a:p>
            <a:r>
              <a:rPr lang="en-US" sz="770">
                <a:solidFill>
                  <a:srgbClr val="16201E"/>
                </a:solidFill>
                <a:latin typeface="Aptos" panose="020B0004020202020204" pitchFamily="34" charset="0"/>
              </a:rPr>
              <a:t>Decide</a:t>
            </a:r>
          </a:p>
        </p:txBody>
      </p:sp>
      <p:sp>
        <p:nvSpPr>
          <p:cNvPr id="56" name="Rectangle 55">
            <a:extLst>
              <a:ext uri="{FF2B5EF4-FFF2-40B4-BE49-F238E27FC236}">
                <a16:creationId xmlns:a16="http://schemas.microsoft.com/office/drawing/2014/main" id="{B11AF0C1-AD24-BE0A-CC96-3E235BFD4406}"/>
              </a:ext>
            </a:extLst>
          </p:cNvPr>
          <p:cNvSpPr/>
          <p:nvPr/>
        </p:nvSpPr>
        <p:spPr>
          <a:xfrm>
            <a:off x="9017000" y="1333500"/>
            <a:ext cx="12700" cy="3810000"/>
          </a:xfrm>
          <a:prstGeom prst="rect">
            <a:avLst/>
          </a:prstGeom>
          <a:solidFill>
            <a:srgbClr val="42645D"/>
          </a:solidFill>
          <a:ln w="9525">
            <a:solidFill>
              <a:srgbClr val="4264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ZoneTexte 56">
            <a:extLst>
              <a:ext uri="{FF2B5EF4-FFF2-40B4-BE49-F238E27FC236}">
                <a16:creationId xmlns:a16="http://schemas.microsoft.com/office/drawing/2014/main" id="{34B92BE0-0C76-91C0-EFBC-392127020F57}"/>
              </a:ext>
            </a:extLst>
          </p:cNvPr>
          <p:cNvSpPr txBox="1"/>
          <p:nvPr/>
        </p:nvSpPr>
        <p:spPr>
          <a:xfrm>
            <a:off x="9398000" y="2159000"/>
            <a:ext cx="1841500" cy="969496"/>
          </a:xfrm>
          <a:prstGeom prst="rect">
            <a:avLst/>
          </a:prstGeom>
          <a:noFill/>
        </p:spPr>
        <p:txBody>
          <a:bodyPr vert="horz" lIns="0" tIns="0" rIns="0" bIns="0" rtlCol="0">
            <a:spAutoFit/>
          </a:bodyPr>
          <a:lstStyle/>
          <a:p>
            <a:pPr algn="ctr"/>
            <a:r>
              <a:rPr lang="en-US" sz="2100" b="1">
                <a:solidFill>
                  <a:srgbClr val="FFFFFF"/>
                </a:solidFill>
                <a:latin typeface="Georgia" panose="02040502050405020303" pitchFamily="18" charset="0"/>
              </a:rPr>
              <a:t>Thank you for your attention.</a:t>
            </a:r>
          </a:p>
        </p:txBody>
      </p:sp>
      <p:sp>
        <p:nvSpPr>
          <p:cNvPr id="58" name="ZoneTexte 57">
            <a:extLst>
              <a:ext uri="{FF2B5EF4-FFF2-40B4-BE49-F238E27FC236}">
                <a16:creationId xmlns:a16="http://schemas.microsoft.com/office/drawing/2014/main" id="{EFC3B34C-C652-336C-AD3C-A631C44E4CF5}"/>
              </a:ext>
            </a:extLst>
          </p:cNvPr>
          <p:cNvSpPr txBox="1"/>
          <p:nvPr/>
        </p:nvSpPr>
        <p:spPr>
          <a:xfrm>
            <a:off x="9398000" y="3111500"/>
            <a:ext cx="1841500" cy="169277"/>
          </a:xfrm>
          <a:prstGeom prst="rect">
            <a:avLst/>
          </a:prstGeom>
          <a:noFill/>
        </p:spPr>
        <p:txBody>
          <a:bodyPr vert="horz" lIns="0" tIns="0" rIns="0" bIns="0" rtlCol="0">
            <a:spAutoFit/>
          </a:bodyPr>
          <a:lstStyle/>
          <a:p>
            <a:pPr algn="ctr"/>
            <a:r>
              <a:rPr lang="en-US" sz="1100" b="1">
                <a:solidFill>
                  <a:srgbClr val="AFC2BA"/>
                </a:solidFill>
                <a:latin typeface="Aptos" panose="020B0004020202020204" pitchFamily="34" charset="0"/>
              </a:rPr>
              <a:t>Questions and discussion</a:t>
            </a:r>
          </a:p>
        </p:txBody>
      </p:sp>
      <p:sp>
        <p:nvSpPr>
          <p:cNvPr id="59" name="ZoneTexte 58">
            <a:extLst>
              <a:ext uri="{FF2B5EF4-FFF2-40B4-BE49-F238E27FC236}">
                <a16:creationId xmlns:a16="http://schemas.microsoft.com/office/drawing/2014/main" id="{27680D9D-59CE-1BB3-60A5-E39D61D2C4BF}"/>
              </a:ext>
            </a:extLst>
          </p:cNvPr>
          <p:cNvSpPr txBox="1"/>
          <p:nvPr/>
        </p:nvSpPr>
        <p:spPr>
          <a:xfrm>
            <a:off x="10896600" y="6286500"/>
            <a:ext cx="762000" cy="138499"/>
          </a:xfrm>
          <a:prstGeom prst="rect">
            <a:avLst/>
          </a:prstGeom>
          <a:noFill/>
        </p:spPr>
        <p:txBody>
          <a:bodyPr vert="horz" lIns="0" tIns="0" rIns="0" bIns="0" rtlCol="0">
            <a:spAutoFit/>
          </a:bodyPr>
          <a:lstStyle/>
          <a:p>
            <a:pPr algn="r"/>
            <a:r>
              <a:rPr lang="en-US" sz="900" b="1">
                <a:solidFill>
                  <a:srgbClr val="AFC2BA"/>
                </a:solidFill>
                <a:latin typeface="Aptos" panose="020B0004020202020204" pitchFamily="34" charset="0"/>
              </a:rPr>
              <a:t>13/13</a:t>
            </a:r>
          </a:p>
        </p:txBody>
      </p:sp>
    </p:spTree>
    <p:extLst>
      <p:ext uri="{BB962C8B-B14F-4D97-AF65-F5344CB8AC3E}">
        <p14:creationId xmlns:p14="http://schemas.microsoft.com/office/powerpoint/2010/main" val="398400925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3227</Words>
  <Application>Microsoft Office PowerPoint</Application>
  <PresentationFormat>Personnalisé</PresentationFormat>
  <Paragraphs>385</Paragraphs>
  <Slides>13</Slides>
  <Notes>13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13</vt:i4>
      </vt:variant>
    </vt:vector>
  </HeadingPairs>
  <TitlesOfParts>
    <vt:vector size="18" baseType="lpstr">
      <vt:lpstr>Aptos</vt:lpstr>
      <vt:lpstr>Aptos Display</vt:lpstr>
      <vt:lpstr>Arial</vt:lpstr>
      <vt:lpstr>Georgia</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bouhlelnourhen</dc:creator>
  <cp:lastModifiedBy>bouhlelnourhen</cp:lastModifiedBy>
  <cp:revision>1</cp:revision>
  <dcterms:created xsi:type="dcterms:W3CDTF">2026-06-07T10:49:30Z</dcterms:created>
  <dcterms:modified xsi:type="dcterms:W3CDTF">2026-06-07T10:49:30Z</dcterms:modified>
</cp:coreProperties>
</file>